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0D1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375742"/>
            <a:ext cx="7618095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1" y="1183321"/>
            <a:ext cx="6851650" cy="3359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144" y="6390942"/>
            <a:ext cx="340296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59933" y="6390942"/>
            <a:ext cx="284479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9A9C3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144" y="6384861"/>
            <a:ext cx="34029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Group</a:t>
            </a:r>
            <a:r>
              <a:rPr sz="100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06</a:t>
            </a:r>
            <a:r>
              <a:rPr sz="100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|</a:t>
            </a:r>
            <a:r>
              <a:rPr sz="100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Ashfaq</a:t>
            </a:r>
            <a:r>
              <a:rPr sz="10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Mahee</a:t>
            </a:r>
            <a:r>
              <a:rPr sz="100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9A9C3"/>
                </a:solidFill>
                <a:latin typeface="Calibri"/>
                <a:cs typeface="Calibri"/>
              </a:rPr>
              <a:t>Siddiky,</a:t>
            </a:r>
            <a:r>
              <a:rPr sz="10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Md.</a:t>
            </a:r>
            <a:r>
              <a:rPr sz="100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Arebi</a:t>
            </a:r>
            <a:r>
              <a:rPr sz="100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9A9C3"/>
                </a:solidFill>
                <a:latin typeface="Calibri"/>
                <a:cs typeface="Calibri"/>
              </a:rPr>
              <a:t>Sarker,</a:t>
            </a:r>
            <a:r>
              <a:rPr sz="10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Nazmul</a:t>
            </a:r>
            <a:r>
              <a:rPr sz="10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9A9C3"/>
                </a:solidFill>
                <a:latin typeface="Calibri"/>
                <a:cs typeface="Calibri"/>
              </a:rPr>
              <a:t>Huda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544" y="2736544"/>
            <a:ext cx="117717" cy="1040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064" y="2681820"/>
            <a:ext cx="118073" cy="2141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97584" y="2599016"/>
            <a:ext cx="118110" cy="379095"/>
            <a:chOff x="797584" y="2599016"/>
            <a:chExt cx="118110" cy="379095"/>
          </a:xfrm>
        </p:grpSpPr>
        <p:sp>
          <p:nvSpPr>
            <p:cNvPr id="6" name="object 6"/>
            <p:cNvSpPr/>
            <p:nvPr/>
          </p:nvSpPr>
          <p:spPr>
            <a:xfrm>
              <a:off x="803884" y="2605316"/>
              <a:ext cx="106045" cy="366395"/>
            </a:xfrm>
            <a:custGeom>
              <a:avLst/>
              <a:gdLst/>
              <a:ahLst/>
              <a:cxnLst/>
              <a:rect l="l" t="t" r="r" b="b"/>
              <a:pathLst>
                <a:path w="106044" h="366394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328320"/>
                  </a:lnTo>
                  <a:lnTo>
                    <a:pt x="2159" y="336245"/>
                  </a:lnTo>
                  <a:lnTo>
                    <a:pt x="6121" y="343446"/>
                  </a:lnTo>
                  <a:lnTo>
                    <a:pt x="10071" y="350278"/>
                  </a:lnTo>
                  <a:lnTo>
                    <a:pt x="15836" y="356044"/>
                  </a:lnTo>
                  <a:lnTo>
                    <a:pt x="23037" y="360006"/>
                  </a:lnTo>
                  <a:lnTo>
                    <a:pt x="29870" y="363969"/>
                  </a:lnTo>
                  <a:lnTo>
                    <a:pt x="37795" y="366128"/>
                  </a:lnTo>
                  <a:lnTo>
                    <a:pt x="67678" y="366128"/>
                  </a:lnTo>
                  <a:lnTo>
                    <a:pt x="99352" y="343077"/>
                  </a:lnTo>
                  <a:lnTo>
                    <a:pt x="103314" y="336245"/>
                  </a:lnTo>
                  <a:lnTo>
                    <a:pt x="105473" y="328320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590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3884" y="2605316"/>
              <a:ext cx="106045" cy="366395"/>
            </a:xfrm>
            <a:custGeom>
              <a:avLst/>
              <a:gdLst/>
              <a:ahLst/>
              <a:cxnLst/>
              <a:rect l="l" t="t" r="r" b="b"/>
              <a:pathLst>
                <a:path w="106044" h="366394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590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320408"/>
                  </a:lnTo>
                  <a:lnTo>
                    <a:pt x="105473" y="328320"/>
                  </a:lnTo>
                  <a:lnTo>
                    <a:pt x="103314" y="336245"/>
                  </a:lnTo>
                  <a:lnTo>
                    <a:pt x="99352" y="343077"/>
                  </a:lnTo>
                  <a:lnTo>
                    <a:pt x="95389" y="350278"/>
                  </a:lnTo>
                  <a:lnTo>
                    <a:pt x="89636" y="356044"/>
                  </a:lnTo>
                  <a:lnTo>
                    <a:pt x="82791" y="360006"/>
                  </a:lnTo>
                  <a:lnTo>
                    <a:pt x="75590" y="363969"/>
                  </a:lnTo>
                  <a:lnTo>
                    <a:pt x="67678" y="366128"/>
                  </a:lnTo>
                  <a:lnTo>
                    <a:pt x="59753" y="366128"/>
                  </a:lnTo>
                  <a:lnTo>
                    <a:pt x="45719" y="366128"/>
                  </a:lnTo>
                  <a:lnTo>
                    <a:pt x="37795" y="366128"/>
                  </a:lnTo>
                  <a:lnTo>
                    <a:pt x="29870" y="363969"/>
                  </a:lnTo>
                  <a:lnTo>
                    <a:pt x="23037" y="360006"/>
                  </a:lnTo>
                  <a:lnTo>
                    <a:pt x="15836" y="356044"/>
                  </a:lnTo>
                  <a:lnTo>
                    <a:pt x="10071" y="350278"/>
                  </a:lnTo>
                  <a:lnTo>
                    <a:pt x="6121" y="343446"/>
                  </a:lnTo>
                  <a:lnTo>
                    <a:pt x="2159" y="336245"/>
                  </a:lnTo>
                  <a:lnTo>
                    <a:pt x="0" y="328320"/>
                  </a:lnTo>
                  <a:lnTo>
                    <a:pt x="0" y="320408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71460" y="2471216"/>
            <a:ext cx="118110" cy="635000"/>
            <a:chOff x="971460" y="2471216"/>
            <a:chExt cx="118110" cy="635000"/>
          </a:xfrm>
        </p:grpSpPr>
        <p:sp>
          <p:nvSpPr>
            <p:cNvPr id="9" name="object 9"/>
            <p:cNvSpPr/>
            <p:nvPr/>
          </p:nvSpPr>
          <p:spPr>
            <a:xfrm>
              <a:off x="977760" y="2477515"/>
              <a:ext cx="106045" cy="622300"/>
            </a:xfrm>
            <a:custGeom>
              <a:avLst/>
              <a:gdLst/>
              <a:ahLst/>
              <a:cxnLst/>
              <a:rect l="l" t="t" r="r" b="b"/>
              <a:pathLst>
                <a:path w="106044" h="622300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584288"/>
                  </a:lnTo>
                  <a:lnTo>
                    <a:pt x="2159" y="592201"/>
                  </a:lnTo>
                  <a:lnTo>
                    <a:pt x="6121" y="599401"/>
                  </a:lnTo>
                  <a:lnTo>
                    <a:pt x="10083" y="606247"/>
                  </a:lnTo>
                  <a:lnTo>
                    <a:pt x="15836" y="612000"/>
                  </a:lnTo>
                  <a:lnTo>
                    <a:pt x="23037" y="615962"/>
                  </a:lnTo>
                  <a:lnTo>
                    <a:pt x="29883" y="619925"/>
                  </a:lnTo>
                  <a:lnTo>
                    <a:pt x="37795" y="622084"/>
                  </a:lnTo>
                  <a:lnTo>
                    <a:pt x="67678" y="622084"/>
                  </a:lnTo>
                  <a:lnTo>
                    <a:pt x="99364" y="599046"/>
                  </a:lnTo>
                  <a:lnTo>
                    <a:pt x="103314" y="592201"/>
                  </a:lnTo>
                  <a:lnTo>
                    <a:pt x="105473" y="58428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77760" y="2477515"/>
              <a:ext cx="106045" cy="622300"/>
            </a:xfrm>
            <a:custGeom>
              <a:avLst/>
              <a:gdLst/>
              <a:ahLst/>
              <a:cxnLst/>
              <a:rect l="l" t="t" r="r" b="b"/>
              <a:pathLst>
                <a:path w="106044" h="622300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576364"/>
                  </a:lnTo>
                  <a:lnTo>
                    <a:pt x="105473" y="584288"/>
                  </a:lnTo>
                  <a:lnTo>
                    <a:pt x="103314" y="592201"/>
                  </a:lnTo>
                  <a:lnTo>
                    <a:pt x="99364" y="599046"/>
                  </a:lnTo>
                  <a:lnTo>
                    <a:pt x="95402" y="606247"/>
                  </a:lnTo>
                  <a:lnTo>
                    <a:pt x="89636" y="612000"/>
                  </a:lnTo>
                  <a:lnTo>
                    <a:pt x="82803" y="615962"/>
                  </a:lnTo>
                  <a:lnTo>
                    <a:pt x="75603" y="619925"/>
                  </a:lnTo>
                  <a:lnTo>
                    <a:pt x="67678" y="622084"/>
                  </a:lnTo>
                  <a:lnTo>
                    <a:pt x="59753" y="622084"/>
                  </a:lnTo>
                  <a:lnTo>
                    <a:pt x="45719" y="622084"/>
                  </a:lnTo>
                  <a:lnTo>
                    <a:pt x="37795" y="622084"/>
                  </a:lnTo>
                  <a:lnTo>
                    <a:pt x="29883" y="619925"/>
                  </a:lnTo>
                  <a:lnTo>
                    <a:pt x="23037" y="615962"/>
                  </a:lnTo>
                  <a:lnTo>
                    <a:pt x="15836" y="612000"/>
                  </a:lnTo>
                  <a:lnTo>
                    <a:pt x="10083" y="606247"/>
                  </a:lnTo>
                  <a:lnTo>
                    <a:pt x="6121" y="599401"/>
                  </a:lnTo>
                  <a:lnTo>
                    <a:pt x="2159" y="592201"/>
                  </a:lnTo>
                  <a:lnTo>
                    <a:pt x="0" y="584288"/>
                  </a:lnTo>
                  <a:lnTo>
                    <a:pt x="0" y="576364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44980" y="2348102"/>
            <a:ext cx="118110" cy="882015"/>
            <a:chOff x="1144980" y="2348102"/>
            <a:chExt cx="118110" cy="882015"/>
          </a:xfrm>
        </p:grpSpPr>
        <p:sp>
          <p:nvSpPr>
            <p:cNvPr id="12" name="object 12"/>
            <p:cNvSpPr/>
            <p:nvPr/>
          </p:nvSpPr>
          <p:spPr>
            <a:xfrm>
              <a:off x="1151280" y="2354402"/>
              <a:ext cx="106045" cy="869315"/>
            </a:xfrm>
            <a:custGeom>
              <a:avLst/>
              <a:gdLst/>
              <a:ahLst/>
              <a:cxnLst/>
              <a:rect l="l" t="t" r="r" b="b"/>
              <a:pathLst>
                <a:path w="106044" h="869314">
                  <a:moveTo>
                    <a:pt x="46075" y="0"/>
                  </a:moveTo>
                  <a:lnTo>
                    <a:pt x="38163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77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831240"/>
                  </a:lnTo>
                  <a:lnTo>
                    <a:pt x="2159" y="839152"/>
                  </a:lnTo>
                  <a:lnTo>
                    <a:pt x="6121" y="846353"/>
                  </a:lnTo>
                  <a:lnTo>
                    <a:pt x="10083" y="853198"/>
                  </a:lnTo>
                  <a:lnTo>
                    <a:pt x="15836" y="858951"/>
                  </a:lnTo>
                  <a:lnTo>
                    <a:pt x="23037" y="862914"/>
                  </a:lnTo>
                  <a:lnTo>
                    <a:pt x="29883" y="866876"/>
                  </a:lnTo>
                  <a:lnTo>
                    <a:pt x="37795" y="869035"/>
                  </a:lnTo>
                  <a:lnTo>
                    <a:pt x="67678" y="869035"/>
                  </a:lnTo>
                  <a:lnTo>
                    <a:pt x="99364" y="845997"/>
                  </a:lnTo>
                  <a:lnTo>
                    <a:pt x="103314" y="839152"/>
                  </a:lnTo>
                  <a:lnTo>
                    <a:pt x="105473" y="831240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192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51280" y="2354402"/>
              <a:ext cx="106045" cy="869315"/>
            </a:xfrm>
            <a:custGeom>
              <a:avLst/>
              <a:gdLst/>
              <a:ahLst/>
              <a:cxnLst/>
              <a:rect l="l" t="t" r="r" b="b"/>
              <a:pathLst>
                <a:path w="106044" h="869314">
                  <a:moveTo>
                    <a:pt x="355" y="45719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402" y="16192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823315"/>
                  </a:lnTo>
                  <a:lnTo>
                    <a:pt x="105473" y="831240"/>
                  </a:lnTo>
                  <a:lnTo>
                    <a:pt x="103314" y="839152"/>
                  </a:lnTo>
                  <a:lnTo>
                    <a:pt x="99364" y="845997"/>
                  </a:lnTo>
                  <a:lnTo>
                    <a:pt x="95402" y="853198"/>
                  </a:lnTo>
                  <a:lnTo>
                    <a:pt x="89636" y="858951"/>
                  </a:lnTo>
                  <a:lnTo>
                    <a:pt x="82803" y="862914"/>
                  </a:lnTo>
                  <a:lnTo>
                    <a:pt x="75603" y="866876"/>
                  </a:lnTo>
                  <a:lnTo>
                    <a:pt x="67678" y="869035"/>
                  </a:lnTo>
                  <a:lnTo>
                    <a:pt x="59753" y="869035"/>
                  </a:lnTo>
                  <a:lnTo>
                    <a:pt x="45719" y="869035"/>
                  </a:lnTo>
                  <a:lnTo>
                    <a:pt x="37795" y="869035"/>
                  </a:lnTo>
                  <a:lnTo>
                    <a:pt x="29883" y="866876"/>
                  </a:lnTo>
                  <a:lnTo>
                    <a:pt x="23037" y="862914"/>
                  </a:lnTo>
                  <a:lnTo>
                    <a:pt x="15836" y="858951"/>
                  </a:lnTo>
                  <a:lnTo>
                    <a:pt x="10083" y="853198"/>
                  </a:lnTo>
                  <a:lnTo>
                    <a:pt x="6121" y="846353"/>
                  </a:lnTo>
                  <a:lnTo>
                    <a:pt x="2159" y="839152"/>
                  </a:lnTo>
                  <a:lnTo>
                    <a:pt x="0" y="831240"/>
                  </a:lnTo>
                  <a:lnTo>
                    <a:pt x="0" y="823315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18856" y="2530982"/>
            <a:ext cx="118110" cy="516255"/>
            <a:chOff x="1318856" y="2530982"/>
            <a:chExt cx="118110" cy="516255"/>
          </a:xfrm>
        </p:grpSpPr>
        <p:sp>
          <p:nvSpPr>
            <p:cNvPr id="15" name="object 15"/>
            <p:cNvSpPr/>
            <p:nvPr/>
          </p:nvSpPr>
          <p:spPr>
            <a:xfrm>
              <a:off x="1325156" y="2537282"/>
              <a:ext cx="106045" cy="503555"/>
            </a:xfrm>
            <a:custGeom>
              <a:avLst/>
              <a:gdLst/>
              <a:ahLst/>
              <a:cxnLst/>
              <a:rect l="l" t="t" r="r" b="b"/>
              <a:pathLst>
                <a:path w="106044" h="503555">
                  <a:moveTo>
                    <a:pt x="46088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465480"/>
                  </a:lnTo>
                  <a:lnTo>
                    <a:pt x="2159" y="473392"/>
                  </a:lnTo>
                  <a:lnTo>
                    <a:pt x="6121" y="480593"/>
                  </a:lnTo>
                  <a:lnTo>
                    <a:pt x="10083" y="487438"/>
                  </a:lnTo>
                  <a:lnTo>
                    <a:pt x="15849" y="493191"/>
                  </a:lnTo>
                  <a:lnTo>
                    <a:pt x="23037" y="497154"/>
                  </a:lnTo>
                  <a:lnTo>
                    <a:pt x="29883" y="501116"/>
                  </a:lnTo>
                  <a:lnTo>
                    <a:pt x="37807" y="503275"/>
                  </a:lnTo>
                  <a:lnTo>
                    <a:pt x="67678" y="503275"/>
                  </a:lnTo>
                  <a:lnTo>
                    <a:pt x="99364" y="480237"/>
                  </a:lnTo>
                  <a:lnTo>
                    <a:pt x="103327" y="473392"/>
                  </a:lnTo>
                  <a:lnTo>
                    <a:pt x="105486" y="465480"/>
                  </a:lnTo>
                  <a:lnTo>
                    <a:pt x="105385" y="37795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192"/>
                  </a:lnTo>
                  <a:lnTo>
                    <a:pt x="89649" y="10439"/>
                  </a:lnTo>
                  <a:lnTo>
                    <a:pt x="82448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66" y="355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5156" y="2537282"/>
              <a:ext cx="106045" cy="503555"/>
            </a:xfrm>
            <a:custGeom>
              <a:avLst/>
              <a:gdLst/>
              <a:ahLst/>
              <a:cxnLst/>
              <a:rect l="l" t="t" r="r" b="b"/>
              <a:pathLst>
                <a:path w="106044" h="503555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48" y="6476"/>
                  </a:lnTo>
                  <a:lnTo>
                    <a:pt x="89649" y="10439"/>
                  </a:lnTo>
                  <a:lnTo>
                    <a:pt x="95402" y="16192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75"/>
                  </a:lnTo>
                  <a:lnTo>
                    <a:pt x="105486" y="457555"/>
                  </a:lnTo>
                  <a:lnTo>
                    <a:pt x="105486" y="465480"/>
                  </a:lnTo>
                  <a:lnTo>
                    <a:pt x="103327" y="473392"/>
                  </a:lnTo>
                  <a:lnTo>
                    <a:pt x="99364" y="480237"/>
                  </a:lnTo>
                  <a:lnTo>
                    <a:pt x="95402" y="487438"/>
                  </a:lnTo>
                  <a:lnTo>
                    <a:pt x="89649" y="493191"/>
                  </a:lnTo>
                  <a:lnTo>
                    <a:pt x="82803" y="497154"/>
                  </a:lnTo>
                  <a:lnTo>
                    <a:pt x="75603" y="501116"/>
                  </a:lnTo>
                  <a:lnTo>
                    <a:pt x="67678" y="503275"/>
                  </a:lnTo>
                  <a:lnTo>
                    <a:pt x="59766" y="503275"/>
                  </a:lnTo>
                  <a:lnTo>
                    <a:pt x="45719" y="503275"/>
                  </a:lnTo>
                  <a:lnTo>
                    <a:pt x="37807" y="503275"/>
                  </a:lnTo>
                  <a:lnTo>
                    <a:pt x="29883" y="501116"/>
                  </a:lnTo>
                  <a:lnTo>
                    <a:pt x="23037" y="497154"/>
                  </a:lnTo>
                  <a:lnTo>
                    <a:pt x="15849" y="493191"/>
                  </a:lnTo>
                  <a:lnTo>
                    <a:pt x="10083" y="487438"/>
                  </a:lnTo>
                  <a:lnTo>
                    <a:pt x="6121" y="480593"/>
                  </a:lnTo>
                  <a:lnTo>
                    <a:pt x="2159" y="473392"/>
                  </a:lnTo>
                  <a:lnTo>
                    <a:pt x="0" y="465480"/>
                  </a:lnTo>
                  <a:lnTo>
                    <a:pt x="0" y="457555"/>
                  </a:lnTo>
                  <a:lnTo>
                    <a:pt x="368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492744" y="2644736"/>
            <a:ext cx="118110" cy="287655"/>
            <a:chOff x="1492744" y="2644736"/>
            <a:chExt cx="118110" cy="287655"/>
          </a:xfrm>
        </p:grpSpPr>
        <p:sp>
          <p:nvSpPr>
            <p:cNvPr id="18" name="object 18"/>
            <p:cNvSpPr/>
            <p:nvPr/>
          </p:nvSpPr>
          <p:spPr>
            <a:xfrm>
              <a:off x="1499044" y="2651036"/>
              <a:ext cx="106045" cy="274955"/>
            </a:xfrm>
            <a:custGeom>
              <a:avLst/>
              <a:gdLst/>
              <a:ahLst/>
              <a:cxnLst/>
              <a:rect l="l" t="t" r="r" b="b"/>
              <a:pathLst>
                <a:path w="106044" h="274955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49"/>
                  </a:lnTo>
                  <a:lnTo>
                    <a:pt x="6477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355" y="45720"/>
                  </a:lnTo>
                  <a:lnTo>
                    <a:pt x="0" y="228968"/>
                  </a:lnTo>
                  <a:lnTo>
                    <a:pt x="0" y="236880"/>
                  </a:lnTo>
                  <a:lnTo>
                    <a:pt x="2159" y="244805"/>
                  </a:lnTo>
                  <a:lnTo>
                    <a:pt x="6121" y="252006"/>
                  </a:lnTo>
                  <a:lnTo>
                    <a:pt x="10071" y="258838"/>
                  </a:lnTo>
                  <a:lnTo>
                    <a:pt x="15836" y="264604"/>
                  </a:lnTo>
                  <a:lnTo>
                    <a:pt x="23037" y="268566"/>
                  </a:lnTo>
                  <a:lnTo>
                    <a:pt x="29870" y="272529"/>
                  </a:lnTo>
                  <a:lnTo>
                    <a:pt x="37795" y="274688"/>
                  </a:lnTo>
                  <a:lnTo>
                    <a:pt x="67678" y="274688"/>
                  </a:lnTo>
                  <a:lnTo>
                    <a:pt x="99352" y="251637"/>
                  </a:lnTo>
                  <a:lnTo>
                    <a:pt x="103314" y="244805"/>
                  </a:lnTo>
                  <a:lnTo>
                    <a:pt x="105473" y="236880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590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99044" y="2651036"/>
              <a:ext cx="106045" cy="274955"/>
            </a:xfrm>
            <a:custGeom>
              <a:avLst/>
              <a:gdLst/>
              <a:ahLst/>
              <a:cxnLst/>
              <a:rect l="l" t="t" r="r" b="b"/>
              <a:pathLst>
                <a:path w="106044" h="274955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49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590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228968"/>
                  </a:lnTo>
                  <a:lnTo>
                    <a:pt x="105473" y="236880"/>
                  </a:lnTo>
                  <a:lnTo>
                    <a:pt x="103314" y="244805"/>
                  </a:lnTo>
                  <a:lnTo>
                    <a:pt x="99352" y="251637"/>
                  </a:lnTo>
                  <a:lnTo>
                    <a:pt x="95389" y="258838"/>
                  </a:lnTo>
                  <a:lnTo>
                    <a:pt x="89636" y="264604"/>
                  </a:lnTo>
                  <a:lnTo>
                    <a:pt x="82791" y="268566"/>
                  </a:lnTo>
                  <a:lnTo>
                    <a:pt x="75590" y="272529"/>
                  </a:lnTo>
                  <a:lnTo>
                    <a:pt x="67678" y="274688"/>
                  </a:lnTo>
                  <a:lnTo>
                    <a:pt x="59753" y="274688"/>
                  </a:lnTo>
                  <a:lnTo>
                    <a:pt x="45720" y="274688"/>
                  </a:lnTo>
                  <a:lnTo>
                    <a:pt x="37795" y="274688"/>
                  </a:lnTo>
                  <a:lnTo>
                    <a:pt x="29870" y="272529"/>
                  </a:lnTo>
                  <a:lnTo>
                    <a:pt x="23037" y="268566"/>
                  </a:lnTo>
                  <a:lnTo>
                    <a:pt x="15836" y="264604"/>
                  </a:lnTo>
                  <a:lnTo>
                    <a:pt x="10071" y="258838"/>
                  </a:lnTo>
                  <a:lnTo>
                    <a:pt x="6121" y="252006"/>
                  </a:lnTo>
                  <a:lnTo>
                    <a:pt x="2159" y="244805"/>
                  </a:lnTo>
                  <a:lnTo>
                    <a:pt x="0" y="236880"/>
                  </a:lnTo>
                  <a:lnTo>
                    <a:pt x="0" y="228968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666264" y="2453220"/>
            <a:ext cx="118110" cy="671830"/>
            <a:chOff x="1666264" y="2453220"/>
            <a:chExt cx="118110" cy="671830"/>
          </a:xfrm>
        </p:grpSpPr>
        <p:sp>
          <p:nvSpPr>
            <p:cNvPr id="21" name="object 21"/>
            <p:cNvSpPr/>
            <p:nvPr/>
          </p:nvSpPr>
          <p:spPr>
            <a:xfrm>
              <a:off x="1672564" y="2459520"/>
              <a:ext cx="106045" cy="659130"/>
            </a:xfrm>
            <a:custGeom>
              <a:avLst/>
              <a:gdLst/>
              <a:ahLst/>
              <a:cxnLst/>
              <a:rect l="l" t="t" r="r" b="b"/>
              <a:pathLst>
                <a:path w="106044" h="659130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36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621004"/>
                  </a:lnTo>
                  <a:lnTo>
                    <a:pt x="2158" y="628916"/>
                  </a:lnTo>
                  <a:lnTo>
                    <a:pt x="6121" y="636117"/>
                  </a:lnTo>
                  <a:lnTo>
                    <a:pt x="10071" y="642962"/>
                  </a:lnTo>
                  <a:lnTo>
                    <a:pt x="15836" y="648715"/>
                  </a:lnTo>
                  <a:lnTo>
                    <a:pt x="23037" y="652678"/>
                  </a:lnTo>
                  <a:lnTo>
                    <a:pt x="29870" y="656640"/>
                  </a:lnTo>
                  <a:lnTo>
                    <a:pt x="37795" y="658799"/>
                  </a:lnTo>
                  <a:lnTo>
                    <a:pt x="67678" y="658799"/>
                  </a:lnTo>
                  <a:lnTo>
                    <a:pt x="99352" y="635762"/>
                  </a:lnTo>
                  <a:lnTo>
                    <a:pt x="103314" y="628916"/>
                  </a:lnTo>
                  <a:lnTo>
                    <a:pt x="105473" y="621004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590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2564" y="2459520"/>
              <a:ext cx="106045" cy="659130"/>
            </a:xfrm>
            <a:custGeom>
              <a:avLst/>
              <a:gdLst/>
              <a:ahLst/>
              <a:cxnLst/>
              <a:rect l="l" t="t" r="r" b="b"/>
              <a:pathLst>
                <a:path w="106044" h="659130">
                  <a:moveTo>
                    <a:pt x="355" y="45719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590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613079"/>
                  </a:lnTo>
                  <a:lnTo>
                    <a:pt x="105473" y="621004"/>
                  </a:lnTo>
                  <a:lnTo>
                    <a:pt x="103314" y="628916"/>
                  </a:lnTo>
                  <a:lnTo>
                    <a:pt x="99352" y="635762"/>
                  </a:lnTo>
                  <a:lnTo>
                    <a:pt x="95389" y="642962"/>
                  </a:lnTo>
                  <a:lnTo>
                    <a:pt x="89636" y="648715"/>
                  </a:lnTo>
                  <a:lnTo>
                    <a:pt x="82791" y="652678"/>
                  </a:lnTo>
                  <a:lnTo>
                    <a:pt x="75590" y="656640"/>
                  </a:lnTo>
                  <a:lnTo>
                    <a:pt x="67678" y="658799"/>
                  </a:lnTo>
                  <a:lnTo>
                    <a:pt x="59753" y="658799"/>
                  </a:lnTo>
                  <a:lnTo>
                    <a:pt x="45719" y="658799"/>
                  </a:lnTo>
                  <a:lnTo>
                    <a:pt x="37795" y="658799"/>
                  </a:lnTo>
                  <a:lnTo>
                    <a:pt x="29870" y="656640"/>
                  </a:lnTo>
                  <a:lnTo>
                    <a:pt x="23037" y="652678"/>
                  </a:lnTo>
                  <a:lnTo>
                    <a:pt x="15836" y="648715"/>
                  </a:lnTo>
                  <a:lnTo>
                    <a:pt x="10071" y="642962"/>
                  </a:lnTo>
                  <a:lnTo>
                    <a:pt x="6121" y="636117"/>
                  </a:lnTo>
                  <a:lnTo>
                    <a:pt x="2158" y="628916"/>
                  </a:lnTo>
                  <a:lnTo>
                    <a:pt x="0" y="621004"/>
                  </a:lnTo>
                  <a:lnTo>
                    <a:pt x="0" y="613079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840140" y="2278976"/>
            <a:ext cx="118110" cy="1019175"/>
            <a:chOff x="1840140" y="2278976"/>
            <a:chExt cx="118110" cy="1019175"/>
          </a:xfrm>
        </p:grpSpPr>
        <p:sp>
          <p:nvSpPr>
            <p:cNvPr id="24" name="object 24"/>
            <p:cNvSpPr/>
            <p:nvPr/>
          </p:nvSpPr>
          <p:spPr>
            <a:xfrm>
              <a:off x="1846440" y="2285276"/>
              <a:ext cx="106045" cy="1006475"/>
            </a:xfrm>
            <a:custGeom>
              <a:avLst/>
              <a:gdLst/>
              <a:ahLst/>
              <a:cxnLst/>
              <a:rect l="l" t="t" r="r" b="b"/>
              <a:pathLst>
                <a:path w="106044" h="1006475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968400"/>
                  </a:lnTo>
                  <a:lnTo>
                    <a:pt x="2158" y="976325"/>
                  </a:lnTo>
                  <a:lnTo>
                    <a:pt x="6121" y="983526"/>
                  </a:lnTo>
                  <a:lnTo>
                    <a:pt x="10083" y="990358"/>
                  </a:lnTo>
                  <a:lnTo>
                    <a:pt x="15836" y="996124"/>
                  </a:lnTo>
                  <a:lnTo>
                    <a:pt x="23037" y="1000086"/>
                  </a:lnTo>
                  <a:lnTo>
                    <a:pt x="29883" y="1004049"/>
                  </a:lnTo>
                  <a:lnTo>
                    <a:pt x="37795" y="1006208"/>
                  </a:lnTo>
                  <a:lnTo>
                    <a:pt x="67678" y="1006208"/>
                  </a:lnTo>
                  <a:lnTo>
                    <a:pt x="99364" y="983157"/>
                  </a:lnTo>
                  <a:lnTo>
                    <a:pt x="103314" y="976325"/>
                  </a:lnTo>
                  <a:lnTo>
                    <a:pt x="105473" y="968400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46440" y="2285276"/>
              <a:ext cx="106045" cy="1006475"/>
            </a:xfrm>
            <a:custGeom>
              <a:avLst/>
              <a:gdLst/>
              <a:ahLst/>
              <a:cxnLst/>
              <a:rect l="l" t="t" r="r" b="b"/>
              <a:pathLst>
                <a:path w="106044" h="1006475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960488"/>
                  </a:lnTo>
                  <a:lnTo>
                    <a:pt x="105473" y="968400"/>
                  </a:lnTo>
                  <a:lnTo>
                    <a:pt x="103314" y="976325"/>
                  </a:lnTo>
                  <a:lnTo>
                    <a:pt x="99364" y="983157"/>
                  </a:lnTo>
                  <a:lnTo>
                    <a:pt x="95402" y="990358"/>
                  </a:lnTo>
                  <a:lnTo>
                    <a:pt x="89636" y="996124"/>
                  </a:lnTo>
                  <a:lnTo>
                    <a:pt x="82803" y="1000086"/>
                  </a:lnTo>
                  <a:lnTo>
                    <a:pt x="75603" y="1004049"/>
                  </a:lnTo>
                  <a:lnTo>
                    <a:pt x="67678" y="1006208"/>
                  </a:lnTo>
                  <a:lnTo>
                    <a:pt x="59753" y="1006208"/>
                  </a:lnTo>
                  <a:lnTo>
                    <a:pt x="45719" y="1006208"/>
                  </a:lnTo>
                  <a:lnTo>
                    <a:pt x="37795" y="1006208"/>
                  </a:lnTo>
                  <a:lnTo>
                    <a:pt x="29883" y="1004049"/>
                  </a:lnTo>
                  <a:lnTo>
                    <a:pt x="23037" y="1000086"/>
                  </a:lnTo>
                  <a:lnTo>
                    <a:pt x="15836" y="996124"/>
                  </a:lnTo>
                  <a:lnTo>
                    <a:pt x="10083" y="990358"/>
                  </a:lnTo>
                  <a:lnTo>
                    <a:pt x="6121" y="983526"/>
                  </a:lnTo>
                  <a:lnTo>
                    <a:pt x="2158" y="976325"/>
                  </a:lnTo>
                  <a:lnTo>
                    <a:pt x="0" y="968400"/>
                  </a:lnTo>
                  <a:lnTo>
                    <a:pt x="0" y="960488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013660" y="2393822"/>
            <a:ext cx="118110" cy="790575"/>
            <a:chOff x="2013660" y="2393822"/>
            <a:chExt cx="118110" cy="790575"/>
          </a:xfrm>
        </p:grpSpPr>
        <p:sp>
          <p:nvSpPr>
            <p:cNvPr id="27" name="object 27"/>
            <p:cNvSpPr/>
            <p:nvPr/>
          </p:nvSpPr>
          <p:spPr>
            <a:xfrm>
              <a:off x="2019960" y="2400122"/>
              <a:ext cx="106045" cy="777875"/>
            </a:xfrm>
            <a:custGeom>
              <a:avLst/>
              <a:gdLst/>
              <a:ahLst/>
              <a:cxnLst/>
              <a:rect l="l" t="t" r="r" b="b"/>
              <a:pathLst>
                <a:path w="106044" h="777875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77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739800"/>
                  </a:lnTo>
                  <a:lnTo>
                    <a:pt x="2159" y="747712"/>
                  </a:lnTo>
                  <a:lnTo>
                    <a:pt x="6121" y="754913"/>
                  </a:lnTo>
                  <a:lnTo>
                    <a:pt x="10083" y="761758"/>
                  </a:lnTo>
                  <a:lnTo>
                    <a:pt x="15836" y="767511"/>
                  </a:lnTo>
                  <a:lnTo>
                    <a:pt x="23037" y="771474"/>
                  </a:lnTo>
                  <a:lnTo>
                    <a:pt x="29883" y="775436"/>
                  </a:lnTo>
                  <a:lnTo>
                    <a:pt x="37795" y="777595"/>
                  </a:lnTo>
                  <a:lnTo>
                    <a:pt x="67678" y="777595"/>
                  </a:lnTo>
                  <a:lnTo>
                    <a:pt x="99364" y="754557"/>
                  </a:lnTo>
                  <a:lnTo>
                    <a:pt x="103314" y="747712"/>
                  </a:lnTo>
                  <a:lnTo>
                    <a:pt x="105473" y="739800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192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19960" y="2400122"/>
              <a:ext cx="106045" cy="777875"/>
            </a:xfrm>
            <a:custGeom>
              <a:avLst/>
              <a:gdLst/>
              <a:ahLst/>
              <a:cxnLst/>
              <a:rect l="l" t="t" r="r" b="b"/>
              <a:pathLst>
                <a:path w="106044" h="777875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402" y="16192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731875"/>
                  </a:lnTo>
                  <a:lnTo>
                    <a:pt x="105473" y="739800"/>
                  </a:lnTo>
                  <a:lnTo>
                    <a:pt x="103314" y="747712"/>
                  </a:lnTo>
                  <a:lnTo>
                    <a:pt x="99364" y="754557"/>
                  </a:lnTo>
                  <a:lnTo>
                    <a:pt x="95402" y="761758"/>
                  </a:lnTo>
                  <a:lnTo>
                    <a:pt x="89636" y="767511"/>
                  </a:lnTo>
                  <a:lnTo>
                    <a:pt x="82804" y="771474"/>
                  </a:lnTo>
                  <a:lnTo>
                    <a:pt x="75603" y="775436"/>
                  </a:lnTo>
                  <a:lnTo>
                    <a:pt x="67678" y="777595"/>
                  </a:lnTo>
                  <a:lnTo>
                    <a:pt x="59753" y="777595"/>
                  </a:lnTo>
                  <a:lnTo>
                    <a:pt x="45719" y="777595"/>
                  </a:lnTo>
                  <a:lnTo>
                    <a:pt x="37795" y="777595"/>
                  </a:lnTo>
                  <a:lnTo>
                    <a:pt x="29883" y="775436"/>
                  </a:lnTo>
                  <a:lnTo>
                    <a:pt x="23037" y="771474"/>
                  </a:lnTo>
                  <a:lnTo>
                    <a:pt x="15836" y="767511"/>
                  </a:lnTo>
                  <a:lnTo>
                    <a:pt x="10083" y="761758"/>
                  </a:lnTo>
                  <a:lnTo>
                    <a:pt x="6121" y="754913"/>
                  </a:lnTo>
                  <a:lnTo>
                    <a:pt x="2159" y="747712"/>
                  </a:lnTo>
                  <a:lnTo>
                    <a:pt x="0" y="739800"/>
                  </a:lnTo>
                  <a:lnTo>
                    <a:pt x="0" y="731875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187536" y="2576702"/>
            <a:ext cx="118110" cy="424815"/>
            <a:chOff x="2187536" y="2576702"/>
            <a:chExt cx="118110" cy="424815"/>
          </a:xfrm>
        </p:grpSpPr>
        <p:sp>
          <p:nvSpPr>
            <p:cNvPr id="30" name="object 30"/>
            <p:cNvSpPr/>
            <p:nvPr/>
          </p:nvSpPr>
          <p:spPr>
            <a:xfrm>
              <a:off x="2193836" y="2583002"/>
              <a:ext cx="106045" cy="412115"/>
            </a:xfrm>
            <a:custGeom>
              <a:avLst/>
              <a:gdLst/>
              <a:ahLst/>
              <a:cxnLst/>
              <a:rect l="l" t="t" r="r" b="b"/>
              <a:pathLst>
                <a:path w="106044" h="412114">
                  <a:moveTo>
                    <a:pt x="46088" y="0"/>
                  </a:moveTo>
                  <a:lnTo>
                    <a:pt x="38163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374040"/>
                  </a:lnTo>
                  <a:lnTo>
                    <a:pt x="2159" y="381952"/>
                  </a:lnTo>
                  <a:lnTo>
                    <a:pt x="6121" y="389153"/>
                  </a:lnTo>
                  <a:lnTo>
                    <a:pt x="10083" y="395998"/>
                  </a:lnTo>
                  <a:lnTo>
                    <a:pt x="15849" y="401751"/>
                  </a:lnTo>
                  <a:lnTo>
                    <a:pt x="23037" y="405714"/>
                  </a:lnTo>
                  <a:lnTo>
                    <a:pt x="29883" y="409676"/>
                  </a:lnTo>
                  <a:lnTo>
                    <a:pt x="37807" y="411835"/>
                  </a:lnTo>
                  <a:lnTo>
                    <a:pt x="67678" y="411835"/>
                  </a:lnTo>
                  <a:lnTo>
                    <a:pt x="99364" y="388797"/>
                  </a:lnTo>
                  <a:lnTo>
                    <a:pt x="103327" y="381952"/>
                  </a:lnTo>
                  <a:lnTo>
                    <a:pt x="105486" y="374040"/>
                  </a:lnTo>
                  <a:lnTo>
                    <a:pt x="105385" y="37795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192"/>
                  </a:lnTo>
                  <a:lnTo>
                    <a:pt x="89649" y="10439"/>
                  </a:lnTo>
                  <a:lnTo>
                    <a:pt x="82448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66" y="355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93836" y="2583002"/>
              <a:ext cx="106045" cy="412115"/>
            </a:xfrm>
            <a:custGeom>
              <a:avLst/>
              <a:gdLst/>
              <a:ahLst/>
              <a:cxnLst/>
              <a:rect l="l" t="t" r="r" b="b"/>
              <a:pathLst>
                <a:path w="106044" h="412114">
                  <a:moveTo>
                    <a:pt x="368" y="45719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48" y="6476"/>
                  </a:lnTo>
                  <a:lnTo>
                    <a:pt x="89649" y="10439"/>
                  </a:lnTo>
                  <a:lnTo>
                    <a:pt x="95402" y="16192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75"/>
                  </a:lnTo>
                  <a:lnTo>
                    <a:pt x="105486" y="366115"/>
                  </a:lnTo>
                  <a:lnTo>
                    <a:pt x="105486" y="374040"/>
                  </a:lnTo>
                  <a:lnTo>
                    <a:pt x="103327" y="381952"/>
                  </a:lnTo>
                  <a:lnTo>
                    <a:pt x="99364" y="388797"/>
                  </a:lnTo>
                  <a:lnTo>
                    <a:pt x="95402" y="395998"/>
                  </a:lnTo>
                  <a:lnTo>
                    <a:pt x="89649" y="401751"/>
                  </a:lnTo>
                  <a:lnTo>
                    <a:pt x="82804" y="405714"/>
                  </a:lnTo>
                  <a:lnTo>
                    <a:pt x="75603" y="409676"/>
                  </a:lnTo>
                  <a:lnTo>
                    <a:pt x="67678" y="411835"/>
                  </a:lnTo>
                  <a:lnTo>
                    <a:pt x="59766" y="411835"/>
                  </a:lnTo>
                  <a:lnTo>
                    <a:pt x="45719" y="411835"/>
                  </a:lnTo>
                  <a:lnTo>
                    <a:pt x="37807" y="411835"/>
                  </a:lnTo>
                  <a:lnTo>
                    <a:pt x="29883" y="409676"/>
                  </a:lnTo>
                  <a:lnTo>
                    <a:pt x="23037" y="405714"/>
                  </a:lnTo>
                  <a:lnTo>
                    <a:pt x="15849" y="401751"/>
                  </a:lnTo>
                  <a:lnTo>
                    <a:pt x="10083" y="395998"/>
                  </a:lnTo>
                  <a:lnTo>
                    <a:pt x="6121" y="389153"/>
                  </a:lnTo>
                  <a:lnTo>
                    <a:pt x="2159" y="381952"/>
                  </a:lnTo>
                  <a:lnTo>
                    <a:pt x="0" y="374040"/>
                  </a:lnTo>
                  <a:lnTo>
                    <a:pt x="0" y="366115"/>
                  </a:lnTo>
                  <a:lnTo>
                    <a:pt x="368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1424" y="2668142"/>
            <a:ext cx="118073" cy="241555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2534944" y="2507576"/>
            <a:ext cx="118110" cy="561975"/>
            <a:chOff x="2534944" y="2507576"/>
            <a:chExt cx="118110" cy="561975"/>
          </a:xfrm>
        </p:grpSpPr>
        <p:sp>
          <p:nvSpPr>
            <p:cNvPr id="34" name="object 34"/>
            <p:cNvSpPr/>
            <p:nvPr/>
          </p:nvSpPr>
          <p:spPr>
            <a:xfrm>
              <a:off x="2541244" y="2513876"/>
              <a:ext cx="106045" cy="549275"/>
            </a:xfrm>
            <a:custGeom>
              <a:avLst/>
              <a:gdLst/>
              <a:ahLst/>
              <a:cxnLst/>
              <a:rect l="l" t="t" r="r" b="b"/>
              <a:pathLst>
                <a:path w="106044" h="549275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511200"/>
                  </a:lnTo>
                  <a:lnTo>
                    <a:pt x="2158" y="519125"/>
                  </a:lnTo>
                  <a:lnTo>
                    <a:pt x="6121" y="526326"/>
                  </a:lnTo>
                  <a:lnTo>
                    <a:pt x="10071" y="533158"/>
                  </a:lnTo>
                  <a:lnTo>
                    <a:pt x="15836" y="538924"/>
                  </a:lnTo>
                  <a:lnTo>
                    <a:pt x="23037" y="542886"/>
                  </a:lnTo>
                  <a:lnTo>
                    <a:pt x="29870" y="546849"/>
                  </a:lnTo>
                  <a:lnTo>
                    <a:pt x="37795" y="549008"/>
                  </a:lnTo>
                  <a:lnTo>
                    <a:pt x="67678" y="549008"/>
                  </a:lnTo>
                  <a:lnTo>
                    <a:pt x="99352" y="525957"/>
                  </a:lnTo>
                  <a:lnTo>
                    <a:pt x="103314" y="519125"/>
                  </a:lnTo>
                  <a:lnTo>
                    <a:pt x="105473" y="511200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590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41244" y="2513876"/>
              <a:ext cx="106045" cy="549275"/>
            </a:xfrm>
            <a:custGeom>
              <a:avLst/>
              <a:gdLst/>
              <a:ahLst/>
              <a:cxnLst/>
              <a:rect l="l" t="t" r="r" b="b"/>
              <a:pathLst>
                <a:path w="106044" h="549275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590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503288"/>
                  </a:lnTo>
                  <a:lnTo>
                    <a:pt x="105473" y="511200"/>
                  </a:lnTo>
                  <a:lnTo>
                    <a:pt x="103314" y="519125"/>
                  </a:lnTo>
                  <a:lnTo>
                    <a:pt x="99352" y="525957"/>
                  </a:lnTo>
                  <a:lnTo>
                    <a:pt x="95389" y="533158"/>
                  </a:lnTo>
                  <a:lnTo>
                    <a:pt x="89636" y="538924"/>
                  </a:lnTo>
                  <a:lnTo>
                    <a:pt x="82791" y="542886"/>
                  </a:lnTo>
                  <a:lnTo>
                    <a:pt x="75590" y="546849"/>
                  </a:lnTo>
                  <a:lnTo>
                    <a:pt x="67678" y="549008"/>
                  </a:lnTo>
                  <a:lnTo>
                    <a:pt x="59753" y="549008"/>
                  </a:lnTo>
                  <a:lnTo>
                    <a:pt x="45719" y="549008"/>
                  </a:lnTo>
                  <a:lnTo>
                    <a:pt x="37795" y="549008"/>
                  </a:lnTo>
                  <a:lnTo>
                    <a:pt x="29870" y="546849"/>
                  </a:lnTo>
                  <a:lnTo>
                    <a:pt x="23037" y="542886"/>
                  </a:lnTo>
                  <a:lnTo>
                    <a:pt x="15836" y="538924"/>
                  </a:lnTo>
                  <a:lnTo>
                    <a:pt x="10071" y="533158"/>
                  </a:lnTo>
                  <a:lnTo>
                    <a:pt x="6121" y="526326"/>
                  </a:lnTo>
                  <a:lnTo>
                    <a:pt x="2158" y="519125"/>
                  </a:lnTo>
                  <a:lnTo>
                    <a:pt x="0" y="511200"/>
                  </a:lnTo>
                  <a:lnTo>
                    <a:pt x="0" y="503288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2708820" y="2316060"/>
            <a:ext cx="118110" cy="946150"/>
            <a:chOff x="2708820" y="2316060"/>
            <a:chExt cx="118110" cy="946150"/>
          </a:xfrm>
        </p:grpSpPr>
        <p:sp>
          <p:nvSpPr>
            <p:cNvPr id="37" name="object 37"/>
            <p:cNvSpPr/>
            <p:nvPr/>
          </p:nvSpPr>
          <p:spPr>
            <a:xfrm>
              <a:off x="2715120" y="2322360"/>
              <a:ext cx="106045" cy="933450"/>
            </a:xfrm>
            <a:custGeom>
              <a:avLst/>
              <a:gdLst/>
              <a:ahLst/>
              <a:cxnLst/>
              <a:rect l="l" t="t" r="r" b="b"/>
              <a:pathLst>
                <a:path w="106044" h="933450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77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895324"/>
                  </a:lnTo>
                  <a:lnTo>
                    <a:pt x="2159" y="903236"/>
                  </a:lnTo>
                  <a:lnTo>
                    <a:pt x="6121" y="910437"/>
                  </a:lnTo>
                  <a:lnTo>
                    <a:pt x="10083" y="917282"/>
                  </a:lnTo>
                  <a:lnTo>
                    <a:pt x="15836" y="923036"/>
                  </a:lnTo>
                  <a:lnTo>
                    <a:pt x="23037" y="926998"/>
                  </a:lnTo>
                  <a:lnTo>
                    <a:pt x="29883" y="930960"/>
                  </a:lnTo>
                  <a:lnTo>
                    <a:pt x="37795" y="933119"/>
                  </a:lnTo>
                  <a:lnTo>
                    <a:pt x="67678" y="933119"/>
                  </a:lnTo>
                  <a:lnTo>
                    <a:pt x="99364" y="910082"/>
                  </a:lnTo>
                  <a:lnTo>
                    <a:pt x="103314" y="903236"/>
                  </a:lnTo>
                  <a:lnTo>
                    <a:pt x="105473" y="895324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15120" y="2322360"/>
              <a:ext cx="106045" cy="933450"/>
            </a:xfrm>
            <a:custGeom>
              <a:avLst/>
              <a:gdLst/>
              <a:ahLst/>
              <a:cxnLst/>
              <a:rect l="l" t="t" r="r" b="b"/>
              <a:pathLst>
                <a:path w="106044" h="933450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887399"/>
                  </a:lnTo>
                  <a:lnTo>
                    <a:pt x="105473" y="895324"/>
                  </a:lnTo>
                  <a:lnTo>
                    <a:pt x="103314" y="903236"/>
                  </a:lnTo>
                  <a:lnTo>
                    <a:pt x="99364" y="910082"/>
                  </a:lnTo>
                  <a:lnTo>
                    <a:pt x="95402" y="917282"/>
                  </a:lnTo>
                  <a:lnTo>
                    <a:pt x="89636" y="923036"/>
                  </a:lnTo>
                  <a:lnTo>
                    <a:pt x="82804" y="926998"/>
                  </a:lnTo>
                  <a:lnTo>
                    <a:pt x="75603" y="930960"/>
                  </a:lnTo>
                  <a:lnTo>
                    <a:pt x="67678" y="933119"/>
                  </a:lnTo>
                  <a:lnTo>
                    <a:pt x="59753" y="933119"/>
                  </a:lnTo>
                  <a:lnTo>
                    <a:pt x="45720" y="933119"/>
                  </a:lnTo>
                  <a:lnTo>
                    <a:pt x="37795" y="933119"/>
                  </a:lnTo>
                  <a:lnTo>
                    <a:pt x="29883" y="930960"/>
                  </a:lnTo>
                  <a:lnTo>
                    <a:pt x="23037" y="926998"/>
                  </a:lnTo>
                  <a:lnTo>
                    <a:pt x="15836" y="923036"/>
                  </a:lnTo>
                  <a:lnTo>
                    <a:pt x="10083" y="917282"/>
                  </a:lnTo>
                  <a:lnTo>
                    <a:pt x="6121" y="910437"/>
                  </a:lnTo>
                  <a:lnTo>
                    <a:pt x="2159" y="903236"/>
                  </a:lnTo>
                  <a:lnTo>
                    <a:pt x="0" y="895324"/>
                  </a:lnTo>
                  <a:lnTo>
                    <a:pt x="0" y="887399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882340" y="2425496"/>
            <a:ext cx="118110" cy="726440"/>
            <a:chOff x="2882340" y="2425496"/>
            <a:chExt cx="118110" cy="726440"/>
          </a:xfrm>
        </p:grpSpPr>
        <p:sp>
          <p:nvSpPr>
            <p:cNvPr id="40" name="object 40"/>
            <p:cNvSpPr/>
            <p:nvPr/>
          </p:nvSpPr>
          <p:spPr>
            <a:xfrm>
              <a:off x="2888640" y="2431796"/>
              <a:ext cx="106045" cy="713740"/>
            </a:xfrm>
            <a:custGeom>
              <a:avLst/>
              <a:gdLst/>
              <a:ahLst/>
              <a:cxnLst/>
              <a:rect l="l" t="t" r="r" b="b"/>
              <a:pathLst>
                <a:path w="106044" h="713739">
                  <a:moveTo>
                    <a:pt x="46075" y="0"/>
                  </a:moveTo>
                  <a:lnTo>
                    <a:pt x="38163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675728"/>
                  </a:lnTo>
                  <a:lnTo>
                    <a:pt x="2159" y="683640"/>
                  </a:lnTo>
                  <a:lnTo>
                    <a:pt x="6121" y="690841"/>
                  </a:lnTo>
                  <a:lnTo>
                    <a:pt x="10083" y="697687"/>
                  </a:lnTo>
                  <a:lnTo>
                    <a:pt x="15836" y="703440"/>
                  </a:lnTo>
                  <a:lnTo>
                    <a:pt x="23037" y="707402"/>
                  </a:lnTo>
                  <a:lnTo>
                    <a:pt x="29883" y="711365"/>
                  </a:lnTo>
                  <a:lnTo>
                    <a:pt x="37795" y="713524"/>
                  </a:lnTo>
                  <a:lnTo>
                    <a:pt x="67678" y="713524"/>
                  </a:lnTo>
                  <a:lnTo>
                    <a:pt x="99364" y="690486"/>
                  </a:lnTo>
                  <a:lnTo>
                    <a:pt x="103314" y="683640"/>
                  </a:lnTo>
                  <a:lnTo>
                    <a:pt x="105473" y="67572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88640" y="2431796"/>
              <a:ext cx="106045" cy="713740"/>
            </a:xfrm>
            <a:custGeom>
              <a:avLst/>
              <a:gdLst/>
              <a:ahLst/>
              <a:cxnLst/>
              <a:rect l="l" t="t" r="r" b="b"/>
              <a:pathLst>
                <a:path w="106044" h="713739">
                  <a:moveTo>
                    <a:pt x="355" y="45719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667804"/>
                  </a:lnTo>
                  <a:lnTo>
                    <a:pt x="105473" y="675728"/>
                  </a:lnTo>
                  <a:lnTo>
                    <a:pt x="103314" y="683640"/>
                  </a:lnTo>
                  <a:lnTo>
                    <a:pt x="99364" y="690486"/>
                  </a:lnTo>
                  <a:lnTo>
                    <a:pt x="95402" y="697687"/>
                  </a:lnTo>
                  <a:lnTo>
                    <a:pt x="89636" y="703440"/>
                  </a:lnTo>
                  <a:lnTo>
                    <a:pt x="82804" y="707402"/>
                  </a:lnTo>
                  <a:lnTo>
                    <a:pt x="75603" y="711365"/>
                  </a:lnTo>
                  <a:lnTo>
                    <a:pt x="67678" y="713524"/>
                  </a:lnTo>
                  <a:lnTo>
                    <a:pt x="59753" y="713524"/>
                  </a:lnTo>
                  <a:lnTo>
                    <a:pt x="45719" y="713524"/>
                  </a:lnTo>
                  <a:lnTo>
                    <a:pt x="37795" y="713524"/>
                  </a:lnTo>
                  <a:lnTo>
                    <a:pt x="29883" y="711365"/>
                  </a:lnTo>
                  <a:lnTo>
                    <a:pt x="23037" y="707402"/>
                  </a:lnTo>
                  <a:lnTo>
                    <a:pt x="15836" y="703440"/>
                  </a:lnTo>
                  <a:lnTo>
                    <a:pt x="10083" y="697687"/>
                  </a:lnTo>
                  <a:lnTo>
                    <a:pt x="6121" y="690841"/>
                  </a:lnTo>
                  <a:lnTo>
                    <a:pt x="2159" y="683640"/>
                  </a:lnTo>
                  <a:lnTo>
                    <a:pt x="0" y="675728"/>
                  </a:lnTo>
                  <a:lnTo>
                    <a:pt x="0" y="667804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3056216" y="2617380"/>
            <a:ext cx="118110" cy="342265"/>
            <a:chOff x="3056216" y="2617380"/>
            <a:chExt cx="118110" cy="342265"/>
          </a:xfrm>
        </p:grpSpPr>
        <p:sp>
          <p:nvSpPr>
            <p:cNvPr id="43" name="object 43"/>
            <p:cNvSpPr/>
            <p:nvPr/>
          </p:nvSpPr>
          <p:spPr>
            <a:xfrm>
              <a:off x="3062516" y="2623680"/>
              <a:ext cx="106045" cy="329565"/>
            </a:xfrm>
            <a:custGeom>
              <a:avLst/>
              <a:gdLst/>
              <a:ahLst/>
              <a:cxnLst/>
              <a:rect l="l" t="t" r="r" b="b"/>
              <a:pathLst>
                <a:path w="106044" h="329564">
                  <a:moveTo>
                    <a:pt x="46088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291604"/>
                  </a:lnTo>
                  <a:lnTo>
                    <a:pt x="2158" y="299516"/>
                  </a:lnTo>
                  <a:lnTo>
                    <a:pt x="6121" y="306717"/>
                  </a:lnTo>
                  <a:lnTo>
                    <a:pt x="10083" y="313563"/>
                  </a:lnTo>
                  <a:lnTo>
                    <a:pt x="15849" y="319316"/>
                  </a:lnTo>
                  <a:lnTo>
                    <a:pt x="23037" y="323278"/>
                  </a:lnTo>
                  <a:lnTo>
                    <a:pt x="29883" y="327240"/>
                  </a:lnTo>
                  <a:lnTo>
                    <a:pt x="37807" y="329399"/>
                  </a:lnTo>
                  <a:lnTo>
                    <a:pt x="67678" y="329399"/>
                  </a:lnTo>
                  <a:lnTo>
                    <a:pt x="99364" y="306362"/>
                  </a:lnTo>
                  <a:lnTo>
                    <a:pt x="103327" y="299516"/>
                  </a:lnTo>
                  <a:lnTo>
                    <a:pt x="105486" y="291604"/>
                  </a:lnTo>
                  <a:lnTo>
                    <a:pt x="105385" y="37795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49" y="10439"/>
                  </a:lnTo>
                  <a:lnTo>
                    <a:pt x="82448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66" y="355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62516" y="2623680"/>
              <a:ext cx="106045" cy="329565"/>
            </a:xfrm>
            <a:custGeom>
              <a:avLst/>
              <a:gdLst/>
              <a:ahLst/>
              <a:cxnLst/>
              <a:rect l="l" t="t" r="r" b="b"/>
              <a:pathLst>
                <a:path w="106044" h="329564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48" y="6476"/>
                  </a:lnTo>
                  <a:lnTo>
                    <a:pt x="89649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75"/>
                  </a:lnTo>
                  <a:lnTo>
                    <a:pt x="105486" y="283679"/>
                  </a:lnTo>
                  <a:lnTo>
                    <a:pt x="105486" y="291604"/>
                  </a:lnTo>
                  <a:lnTo>
                    <a:pt x="103327" y="299516"/>
                  </a:lnTo>
                  <a:lnTo>
                    <a:pt x="99364" y="306362"/>
                  </a:lnTo>
                  <a:lnTo>
                    <a:pt x="95402" y="313563"/>
                  </a:lnTo>
                  <a:lnTo>
                    <a:pt x="89649" y="319316"/>
                  </a:lnTo>
                  <a:lnTo>
                    <a:pt x="82804" y="323278"/>
                  </a:lnTo>
                  <a:lnTo>
                    <a:pt x="75603" y="327240"/>
                  </a:lnTo>
                  <a:lnTo>
                    <a:pt x="67678" y="329399"/>
                  </a:lnTo>
                  <a:lnTo>
                    <a:pt x="59766" y="329399"/>
                  </a:lnTo>
                  <a:lnTo>
                    <a:pt x="45719" y="329399"/>
                  </a:lnTo>
                  <a:lnTo>
                    <a:pt x="37807" y="329399"/>
                  </a:lnTo>
                  <a:lnTo>
                    <a:pt x="29883" y="327240"/>
                  </a:lnTo>
                  <a:lnTo>
                    <a:pt x="23037" y="323278"/>
                  </a:lnTo>
                  <a:lnTo>
                    <a:pt x="15849" y="319316"/>
                  </a:lnTo>
                  <a:lnTo>
                    <a:pt x="10083" y="313563"/>
                  </a:lnTo>
                  <a:lnTo>
                    <a:pt x="6121" y="306717"/>
                  </a:lnTo>
                  <a:lnTo>
                    <a:pt x="2158" y="299516"/>
                  </a:lnTo>
                  <a:lnTo>
                    <a:pt x="0" y="291604"/>
                  </a:lnTo>
                  <a:lnTo>
                    <a:pt x="0" y="283679"/>
                  </a:lnTo>
                  <a:lnTo>
                    <a:pt x="368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0104" y="2699816"/>
            <a:ext cx="118073" cy="177483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3403624" y="2544660"/>
            <a:ext cx="118110" cy="488950"/>
            <a:chOff x="3403624" y="2544660"/>
            <a:chExt cx="118110" cy="488950"/>
          </a:xfrm>
        </p:grpSpPr>
        <p:sp>
          <p:nvSpPr>
            <p:cNvPr id="47" name="object 47"/>
            <p:cNvSpPr/>
            <p:nvPr/>
          </p:nvSpPr>
          <p:spPr>
            <a:xfrm>
              <a:off x="3409924" y="2550960"/>
              <a:ext cx="106045" cy="476250"/>
            </a:xfrm>
            <a:custGeom>
              <a:avLst/>
              <a:gdLst/>
              <a:ahLst/>
              <a:cxnLst/>
              <a:rect l="l" t="t" r="r" b="b"/>
              <a:pathLst>
                <a:path w="106045" h="476250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36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438124"/>
                  </a:lnTo>
                  <a:lnTo>
                    <a:pt x="2159" y="446036"/>
                  </a:lnTo>
                  <a:lnTo>
                    <a:pt x="6121" y="453237"/>
                  </a:lnTo>
                  <a:lnTo>
                    <a:pt x="10071" y="460082"/>
                  </a:lnTo>
                  <a:lnTo>
                    <a:pt x="15836" y="465836"/>
                  </a:lnTo>
                  <a:lnTo>
                    <a:pt x="23037" y="469798"/>
                  </a:lnTo>
                  <a:lnTo>
                    <a:pt x="29870" y="473760"/>
                  </a:lnTo>
                  <a:lnTo>
                    <a:pt x="37795" y="475919"/>
                  </a:lnTo>
                  <a:lnTo>
                    <a:pt x="67678" y="475919"/>
                  </a:lnTo>
                  <a:lnTo>
                    <a:pt x="99352" y="452882"/>
                  </a:lnTo>
                  <a:lnTo>
                    <a:pt x="103314" y="446036"/>
                  </a:lnTo>
                  <a:lnTo>
                    <a:pt x="105473" y="438124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590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09924" y="2550960"/>
              <a:ext cx="106045" cy="476250"/>
            </a:xfrm>
            <a:custGeom>
              <a:avLst/>
              <a:gdLst/>
              <a:ahLst/>
              <a:cxnLst/>
              <a:rect l="l" t="t" r="r" b="b"/>
              <a:pathLst>
                <a:path w="106045" h="476250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590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430199"/>
                  </a:lnTo>
                  <a:lnTo>
                    <a:pt x="105473" y="438124"/>
                  </a:lnTo>
                  <a:lnTo>
                    <a:pt x="103314" y="446036"/>
                  </a:lnTo>
                  <a:lnTo>
                    <a:pt x="99352" y="452882"/>
                  </a:lnTo>
                  <a:lnTo>
                    <a:pt x="95389" y="460082"/>
                  </a:lnTo>
                  <a:lnTo>
                    <a:pt x="89636" y="465836"/>
                  </a:lnTo>
                  <a:lnTo>
                    <a:pt x="82791" y="469798"/>
                  </a:lnTo>
                  <a:lnTo>
                    <a:pt x="75590" y="473760"/>
                  </a:lnTo>
                  <a:lnTo>
                    <a:pt x="67678" y="475919"/>
                  </a:lnTo>
                  <a:lnTo>
                    <a:pt x="59753" y="475919"/>
                  </a:lnTo>
                  <a:lnTo>
                    <a:pt x="45720" y="475919"/>
                  </a:lnTo>
                  <a:lnTo>
                    <a:pt x="37795" y="475919"/>
                  </a:lnTo>
                  <a:lnTo>
                    <a:pt x="29870" y="473760"/>
                  </a:lnTo>
                  <a:lnTo>
                    <a:pt x="23037" y="469798"/>
                  </a:lnTo>
                  <a:lnTo>
                    <a:pt x="15836" y="465836"/>
                  </a:lnTo>
                  <a:lnTo>
                    <a:pt x="10071" y="460082"/>
                  </a:lnTo>
                  <a:lnTo>
                    <a:pt x="6121" y="453237"/>
                  </a:lnTo>
                  <a:lnTo>
                    <a:pt x="2159" y="446036"/>
                  </a:lnTo>
                  <a:lnTo>
                    <a:pt x="0" y="438124"/>
                  </a:lnTo>
                  <a:lnTo>
                    <a:pt x="0" y="430199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3577500" y="2379776"/>
            <a:ext cx="118110" cy="817880"/>
            <a:chOff x="3577500" y="2379776"/>
            <a:chExt cx="118110" cy="817880"/>
          </a:xfrm>
        </p:grpSpPr>
        <p:sp>
          <p:nvSpPr>
            <p:cNvPr id="50" name="object 50"/>
            <p:cNvSpPr/>
            <p:nvPr/>
          </p:nvSpPr>
          <p:spPr>
            <a:xfrm>
              <a:off x="3583800" y="2386075"/>
              <a:ext cx="106045" cy="805180"/>
            </a:xfrm>
            <a:custGeom>
              <a:avLst/>
              <a:gdLst/>
              <a:ahLst/>
              <a:cxnLst/>
              <a:rect l="l" t="t" r="r" b="b"/>
              <a:pathLst>
                <a:path w="106045" h="805180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767168"/>
                  </a:lnTo>
                  <a:lnTo>
                    <a:pt x="2158" y="775081"/>
                  </a:lnTo>
                  <a:lnTo>
                    <a:pt x="6121" y="782281"/>
                  </a:lnTo>
                  <a:lnTo>
                    <a:pt x="10083" y="789127"/>
                  </a:lnTo>
                  <a:lnTo>
                    <a:pt x="15836" y="794880"/>
                  </a:lnTo>
                  <a:lnTo>
                    <a:pt x="23037" y="798842"/>
                  </a:lnTo>
                  <a:lnTo>
                    <a:pt x="29883" y="802805"/>
                  </a:lnTo>
                  <a:lnTo>
                    <a:pt x="37795" y="804964"/>
                  </a:lnTo>
                  <a:lnTo>
                    <a:pt x="67678" y="804964"/>
                  </a:lnTo>
                  <a:lnTo>
                    <a:pt x="99364" y="781926"/>
                  </a:lnTo>
                  <a:lnTo>
                    <a:pt x="103314" y="775081"/>
                  </a:lnTo>
                  <a:lnTo>
                    <a:pt x="105473" y="76716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83800" y="2386075"/>
              <a:ext cx="106045" cy="805180"/>
            </a:xfrm>
            <a:custGeom>
              <a:avLst/>
              <a:gdLst/>
              <a:ahLst/>
              <a:cxnLst/>
              <a:rect l="l" t="t" r="r" b="b"/>
              <a:pathLst>
                <a:path w="106045" h="805180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759244"/>
                  </a:lnTo>
                  <a:lnTo>
                    <a:pt x="105473" y="767168"/>
                  </a:lnTo>
                  <a:lnTo>
                    <a:pt x="103314" y="775081"/>
                  </a:lnTo>
                  <a:lnTo>
                    <a:pt x="99364" y="781926"/>
                  </a:lnTo>
                  <a:lnTo>
                    <a:pt x="95402" y="789127"/>
                  </a:lnTo>
                  <a:lnTo>
                    <a:pt x="89636" y="794880"/>
                  </a:lnTo>
                  <a:lnTo>
                    <a:pt x="82803" y="798842"/>
                  </a:lnTo>
                  <a:lnTo>
                    <a:pt x="75603" y="802805"/>
                  </a:lnTo>
                  <a:lnTo>
                    <a:pt x="67678" y="804964"/>
                  </a:lnTo>
                  <a:lnTo>
                    <a:pt x="59753" y="804964"/>
                  </a:lnTo>
                  <a:lnTo>
                    <a:pt x="45719" y="804964"/>
                  </a:lnTo>
                  <a:lnTo>
                    <a:pt x="37795" y="804964"/>
                  </a:lnTo>
                  <a:lnTo>
                    <a:pt x="29883" y="802805"/>
                  </a:lnTo>
                  <a:lnTo>
                    <a:pt x="23037" y="798842"/>
                  </a:lnTo>
                  <a:lnTo>
                    <a:pt x="15836" y="794880"/>
                  </a:lnTo>
                  <a:lnTo>
                    <a:pt x="10083" y="789127"/>
                  </a:lnTo>
                  <a:lnTo>
                    <a:pt x="6121" y="782281"/>
                  </a:lnTo>
                  <a:lnTo>
                    <a:pt x="2158" y="775081"/>
                  </a:lnTo>
                  <a:lnTo>
                    <a:pt x="0" y="767168"/>
                  </a:lnTo>
                  <a:lnTo>
                    <a:pt x="0" y="759244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751020" y="2256662"/>
            <a:ext cx="118110" cy="1064895"/>
            <a:chOff x="3751020" y="2256662"/>
            <a:chExt cx="118110" cy="1064895"/>
          </a:xfrm>
        </p:grpSpPr>
        <p:sp>
          <p:nvSpPr>
            <p:cNvPr id="53" name="object 53"/>
            <p:cNvSpPr/>
            <p:nvPr/>
          </p:nvSpPr>
          <p:spPr>
            <a:xfrm>
              <a:off x="3757320" y="2262962"/>
              <a:ext cx="106045" cy="1052195"/>
            </a:xfrm>
            <a:custGeom>
              <a:avLst/>
              <a:gdLst/>
              <a:ahLst/>
              <a:cxnLst/>
              <a:rect l="l" t="t" r="r" b="b"/>
              <a:pathLst>
                <a:path w="106045" h="1052195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77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1014120"/>
                  </a:lnTo>
                  <a:lnTo>
                    <a:pt x="2159" y="1022032"/>
                  </a:lnTo>
                  <a:lnTo>
                    <a:pt x="6121" y="1029233"/>
                  </a:lnTo>
                  <a:lnTo>
                    <a:pt x="10083" y="1036078"/>
                  </a:lnTo>
                  <a:lnTo>
                    <a:pt x="15836" y="1041831"/>
                  </a:lnTo>
                  <a:lnTo>
                    <a:pt x="23037" y="1045794"/>
                  </a:lnTo>
                  <a:lnTo>
                    <a:pt x="29883" y="1049756"/>
                  </a:lnTo>
                  <a:lnTo>
                    <a:pt x="37795" y="1051915"/>
                  </a:lnTo>
                  <a:lnTo>
                    <a:pt x="67678" y="1051915"/>
                  </a:lnTo>
                  <a:lnTo>
                    <a:pt x="99364" y="1028877"/>
                  </a:lnTo>
                  <a:lnTo>
                    <a:pt x="103314" y="1022032"/>
                  </a:lnTo>
                  <a:lnTo>
                    <a:pt x="105473" y="1014120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192"/>
                  </a:lnTo>
                  <a:lnTo>
                    <a:pt x="89636" y="10439"/>
                  </a:lnTo>
                  <a:lnTo>
                    <a:pt x="82435" y="6477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57320" y="2262962"/>
              <a:ext cx="106045" cy="1052195"/>
            </a:xfrm>
            <a:custGeom>
              <a:avLst/>
              <a:gdLst/>
              <a:ahLst/>
              <a:cxnLst/>
              <a:rect l="l" t="t" r="r" b="b"/>
              <a:pathLst>
                <a:path w="106045" h="1052195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35" y="6477"/>
                  </a:lnTo>
                  <a:lnTo>
                    <a:pt x="89636" y="10439"/>
                  </a:lnTo>
                  <a:lnTo>
                    <a:pt x="95402" y="16192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1006195"/>
                  </a:lnTo>
                  <a:lnTo>
                    <a:pt x="105473" y="1014120"/>
                  </a:lnTo>
                  <a:lnTo>
                    <a:pt x="103314" y="1022032"/>
                  </a:lnTo>
                  <a:lnTo>
                    <a:pt x="99364" y="1028877"/>
                  </a:lnTo>
                  <a:lnTo>
                    <a:pt x="95402" y="1036078"/>
                  </a:lnTo>
                  <a:lnTo>
                    <a:pt x="89636" y="1041831"/>
                  </a:lnTo>
                  <a:lnTo>
                    <a:pt x="82804" y="1045794"/>
                  </a:lnTo>
                  <a:lnTo>
                    <a:pt x="75603" y="1049756"/>
                  </a:lnTo>
                  <a:lnTo>
                    <a:pt x="67678" y="1051915"/>
                  </a:lnTo>
                  <a:lnTo>
                    <a:pt x="59753" y="1051915"/>
                  </a:lnTo>
                  <a:lnTo>
                    <a:pt x="45720" y="1051915"/>
                  </a:lnTo>
                  <a:lnTo>
                    <a:pt x="37795" y="1051915"/>
                  </a:lnTo>
                  <a:lnTo>
                    <a:pt x="29883" y="1049756"/>
                  </a:lnTo>
                  <a:lnTo>
                    <a:pt x="23037" y="1045794"/>
                  </a:lnTo>
                  <a:lnTo>
                    <a:pt x="15836" y="1041831"/>
                  </a:lnTo>
                  <a:lnTo>
                    <a:pt x="10083" y="1036078"/>
                  </a:lnTo>
                  <a:lnTo>
                    <a:pt x="6121" y="1029233"/>
                  </a:lnTo>
                  <a:lnTo>
                    <a:pt x="2159" y="1022032"/>
                  </a:lnTo>
                  <a:lnTo>
                    <a:pt x="0" y="1014120"/>
                  </a:lnTo>
                  <a:lnTo>
                    <a:pt x="0" y="1006195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924896" y="2461856"/>
            <a:ext cx="118110" cy="653415"/>
            <a:chOff x="3924896" y="2461856"/>
            <a:chExt cx="118110" cy="653415"/>
          </a:xfrm>
        </p:grpSpPr>
        <p:sp>
          <p:nvSpPr>
            <p:cNvPr id="56" name="object 56"/>
            <p:cNvSpPr/>
            <p:nvPr/>
          </p:nvSpPr>
          <p:spPr>
            <a:xfrm>
              <a:off x="3931195" y="2468156"/>
              <a:ext cx="106045" cy="640715"/>
            </a:xfrm>
            <a:custGeom>
              <a:avLst/>
              <a:gdLst/>
              <a:ahLst/>
              <a:cxnLst/>
              <a:rect l="l" t="t" r="r" b="b"/>
              <a:pathLst>
                <a:path w="106045" h="640714">
                  <a:moveTo>
                    <a:pt x="46088" y="0"/>
                  </a:moveTo>
                  <a:lnTo>
                    <a:pt x="38163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807"/>
                  </a:lnTo>
                  <a:lnTo>
                    <a:pt x="0" y="602640"/>
                  </a:lnTo>
                  <a:lnTo>
                    <a:pt x="2159" y="610565"/>
                  </a:lnTo>
                  <a:lnTo>
                    <a:pt x="6121" y="617766"/>
                  </a:lnTo>
                  <a:lnTo>
                    <a:pt x="10083" y="624598"/>
                  </a:lnTo>
                  <a:lnTo>
                    <a:pt x="15849" y="630364"/>
                  </a:lnTo>
                  <a:lnTo>
                    <a:pt x="23037" y="634326"/>
                  </a:lnTo>
                  <a:lnTo>
                    <a:pt x="29883" y="638289"/>
                  </a:lnTo>
                  <a:lnTo>
                    <a:pt x="37807" y="640448"/>
                  </a:lnTo>
                  <a:lnTo>
                    <a:pt x="67678" y="640448"/>
                  </a:lnTo>
                  <a:lnTo>
                    <a:pt x="99364" y="617397"/>
                  </a:lnTo>
                  <a:lnTo>
                    <a:pt x="103327" y="610565"/>
                  </a:lnTo>
                  <a:lnTo>
                    <a:pt x="105486" y="602640"/>
                  </a:lnTo>
                  <a:lnTo>
                    <a:pt x="105389" y="37807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49" y="10439"/>
                  </a:lnTo>
                  <a:lnTo>
                    <a:pt x="82448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66" y="368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31195" y="2468156"/>
              <a:ext cx="106045" cy="640715"/>
            </a:xfrm>
            <a:custGeom>
              <a:avLst/>
              <a:gdLst/>
              <a:ahLst/>
              <a:cxnLst/>
              <a:rect l="l" t="t" r="r" b="b"/>
              <a:pathLst>
                <a:path w="106045" h="640714">
                  <a:moveTo>
                    <a:pt x="368" y="45719"/>
                  </a:moveTo>
                  <a:lnTo>
                    <a:pt x="368" y="37807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48" y="6489"/>
                  </a:lnTo>
                  <a:lnTo>
                    <a:pt x="89649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88"/>
                  </a:lnTo>
                  <a:lnTo>
                    <a:pt x="105486" y="594728"/>
                  </a:lnTo>
                  <a:lnTo>
                    <a:pt x="105486" y="602640"/>
                  </a:lnTo>
                  <a:lnTo>
                    <a:pt x="103327" y="610565"/>
                  </a:lnTo>
                  <a:lnTo>
                    <a:pt x="99364" y="617397"/>
                  </a:lnTo>
                  <a:lnTo>
                    <a:pt x="95402" y="624598"/>
                  </a:lnTo>
                  <a:lnTo>
                    <a:pt x="89649" y="630364"/>
                  </a:lnTo>
                  <a:lnTo>
                    <a:pt x="82803" y="634326"/>
                  </a:lnTo>
                  <a:lnTo>
                    <a:pt x="75603" y="638289"/>
                  </a:lnTo>
                  <a:lnTo>
                    <a:pt x="67678" y="640448"/>
                  </a:lnTo>
                  <a:lnTo>
                    <a:pt x="59766" y="640448"/>
                  </a:lnTo>
                  <a:lnTo>
                    <a:pt x="45719" y="640448"/>
                  </a:lnTo>
                  <a:lnTo>
                    <a:pt x="37807" y="640448"/>
                  </a:lnTo>
                  <a:lnTo>
                    <a:pt x="29883" y="638289"/>
                  </a:lnTo>
                  <a:lnTo>
                    <a:pt x="23037" y="634326"/>
                  </a:lnTo>
                  <a:lnTo>
                    <a:pt x="15849" y="630364"/>
                  </a:lnTo>
                  <a:lnTo>
                    <a:pt x="10083" y="624598"/>
                  </a:lnTo>
                  <a:lnTo>
                    <a:pt x="6121" y="617766"/>
                  </a:lnTo>
                  <a:lnTo>
                    <a:pt x="2159" y="610565"/>
                  </a:lnTo>
                  <a:lnTo>
                    <a:pt x="0" y="602640"/>
                  </a:lnTo>
                  <a:lnTo>
                    <a:pt x="0" y="594728"/>
                  </a:lnTo>
                  <a:lnTo>
                    <a:pt x="368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098784" y="2626384"/>
            <a:ext cx="118110" cy="324485"/>
            <a:chOff x="4098784" y="2626384"/>
            <a:chExt cx="118110" cy="324485"/>
          </a:xfrm>
        </p:grpSpPr>
        <p:sp>
          <p:nvSpPr>
            <p:cNvPr id="59" name="object 59"/>
            <p:cNvSpPr/>
            <p:nvPr/>
          </p:nvSpPr>
          <p:spPr>
            <a:xfrm>
              <a:off x="4105084" y="2632684"/>
              <a:ext cx="106045" cy="311785"/>
            </a:xfrm>
            <a:custGeom>
              <a:avLst/>
              <a:gdLst/>
              <a:ahLst/>
              <a:cxnLst/>
              <a:rect l="l" t="t" r="r" b="b"/>
              <a:pathLst>
                <a:path w="106045" h="311785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71"/>
                  </a:lnTo>
                  <a:lnTo>
                    <a:pt x="10439" y="15836"/>
                  </a:ln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273596"/>
                  </a:lnTo>
                  <a:lnTo>
                    <a:pt x="2158" y="281520"/>
                  </a:lnTo>
                  <a:lnTo>
                    <a:pt x="6121" y="288709"/>
                  </a:lnTo>
                  <a:lnTo>
                    <a:pt x="10071" y="295554"/>
                  </a:lnTo>
                  <a:lnTo>
                    <a:pt x="15836" y="301320"/>
                  </a:lnTo>
                  <a:lnTo>
                    <a:pt x="23037" y="305269"/>
                  </a:lnTo>
                  <a:lnTo>
                    <a:pt x="29870" y="309232"/>
                  </a:lnTo>
                  <a:lnTo>
                    <a:pt x="37795" y="311391"/>
                  </a:lnTo>
                  <a:lnTo>
                    <a:pt x="67678" y="311391"/>
                  </a:lnTo>
                  <a:lnTo>
                    <a:pt x="99352" y="288353"/>
                  </a:lnTo>
                  <a:lnTo>
                    <a:pt x="103314" y="281520"/>
                  </a:lnTo>
                  <a:lnTo>
                    <a:pt x="105473" y="273596"/>
                  </a:lnTo>
                  <a:lnTo>
                    <a:pt x="105376" y="37795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192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590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105084" y="2632684"/>
              <a:ext cx="106045" cy="311785"/>
            </a:xfrm>
            <a:custGeom>
              <a:avLst/>
              <a:gdLst/>
              <a:ahLst/>
              <a:cxnLst/>
              <a:rect l="l" t="t" r="r" b="b"/>
              <a:pathLst>
                <a:path w="106045" h="311785">
                  <a:moveTo>
                    <a:pt x="355" y="45720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590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389" y="16192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50"/>
                  </a:lnTo>
                  <a:lnTo>
                    <a:pt x="105473" y="46075"/>
                  </a:lnTo>
                  <a:lnTo>
                    <a:pt x="105473" y="265671"/>
                  </a:lnTo>
                  <a:lnTo>
                    <a:pt x="105473" y="273596"/>
                  </a:lnTo>
                  <a:lnTo>
                    <a:pt x="103314" y="281520"/>
                  </a:lnTo>
                  <a:lnTo>
                    <a:pt x="99352" y="288353"/>
                  </a:lnTo>
                  <a:lnTo>
                    <a:pt x="95389" y="295554"/>
                  </a:lnTo>
                  <a:lnTo>
                    <a:pt x="89636" y="301320"/>
                  </a:lnTo>
                  <a:lnTo>
                    <a:pt x="82791" y="305269"/>
                  </a:lnTo>
                  <a:lnTo>
                    <a:pt x="75590" y="309232"/>
                  </a:lnTo>
                  <a:lnTo>
                    <a:pt x="67678" y="311391"/>
                  </a:lnTo>
                  <a:lnTo>
                    <a:pt x="59753" y="311391"/>
                  </a:lnTo>
                  <a:lnTo>
                    <a:pt x="45719" y="311391"/>
                  </a:lnTo>
                  <a:lnTo>
                    <a:pt x="37795" y="311391"/>
                  </a:lnTo>
                  <a:lnTo>
                    <a:pt x="29870" y="309232"/>
                  </a:lnTo>
                  <a:lnTo>
                    <a:pt x="23037" y="305269"/>
                  </a:lnTo>
                  <a:lnTo>
                    <a:pt x="15836" y="301320"/>
                  </a:lnTo>
                  <a:lnTo>
                    <a:pt x="10071" y="295554"/>
                  </a:lnTo>
                  <a:lnTo>
                    <a:pt x="6121" y="288709"/>
                  </a:lnTo>
                  <a:lnTo>
                    <a:pt x="2158" y="281520"/>
                  </a:lnTo>
                  <a:lnTo>
                    <a:pt x="0" y="273596"/>
                  </a:lnTo>
                  <a:lnTo>
                    <a:pt x="0" y="265671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1" name="object 6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72304" y="2690456"/>
            <a:ext cx="118073" cy="195848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4446180" y="2516936"/>
            <a:ext cx="118110" cy="543560"/>
            <a:chOff x="4446180" y="2516936"/>
            <a:chExt cx="118110" cy="543560"/>
          </a:xfrm>
        </p:grpSpPr>
        <p:sp>
          <p:nvSpPr>
            <p:cNvPr id="63" name="object 63"/>
            <p:cNvSpPr/>
            <p:nvPr/>
          </p:nvSpPr>
          <p:spPr>
            <a:xfrm>
              <a:off x="4452480" y="2523235"/>
              <a:ext cx="106045" cy="530860"/>
            </a:xfrm>
            <a:custGeom>
              <a:avLst/>
              <a:gdLst/>
              <a:ahLst/>
              <a:cxnLst/>
              <a:rect l="l" t="t" r="r" b="b"/>
              <a:pathLst>
                <a:path w="106045" h="530860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492848"/>
                  </a:lnTo>
                  <a:lnTo>
                    <a:pt x="2159" y="500761"/>
                  </a:lnTo>
                  <a:lnTo>
                    <a:pt x="6121" y="507961"/>
                  </a:lnTo>
                  <a:lnTo>
                    <a:pt x="10083" y="514807"/>
                  </a:lnTo>
                  <a:lnTo>
                    <a:pt x="15836" y="520560"/>
                  </a:lnTo>
                  <a:lnTo>
                    <a:pt x="23037" y="524522"/>
                  </a:lnTo>
                  <a:lnTo>
                    <a:pt x="29883" y="528485"/>
                  </a:lnTo>
                  <a:lnTo>
                    <a:pt x="37795" y="530644"/>
                  </a:lnTo>
                  <a:lnTo>
                    <a:pt x="67678" y="530644"/>
                  </a:lnTo>
                  <a:lnTo>
                    <a:pt x="99364" y="507606"/>
                  </a:lnTo>
                  <a:lnTo>
                    <a:pt x="103314" y="500761"/>
                  </a:lnTo>
                  <a:lnTo>
                    <a:pt x="105473" y="49284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452480" y="2523235"/>
              <a:ext cx="106045" cy="530860"/>
            </a:xfrm>
            <a:custGeom>
              <a:avLst/>
              <a:gdLst/>
              <a:ahLst/>
              <a:cxnLst/>
              <a:rect l="l" t="t" r="r" b="b"/>
              <a:pathLst>
                <a:path w="106045" h="530860">
                  <a:moveTo>
                    <a:pt x="355" y="45719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484924"/>
                  </a:lnTo>
                  <a:lnTo>
                    <a:pt x="105473" y="492848"/>
                  </a:lnTo>
                  <a:lnTo>
                    <a:pt x="103314" y="500761"/>
                  </a:lnTo>
                  <a:lnTo>
                    <a:pt x="99364" y="507606"/>
                  </a:lnTo>
                  <a:lnTo>
                    <a:pt x="95402" y="514807"/>
                  </a:lnTo>
                  <a:lnTo>
                    <a:pt x="89636" y="520560"/>
                  </a:lnTo>
                  <a:lnTo>
                    <a:pt x="82803" y="524522"/>
                  </a:lnTo>
                  <a:lnTo>
                    <a:pt x="75603" y="528485"/>
                  </a:lnTo>
                  <a:lnTo>
                    <a:pt x="67678" y="530644"/>
                  </a:lnTo>
                  <a:lnTo>
                    <a:pt x="59753" y="530644"/>
                  </a:lnTo>
                  <a:lnTo>
                    <a:pt x="45720" y="530644"/>
                  </a:lnTo>
                  <a:lnTo>
                    <a:pt x="37795" y="530644"/>
                  </a:lnTo>
                  <a:lnTo>
                    <a:pt x="29883" y="528485"/>
                  </a:lnTo>
                  <a:lnTo>
                    <a:pt x="23037" y="524522"/>
                  </a:lnTo>
                  <a:lnTo>
                    <a:pt x="15836" y="520560"/>
                  </a:lnTo>
                  <a:lnTo>
                    <a:pt x="10083" y="514807"/>
                  </a:lnTo>
                  <a:lnTo>
                    <a:pt x="6121" y="507961"/>
                  </a:lnTo>
                  <a:lnTo>
                    <a:pt x="2159" y="500761"/>
                  </a:lnTo>
                  <a:lnTo>
                    <a:pt x="0" y="492848"/>
                  </a:lnTo>
                  <a:lnTo>
                    <a:pt x="0" y="484924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4619700" y="2361780"/>
            <a:ext cx="118110" cy="854710"/>
            <a:chOff x="4619700" y="2361780"/>
            <a:chExt cx="118110" cy="854710"/>
          </a:xfrm>
        </p:grpSpPr>
        <p:sp>
          <p:nvSpPr>
            <p:cNvPr id="66" name="object 66"/>
            <p:cNvSpPr/>
            <p:nvPr/>
          </p:nvSpPr>
          <p:spPr>
            <a:xfrm>
              <a:off x="4626000" y="2368080"/>
              <a:ext cx="106045" cy="842010"/>
            </a:xfrm>
            <a:custGeom>
              <a:avLst/>
              <a:gdLst/>
              <a:ahLst/>
              <a:cxnLst/>
              <a:rect l="l" t="t" r="r" b="b"/>
              <a:pathLst>
                <a:path w="106045" h="842010">
                  <a:moveTo>
                    <a:pt x="46075" y="0"/>
                  </a:moveTo>
                  <a:lnTo>
                    <a:pt x="38163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803884"/>
                  </a:lnTo>
                  <a:lnTo>
                    <a:pt x="2159" y="811796"/>
                  </a:lnTo>
                  <a:lnTo>
                    <a:pt x="6121" y="818997"/>
                  </a:lnTo>
                  <a:lnTo>
                    <a:pt x="10083" y="825842"/>
                  </a:lnTo>
                  <a:lnTo>
                    <a:pt x="15836" y="831595"/>
                  </a:lnTo>
                  <a:lnTo>
                    <a:pt x="23037" y="835558"/>
                  </a:lnTo>
                  <a:lnTo>
                    <a:pt x="29883" y="839520"/>
                  </a:lnTo>
                  <a:lnTo>
                    <a:pt x="37795" y="841679"/>
                  </a:lnTo>
                  <a:lnTo>
                    <a:pt x="67678" y="841679"/>
                  </a:lnTo>
                  <a:lnTo>
                    <a:pt x="99364" y="818641"/>
                  </a:lnTo>
                  <a:lnTo>
                    <a:pt x="103314" y="811796"/>
                  </a:lnTo>
                  <a:lnTo>
                    <a:pt x="105473" y="803884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26000" y="2368080"/>
              <a:ext cx="106045" cy="842010"/>
            </a:xfrm>
            <a:custGeom>
              <a:avLst/>
              <a:gdLst/>
              <a:ahLst/>
              <a:cxnLst/>
              <a:rect l="l" t="t" r="r" b="b"/>
              <a:pathLst>
                <a:path w="106045" h="842010">
                  <a:moveTo>
                    <a:pt x="355" y="45719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795959"/>
                  </a:lnTo>
                  <a:lnTo>
                    <a:pt x="105473" y="803884"/>
                  </a:lnTo>
                  <a:lnTo>
                    <a:pt x="103314" y="811796"/>
                  </a:lnTo>
                  <a:lnTo>
                    <a:pt x="99364" y="818641"/>
                  </a:lnTo>
                  <a:lnTo>
                    <a:pt x="95402" y="825842"/>
                  </a:lnTo>
                  <a:lnTo>
                    <a:pt x="89636" y="831595"/>
                  </a:lnTo>
                  <a:lnTo>
                    <a:pt x="82803" y="835558"/>
                  </a:lnTo>
                  <a:lnTo>
                    <a:pt x="75603" y="839520"/>
                  </a:lnTo>
                  <a:lnTo>
                    <a:pt x="67678" y="841679"/>
                  </a:lnTo>
                  <a:lnTo>
                    <a:pt x="59753" y="841679"/>
                  </a:lnTo>
                  <a:lnTo>
                    <a:pt x="45719" y="841679"/>
                  </a:lnTo>
                  <a:lnTo>
                    <a:pt x="37795" y="841679"/>
                  </a:lnTo>
                  <a:lnTo>
                    <a:pt x="29883" y="839520"/>
                  </a:lnTo>
                  <a:lnTo>
                    <a:pt x="23037" y="835558"/>
                  </a:lnTo>
                  <a:lnTo>
                    <a:pt x="15836" y="831595"/>
                  </a:lnTo>
                  <a:lnTo>
                    <a:pt x="10083" y="825842"/>
                  </a:lnTo>
                  <a:lnTo>
                    <a:pt x="6121" y="818997"/>
                  </a:lnTo>
                  <a:lnTo>
                    <a:pt x="2159" y="811796"/>
                  </a:lnTo>
                  <a:lnTo>
                    <a:pt x="0" y="803884"/>
                  </a:lnTo>
                  <a:lnTo>
                    <a:pt x="0" y="795959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4793576" y="2480220"/>
            <a:ext cx="118110" cy="616585"/>
            <a:chOff x="4793576" y="2480220"/>
            <a:chExt cx="118110" cy="616585"/>
          </a:xfrm>
        </p:grpSpPr>
        <p:sp>
          <p:nvSpPr>
            <p:cNvPr id="69" name="object 69"/>
            <p:cNvSpPr/>
            <p:nvPr/>
          </p:nvSpPr>
          <p:spPr>
            <a:xfrm>
              <a:off x="4799875" y="2486520"/>
              <a:ext cx="106045" cy="603885"/>
            </a:xfrm>
            <a:custGeom>
              <a:avLst/>
              <a:gdLst/>
              <a:ahLst/>
              <a:cxnLst/>
              <a:rect l="l" t="t" r="r" b="b"/>
              <a:pathLst>
                <a:path w="106045" h="603885">
                  <a:moveTo>
                    <a:pt x="46088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565924"/>
                  </a:lnTo>
                  <a:lnTo>
                    <a:pt x="2159" y="573836"/>
                  </a:lnTo>
                  <a:lnTo>
                    <a:pt x="6121" y="581037"/>
                  </a:lnTo>
                  <a:lnTo>
                    <a:pt x="10083" y="587883"/>
                  </a:lnTo>
                  <a:lnTo>
                    <a:pt x="15849" y="593636"/>
                  </a:lnTo>
                  <a:lnTo>
                    <a:pt x="23037" y="597598"/>
                  </a:lnTo>
                  <a:lnTo>
                    <a:pt x="29883" y="601560"/>
                  </a:lnTo>
                  <a:lnTo>
                    <a:pt x="37807" y="603719"/>
                  </a:lnTo>
                  <a:lnTo>
                    <a:pt x="67678" y="603719"/>
                  </a:lnTo>
                  <a:lnTo>
                    <a:pt x="99364" y="580682"/>
                  </a:lnTo>
                  <a:lnTo>
                    <a:pt x="103327" y="573836"/>
                  </a:lnTo>
                  <a:lnTo>
                    <a:pt x="105486" y="565924"/>
                  </a:lnTo>
                  <a:lnTo>
                    <a:pt x="105385" y="37795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49" y="10439"/>
                  </a:lnTo>
                  <a:lnTo>
                    <a:pt x="82448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66" y="355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99875" y="2486520"/>
              <a:ext cx="106045" cy="603885"/>
            </a:xfrm>
            <a:custGeom>
              <a:avLst/>
              <a:gdLst/>
              <a:ahLst/>
              <a:cxnLst/>
              <a:rect l="l" t="t" r="r" b="b"/>
              <a:pathLst>
                <a:path w="106045" h="603885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48" y="6476"/>
                  </a:lnTo>
                  <a:lnTo>
                    <a:pt x="89649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75"/>
                  </a:lnTo>
                  <a:lnTo>
                    <a:pt x="105486" y="557999"/>
                  </a:lnTo>
                  <a:lnTo>
                    <a:pt x="105486" y="565924"/>
                  </a:lnTo>
                  <a:lnTo>
                    <a:pt x="103327" y="573836"/>
                  </a:lnTo>
                  <a:lnTo>
                    <a:pt x="99364" y="580682"/>
                  </a:lnTo>
                  <a:lnTo>
                    <a:pt x="95402" y="587883"/>
                  </a:lnTo>
                  <a:lnTo>
                    <a:pt x="89649" y="593636"/>
                  </a:lnTo>
                  <a:lnTo>
                    <a:pt x="82804" y="597598"/>
                  </a:lnTo>
                  <a:lnTo>
                    <a:pt x="75603" y="601560"/>
                  </a:lnTo>
                  <a:lnTo>
                    <a:pt x="67678" y="603719"/>
                  </a:lnTo>
                  <a:lnTo>
                    <a:pt x="59766" y="603719"/>
                  </a:lnTo>
                  <a:lnTo>
                    <a:pt x="45720" y="603719"/>
                  </a:lnTo>
                  <a:lnTo>
                    <a:pt x="37807" y="603719"/>
                  </a:lnTo>
                  <a:lnTo>
                    <a:pt x="29883" y="601560"/>
                  </a:lnTo>
                  <a:lnTo>
                    <a:pt x="23037" y="597598"/>
                  </a:lnTo>
                  <a:lnTo>
                    <a:pt x="15849" y="593636"/>
                  </a:lnTo>
                  <a:lnTo>
                    <a:pt x="10083" y="587883"/>
                  </a:lnTo>
                  <a:lnTo>
                    <a:pt x="6121" y="581037"/>
                  </a:lnTo>
                  <a:lnTo>
                    <a:pt x="2159" y="573836"/>
                  </a:lnTo>
                  <a:lnTo>
                    <a:pt x="0" y="565924"/>
                  </a:lnTo>
                  <a:lnTo>
                    <a:pt x="0" y="557999"/>
                  </a:lnTo>
                  <a:lnTo>
                    <a:pt x="368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4967464" y="2599016"/>
            <a:ext cx="118110" cy="379095"/>
            <a:chOff x="4967464" y="2599016"/>
            <a:chExt cx="118110" cy="379095"/>
          </a:xfrm>
        </p:grpSpPr>
        <p:sp>
          <p:nvSpPr>
            <p:cNvPr id="72" name="object 72"/>
            <p:cNvSpPr/>
            <p:nvPr/>
          </p:nvSpPr>
          <p:spPr>
            <a:xfrm>
              <a:off x="4973764" y="2605316"/>
              <a:ext cx="106045" cy="366395"/>
            </a:xfrm>
            <a:custGeom>
              <a:avLst/>
              <a:gdLst/>
              <a:ahLst/>
              <a:cxnLst/>
              <a:rect l="l" t="t" r="r" b="b"/>
              <a:pathLst>
                <a:path w="106045" h="366394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328320"/>
                  </a:lnTo>
                  <a:lnTo>
                    <a:pt x="2159" y="336245"/>
                  </a:lnTo>
                  <a:lnTo>
                    <a:pt x="6121" y="343446"/>
                  </a:lnTo>
                  <a:lnTo>
                    <a:pt x="10071" y="350278"/>
                  </a:lnTo>
                  <a:lnTo>
                    <a:pt x="15836" y="356044"/>
                  </a:lnTo>
                  <a:lnTo>
                    <a:pt x="23037" y="360006"/>
                  </a:lnTo>
                  <a:lnTo>
                    <a:pt x="29870" y="363969"/>
                  </a:lnTo>
                  <a:lnTo>
                    <a:pt x="37795" y="366128"/>
                  </a:lnTo>
                  <a:lnTo>
                    <a:pt x="67678" y="366128"/>
                  </a:lnTo>
                  <a:lnTo>
                    <a:pt x="99352" y="343077"/>
                  </a:lnTo>
                  <a:lnTo>
                    <a:pt x="103314" y="336245"/>
                  </a:lnTo>
                  <a:lnTo>
                    <a:pt x="105473" y="328320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590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973764" y="2605316"/>
              <a:ext cx="106045" cy="366395"/>
            </a:xfrm>
            <a:custGeom>
              <a:avLst/>
              <a:gdLst/>
              <a:ahLst/>
              <a:cxnLst/>
              <a:rect l="l" t="t" r="r" b="b"/>
              <a:pathLst>
                <a:path w="106045" h="366394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590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320408"/>
                  </a:lnTo>
                  <a:lnTo>
                    <a:pt x="105473" y="328320"/>
                  </a:lnTo>
                  <a:lnTo>
                    <a:pt x="103314" y="336245"/>
                  </a:lnTo>
                  <a:lnTo>
                    <a:pt x="99352" y="343077"/>
                  </a:lnTo>
                  <a:lnTo>
                    <a:pt x="95389" y="350278"/>
                  </a:lnTo>
                  <a:lnTo>
                    <a:pt x="89636" y="356044"/>
                  </a:lnTo>
                  <a:lnTo>
                    <a:pt x="82791" y="360006"/>
                  </a:lnTo>
                  <a:lnTo>
                    <a:pt x="75590" y="363969"/>
                  </a:lnTo>
                  <a:lnTo>
                    <a:pt x="67678" y="366128"/>
                  </a:lnTo>
                  <a:lnTo>
                    <a:pt x="59753" y="366128"/>
                  </a:lnTo>
                  <a:lnTo>
                    <a:pt x="45720" y="366128"/>
                  </a:lnTo>
                  <a:lnTo>
                    <a:pt x="37795" y="366128"/>
                  </a:lnTo>
                  <a:lnTo>
                    <a:pt x="29870" y="363969"/>
                  </a:lnTo>
                  <a:lnTo>
                    <a:pt x="23037" y="360006"/>
                  </a:lnTo>
                  <a:lnTo>
                    <a:pt x="15836" y="356044"/>
                  </a:lnTo>
                  <a:lnTo>
                    <a:pt x="10071" y="350278"/>
                  </a:lnTo>
                  <a:lnTo>
                    <a:pt x="6121" y="343446"/>
                  </a:lnTo>
                  <a:lnTo>
                    <a:pt x="2159" y="336245"/>
                  </a:lnTo>
                  <a:lnTo>
                    <a:pt x="0" y="328320"/>
                  </a:lnTo>
                  <a:lnTo>
                    <a:pt x="0" y="320408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4" name="object 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40984" y="2672104"/>
            <a:ext cx="118073" cy="232551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5314860" y="2562656"/>
            <a:ext cx="118110" cy="452120"/>
            <a:chOff x="5314860" y="2562656"/>
            <a:chExt cx="118110" cy="452120"/>
          </a:xfrm>
        </p:grpSpPr>
        <p:sp>
          <p:nvSpPr>
            <p:cNvPr id="76" name="object 76"/>
            <p:cNvSpPr/>
            <p:nvPr/>
          </p:nvSpPr>
          <p:spPr>
            <a:xfrm>
              <a:off x="5321160" y="2568956"/>
              <a:ext cx="106045" cy="439420"/>
            </a:xfrm>
            <a:custGeom>
              <a:avLst/>
              <a:gdLst/>
              <a:ahLst/>
              <a:cxnLst/>
              <a:rect l="l" t="t" r="r" b="b"/>
              <a:pathLst>
                <a:path w="106045" h="439419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7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401408"/>
                  </a:lnTo>
                  <a:lnTo>
                    <a:pt x="2159" y="409321"/>
                  </a:lnTo>
                  <a:lnTo>
                    <a:pt x="6121" y="416521"/>
                  </a:lnTo>
                  <a:lnTo>
                    <a:pt x="10083" y="423367"/>
                  </a:lnTo>
                  <a:lnTo>
                    <a:pt x="15836" y="429120"/>
                  </a:lnTo>
                  <a:lnTo>
                    <a:pt x="23037" y="433082"/>
                  </a:lnTo>
                  <a:lnTo>
                    <a:pt x="29883" y="437045"/>
                  </a:lnTo>
                  <a:lnTo>
                    <a:pt x="37795" y="439204"/>
                  </a:lnTo>
                  <a:lnTo>
                    <a:pt x="67678" y="439204"/>
                  </a:lnTo>
                  <a:lnTo>
                    <a:pt x="99364" y="416166"/>
                  </a:lnTo>
                  <a:lnTo>
                    <a:pt x="103314" y="409321"/>
                  </a:lnTo>
                  <a:lnTo>
                    <a:pt x="105473" y="40140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321160" y="2568956"/>
              <a:ext cx="106045" cy="439420"/>
            </a:xfrm>
            <a:custGeom>
              <a:avLst/>
              <a:gdLst/>
              <a:ahLst/>
              <a:cxnLst/>
              <a:rect l="l" t="t" r="r" b="b"/>
              <a:pathLst>
                <a:path w="106045" h="439419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7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393484"/>
                  </a:lnTo>
                  <a:lnTo>
                    <a:pt x="105473" y="401408"/>
                  </a:lnTo>
                  <a:lnTo>
                    <a:pt x="103314" y="409321"/>
                  </a:lnTo>
                  <a:lnTo>
                    <a:pt x="99364" y="416166"/>
                  </a:lnTo>
                  <a:lnTo>
                    <a:pt x="95402" y="423367"/>
                  </a:lnTo>
                  <a:lnTo>
                    <a:pt x="89636" y="429120"/>
                  </a:lnTo>
                  <a:lnTo>
                    <a:pt x="82804" y="433082"/>
                  </a:lnTo>
                  <a:lnTo>
                    <a:pt x="75603" y="437045"/>
                  </a:lnTo>
                  <a:lnTo>
                    <a:pt x="67678" y="439204"/>
                  </a:lnTo>
                  <a:lnTo>
                    <a:pt x="59753" y="439204"/>
                  </a:lnTo>
                  <a:lnTo>
                    <a:pt x="45720" y="439204"/>
                  </a:lnTo>
                  <a:lnTo>
                    <a:pt x="37795" y="439204"/>
                  </a:lnTo>
                  <a:lnTo>
                    <a:pt x="29883" y="437045"/>
                  </a:lnTo>
                  <a:lnTo>
                    <a:pt x="23037" y="433082"/>
                  </a:lnTo>
                  <a:lnTo>
                    <a:pt x="15836" y="429120"/>
                  </a:lnTo>
                  <a:lnTo>
                    <a:pt x="10083" y="423367"/>
                  </a:lnTo>
                  <a:lnTo>
                    <a:pt x="6121" y="416521"/>
                  </a:lnTo>
                  <a:lnTo>
                    <a:pt x="2159" y="409321"/>
                  </a:lnTo>
                  <a:lnTo>
                    <a:pt x="0" y="401408"/>
                  </a:lnTo>
                  <a:lnTo>
                    <a:pt x="0" y="393484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5488380" y="2416136"/>
            <a:ext cx="118110" cy="744855"/>
            <a:chOff x="5488380" y="2416136"/>
            <a:chExt cx="118110" cy="744855"/>
          </a:xfrm>
        </p:grpSpPr>
        <p:sp>
          <p:nvSpPr>
            <p:cNvPr id="79" name="object 79"/>
            <p:cNvSpPr/>
            <p:nvPr/>
          </p:nvSpPr>
          <p:spPr>
            <a:xfrm>
              <a:off x="5494680" y="2422436"/>
              <a:ext cx="106045" cy="732155"/>
            </a:xfrm>
            <a:custGeom>
              <a:avLst/>
              <a:gdLst/>
              <a:ahLst/>
              <a:cxnLst/>
              <a:rect l="l" t="t" r="r" b="b"/>
              <a:pathLst>
                <a:path w="106045" h="732155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694080"/>
                  </a:lnTo>
                  <a:lnTo>
                    <a:pt x="2159" y="702005"/>
                  </a:lnTo>
                  <a:lnTo>
                    <a:pt x="6121" y="709206"/>
                  </a:lnTo>
                  <a:lnTo>
                    <a:pt x="10083" y="716038"/>
                  </a:lnTo>
                  <a:lnTo>
                    <a:pt x="15836" y="721804"/>
                  </a:lnTo>
                  <a:lnTo>
                    <a:pt x="23037" y="725766"/>
                  </a:lnTo>
                  <a:lnTo>
                    <a:pt x="29883" y="729729"/>
                  </a:lnTo>
                  <a:lnTo>
                    <a:pt x="37795" y="731888"/>
                  </a:lnTo>
                  <a:lnTo>
                    <a:pt x="67678" y="731888"/>
                  </a:lnTo>
                  <a:lnTo>
                    <a:pt x="99364" y="708837"/>
                  </a:lnTo>
                  <a:lnTo>
                    <a:pt x="103314" y="702005"/>
                  </a:lnTo>
                  <a:lnTo>
                    <a:pt x="105473" y="694080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494680" y="2422436"/>
              <a:ext cx="106045" cy="732155"/>
            </a:xfrm>
            <a:custGeom>
              <a:avLst/>
              <a:gdLst/>
              <a:ahLst/>
              <a:cxnLst/>
              <a:rect l="l" t="t" r="r" b="b"/>
              <a:pathLst>
                <a:path w="106045" h="732155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686168"/>
                  </a:lnTo>
                  <a:lnTo>
                    <a:pt x="105473" y="694080"/>
                  </a:lnTo>
                  <a:lnTo>
                    <a:pt x="103314" y="702005"/>
                  </a:lnTo>
                  <a:lnTo>
                    <a:pt x="99364" y="708837"/>
                  </a:lnTo>
                  <a:lnTo>
                    <a:pt x="95402" y="716038"/>
                  </a:lnTo>
                  <a:lnTo>
                    <a:pt x="89636" y="721804"/>
                  </a:lnTo>
                  <a:lnTo>
                    <a:pt x="82804" y="725766"/>
                  </a:lnTo>
                  <a:lnTo>
                    <a:pt x="75603" y="729729"/>
                  </a:lnTo>
                  <a:lnTo>
                    <a:pt x="67678" y="731888"/>
                  </a:lnTo>
                  <a:lnTo>
                    <a:pt x="59753" y="731888"/>
                  </a:lnTo>
                  <a:lnTo>
                    <a:pt x="45720" y="731888"/>
                  </a:lnTo>
                  <a:lnTo>
                    <a:pt x="37795" y="731888"/>
                  </a:lnTo>
                  <a:lnTo>
                    <a:pt x="29883" y="729729"/>
                  </a:lnTo>
                  <a:lnTo>
                    <a:pt x="23037" y="725766"/>
                  </a:lnTo>
                  <a:lnTo>
                    <a:pt x="15836" y="721804"/>
                  </a:lnTo>
                  <a:lnTo>
                    <a:pt x="10083" y="716038"/>
                  </a:lnTo>
                  <a:lnTo>
                    <a:pt x="6121" y="709206"/>
                  </a:lnTo>
                  <a:lnTo>
                    <a:pt x="2159" y="702005"/>
                  </a:lnTo>
                  <a:lnTo>
                    <a:pt x="0" y="694080"/>
                  </a:lnTo>
                  <a:lnTo>
                    <a:pt x="0" y="686168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5662256" y="2530982"/>
            <a:ext cx="118110" cy="516255"/>
            <a:chOff x="5662256" y="2530982"/>
            <a:chExt cx="118110" cy="516255"/>
          </a:xfrm>
        </p:grpSpPr>
        <p:sp>
          <p:nvSpPr>
            <p:cNvPr id="82" name="object 82"/>
            <p:cNvSpPr/>
            <p:nvPr/>
          </p:nvSpPr>
          <p:spPr>
            <a:xfrm>
              <a:off x="5668556" y="2537282"/>
              <a:ext cx="106045" cy="503555"/>
            </a:xfrm>
            <a:custGeom>
              <a:avLst/>
              <a:gdLst/>
              <a:ahLst/>
              <a:cxnLst/>
              <a:rect l="l" t="t" r="r" b="b"/>
              <a:pathLst>
                <a:path w="106045" h="503555">
                  <a:moveTo>
                    <a:pt x="46088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795"/>
                  </a:lnTo>
                  <a:lnTo>
                    <a:pt x="0" y="465480"/>
                  </a:lnTo>
                  <a:lnTo>
                    <a:pt x="2158" y="473392"/>
                  </a:lnTo>
                  <a:lnTo>
                    <a:pt x="6121" y="480593"/>
                  </a:lnTo>
                  <a:lnTo>
                    <a:pt x="10083" y="487438"/>
                  </a:lnTo>
                  <a:lnTo>
                    <a:pt x="15849" y="493191"/>
                  </a:lnTo>
                  <a:lnTo>
                    <a:pt x="23037" y="497154"/>
                  </a:lnTo>
                  <a:lnTo>
                    <a:pt x="29883" y="501116"/>
                  </a:lnTo>
                  <a:lnTo>
                    <a:pt x="37807" y="503275"/>
                  </a:lnTo>
                  <a:lnTo>
                    <a:pt x="67678" y="503275"/>
                  </a:lnTo>
                  <a:lnTo>
                    <a:pt x="99364" y="480237"/>
                  </a:lnTo>
                  <a:lnTo>
                    <a:pt x="103327" y="473392"/>
                  </a:lnTo>
                  <a:lnTo>
                    <a:pt x="105486" y="465480"/>
                  </a:lnTo>
                  <a:lnTo>
                    <a:pt x="105385" y="37795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192"/>
                  </a:lnTo>
                  <a:lnTo>
                    <a:pt x="89649" y="10439"/>
                  </a:lnTo>
                  <a:lnTo>
                    <a:pt x="82448" y="6476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66" y="355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68556" y="2537282"/>
              <a:ext cx="106045" cy="503555"/>
            </a:xfrm>
            <a:custGeom>
              <a:avLst/>
              <a:gdLst/>
              <a:ahLst/>
              <a:cxnLst/>
              <a:rect l="l" t="t" r="r" b="b"/>
              <a:pathLst>
                <a:path w="106045" h="503555">
                  <a:moveTo>
                    <a:pt x="368" y="45720"/>
                  </a:moveTo>
                  <a:lnTo>
                    <a:pt x="368" y="37795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48" y="6476"/>
                  </a:lnTo>
                  <a:lnTo>
                    <a:pt x="89649" y="10439"/>
                  </a:lnTo>
                  <a:lnTo>
                    <a:pt x="95402" y="16192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75"/>
                  </a:lnTo>
                  <a:lnTo>
                    <a:pt x="105486" y="457555"/>
                  </a:lnTo>
                  <a:lnTo>
                    <a:pt x="105486" y="465480"/>
                  </a:lnTo>
                  <a:lnTo>
                    <a:pt x="103327" y="473392"/>
                  </a:lnTo>
                  <a:lnTo>
                    <a:pt x="99364" y="480237"/>
                  </a:lnTo>
                  <a:lnTo>
                    <a:pt x="95402" y="487438"/>
                  </a:lnTo>
                  <a:lnTo>
                    <a:pt x="89649" y="493191"/>
                  </a:lnTo>
                  <a:lnTo>
                    <a:pt x="82803" y="497154"/>
                  </a:lnTo>
                  <a:lnTo>
                    <a:pt x="75603" y="501116"/>
                  </a:lnTo>
                  <a:lnTo>
                    <a:pt x="67678" y="503275"/>
                  </a:lnTo>
                  <a:lnTo>
                    <a:pt x="59766" y="503275"/>
                  </a:lnTo>
                  <a:lnTo>
                    <a:pt x="45719" y="503275"/>
                  </a:lnTo>
                  <a:lnTo>
                    <a:pt x="37807" y="503275"/>
                  </a:lnTo>
                  <a:lnTo>
                    <a:pt x="29883" y="501116"/>
                  </a:lnTo>
                  <a:lnTo>
                    <a:pt x="23037" y="497154"/>
                  </a:lnTo>
                  <a:lnTo>
                    <a:pt x="15849" y="493191"/>
                  </a:lnTo>
                  <a:lnTo>
                    <a:pt x="10083" y="487438"/>
                  </a:lnTo>
                  <a:lnTo>
                    <a:pt x="6121" y="480593"/>
                  </a:lnTo>
                  <a:lnTo>
                    <a:pt x="2158" y="473392"/>
                  </a:lnTo>
                  <a:lnTo>
                    <a:pt x="0" y="465480"/>
                  </a:lnTo>
                  <a:lnTo>
                    <a:pt x="0" y="457555"/>
                  </a:lnTo>
                  <a:lnTo>
                    <a:pt x="368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5836144" y="2654096"/>
            <a:ext cx="118110" cy="269240"/>
            <a:chOff x="5836144" y="2654096"/>
            <a:chExt cx="118110" cy="269240"/>
          </a:xfrm>
        </p:grpSpPr>
        <p:sp>
          <p:nvSpPr>
            <p:cNvPr id="85" name="object 85"/>
            <p:cNvSpPr/>
            <p:nvPr/>
          </p:nvSpPr>
          <p:spPr>
            <a:xfrm>
              <a:off x="5842444" y="2660396"/>
              <a:ext cx="106045" cy="256540"/>
            </a:xfrm>
            <a:custGeom>
              <a:avLst/>
              <a:gdLst/>
              <a:ahLst/>
              <a:cxnLst/>
              <a:rect l="l" t="t" r="r" b="b"/>
              <a:pathLst>
                <a:path w="106045" h="256539">
                  <a:moveTo>
                    <a:pt x="46075" y="0"/>
                  </a:moveTo>
                  <a:lnTo>
                    <a:pt x="38150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192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355" y="45719"/>
                  </a:lnTo>
                  <a:lnTo>
                    <a:pt x="0" y="210604"/>
                  </a:lnTo>
                  <a:lnTo>
                    <a:pt x="0" y="218528"/>
                  </a:lnTo>
                  <a:lnTo>
                    <a:pt x="2158" y="226440"/>
                  </a:lnTo>
                  <a:lnTo>
                    <a:pt x="6121" y="233641"/>
                  </a:lnTo>
                  <a:lnTo>
                    <a:pt x="10071" y="240487"/>
                  </a:lnTo>
                  <a:lnTo>
                    <a:pt x="15836" y="246240"/>
                  </a:lnTo>
                  <a:lnTo>
                    <a:pt x="23037" y="250202"/>
                  </a:lnTo>
                  <a:lnTo>
                    <a:pt x="29870" y="254165"/>
                  </a:lnTo>
                  <a:lnTo>
                    <a:pt x="37795" y="256324"/>
                  </a:lnTo>
                  <a:lnTo>
                    <a:pt x="67678" y="256324"/>
                  </a:lnTo>
                  <a:lnTo>
                    <a:pt x="99352" y="233286"/>
                  </a:lnTo>
                  <a:lnTo>
                    <a:pt x="103314" y="226440"/>
                  </a:lnTo>
                  <a:lnTo>
                    <a:pt x="105473" y="21852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590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842444" y="2660396"/>
              <a:ext cx="106045" cy="256540"/>
            </a:xfrm>
            <a:custGeom>
              <a:avLst/>
              <a:gdLst/>
              <a:ahLst/>
              <a:cxnLst/>
              <a:rect l="l" t="t" r="r" b="b"/>
              <a:pathLst>
                <a:path w="106045" h="256539">
                  <a:moveTo>
                    <a:pt x="355" y="45719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192" y="10083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590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389" y="16205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210604"/>
                  </a:lnTo>
                  <a:lnTo>
                    <a:pt x="105473" y="218528"/>
                  </a:lnTo>
                  <a:lnTo>
                    <a:pt x="103314" y="226440"/>
                  </a:lnTo>
                  <a:lnTo>
                    <a:pt x="99352" y="233286"/>
                  </a:lnTo>
                  <a:lnTo>
                    <a:pt x="95389" y="240487"/>
                  </a:lnTo>
                  <a:lnTo>
                    <a:pt x="89636" y="246240"/>
                  </a:lnTo>
                  <a:lnTo>
                    <a:pt x="82791" y="250202"/>
                  </a:lnTo>
                  <a:lnTo>
                    <a:pt x="75590" y="254165"/>
                  </a:lnTo>
                  <a:lnTo>
                    <a:pt x="67678" y="256324"/>
                  </a:lnTo>
                  <a:lnTo>
                    <a:pt x="59753" y="256324"/>
                  </a:lnTo>
                  <a:lnTo>
                    <a:pt x="45719" y="256324"/>
                  </a:lnTo>
                  <a:lnTo>
                    <a:pt x="37795" y="256324"/>
                  </a:lnTo>
                  <a:lnTo>
                    <a:pt x="29870" y="254165"/>
                  </a:lnTo>
                  <a:lnTo>
                    <a:pt x="23037" y="250202"/>
                  </a:lnTo>
                  <a:lnTo>
                    <a:pt x="15836" y="246240"/>
                  </a:lnTo>
                  <a:lnTo>
                    <a:pt x="10071" y="240487"/>
                  </a:lnTo>
                  <a:lnTo>
                    <a:pt x="6121" y="233641"/>
                  </a:lnTo>
                  <a:lnTo>
                    <a:pt x="2158" y="226440"/>
                  </a:lnTo>
                  <a:lnTo>
                    <a:pt x="0" y="218528"/>
                  </a:lnTo>
                  <a:lnTo>
                    <a:pt x="0" y="210604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9664" y="2708820"/>
            <a:ext cx="118073" cy="159119"/>
          </a:xfrm>
          <a:prstGeom prst="rect">
            <a:avLst/>
          </a:prstGeom>
        </p:spPr>
      </p:pic>
      <p:grpSp>
        <p:nvGrpSpPr>
          <p:cNvPr id="88" name="object 88"/>
          <p:cNvGrpSpPr/>
          <p:nvPr/>
        </p:nvGrpSpPr>
        <p:grpSpPr>
          <a:xfrm>
            <a:off x="6183540" y="2608376"/>
            <a:ext cx="118110" cy="360680"/>
            <a:chOff x="6183540" y="2608376"/>
            <a:chExt cx="118110" cy="360680"/>
          </a:xfrm>
        </p:grpSpPr>
        <p:sp>
          <p:nvSpPr>
            <p:cNvPr id="89" name="object 89"/>
            <p:cNvSpPr/>
            <p:nvPr/>
          </p:nvSpPr>
          <p:spPr>
            <a:xfrm>
              <a:off x="6189840" y="2614675"/>
              <a:ext cx="106045" cy="347980"/>
            </a:xfrm>
            <a:custGeom>
              <a:avLst/>
              <a:gdLst/>
              <a:ahLst/>
              <a:cxnLst/>
              <a:rect l="l" t="t" r="r" b="b"/>
              <a:pathLst>
                <a:path w="106045" h="347980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807"/>
                  </a:lnTo>
                  <a:lnTo>
                    <a:pt x="0" y="309968"/>
                  </a:lnTo>
                  <a:lnTo>
                    <a:pt x="2159" y="317881"/>
                  </a:lnTo>
                  <a:lnTo>
                    <a:pt x="6121" y="325081"/>
                  </a:lnTo>
                  <a:lnTo>
                    <a:pt x="10083" y="331927"/>
                  </a:lnTo>
                  <a:lnTo>
                    <a:pt x="15836" y="337680"/>
                  </a:lnTo>
                  <a:lnTo>
                    <a:pt x="23037" y="341642"/>
                  </a:lnTo>
                  <a:lnTo>
                    <a:pt x="29883" y="345605"/>
                  </a:lnTo>
                  <a:lnTo>
                    <a:pt x="37795" y="347764"/>
                  </a:lnTo>
                  <a:lnTo>
                    <a:pt x="67678" y="347764"/>
                  </a:lnTo>
                  <a:lnTo>
                    <a:pt x="99364" y="324726"/>
                  </a:lnTo>
                  <a:lnTo>
                    <a:pt x="103314" y="317881"/>
                  </a:lnTo>
                  <a:lnTo>
                    <a:pt x="105473" y="309968"/>
                  </a:lnTo>
                  <a:lnTo>
                    <a:pt x="105376" y="37807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53" y="368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189840" y="2614675"/>
              <a:ext cx="106045" cy="347980"/>
            </a:xfrm>
            <a:custGeom>
              <a:avLst/>
              <a:gdLst/>
              <a:ahLst/>
              <a:cxnLst/>
              <a:rect l="l" t="t" r="r" b="b"/>
              <a:pathLst>
                <a:path w="106045" h="347980">
                  <a:moveTo>
                    <a:pt x="355" y="45720"/>
                  </a:moveTo>
                  <a:lnTo>
                    <a:pt x="355" y="37807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35" y="6489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88"/>
                  </a:lnTo>
                  <a:lnTo>
                    <a:pt x="105473" y="302044"/>
                  </a:lnTo>
                  <a:lnTo>
                    <a:pt x="105473" y="309968"/>
                  </a:lnTo>
                  <a:lnTo>
                    <a:pt x="103314" y="317881"/>
                  </a:lnTo>
                  <a:lnTo>
                    <a:pt x="99364" y="324726"/>
                  </a:lnTo>
                  <a:lnTo>
                    <a:pt x="95402" y="331927"/>
                  </a:lnTo>
                  <a:lnTo>
                    <a:pt x="89636" y="337680"/>
                  </a:lnTo>
                  <a:lnTo>
                    <a:pt x="82803" y="341642"/>
                  </a:lnTo>
                  <a:lnTo>
                    <a:pt x="75603" y="345605"/>
                  </a:lnTo>
                  <a:lnTo>
                    <a:pt x="67678" y="347764"/>
                  </a:lnTo>
                  <a:lnTo>
                    <a:pt x="59753" y="347764"/>
                  </a:lnTo>
                  <a:lnTo>
                    <a:pt x="45719" y="347764"/>
                  </a:lnTo>
                  <a:lnTo>
                    <a:pt x="37795" y="347764"/>
                  </a:lnTo>
                  <a:lnTo>
                    <a:pt x="29883" y="345605"/>
                  </a:lnTo>
                  <a:lnTo>
                    <a:pt x="23037" y="341642"/>
                  </a:lnTo>
                  <a:lnTo>
                    <a:pt x="15836" y="337680"/>
                  </a:lnTo>
                  <a:lnTo>
                    <a:pt x="10083" y="331927"/>
                  </a:lnTo>
                  <a:lnTo>
                    <a:pt x="6121" y="325081"/>
                  </a:lnTo>
                  <a:lnTo>
                    <a:pt x="2159" y="317881"/>
                  </a:lnTo>
                  <a:lnTo>
                    <a:pt x="0" y="309968"/>
                  </a:lnTo>
                  <a:lnTo>
                    <a:pt x="0" y="302044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6357060" y="2498940"/>
            <a:ext cx="118110" cy="580390"/>
            <a:chOff x="6357060" y="2498940"/>
            <a:chExt cx="118110" cy="580390"/>
          </a:xfrm>
        </p:grpSpPr>
        <p:sp>
          <p:nvSpPr>
            <p:cNvPr id="92" name="object 92"/>
            <p:cNvSpPr/>
            <p:nvPr/>
          </p:nvSpPr>
          <p:spPr>
            <a:xfrm>
              <a:off x="6363360" y="2505240"/>
              <a:ext cx="106045" cy="567690"/>
            </a:xfrm>
            <a:custGeom>
              <a:avLst/>
              <a:gdLst/>
              <a:ahLst/>
              <a:cxnLst/>
              <a:rect l="l" t="t" r="r" b="b"/>
              <a:pathLst>
                <a:path w="106045" h="567689">
                  <a:moveTo>
                    <a:pt x="46075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36"/>
                  </a:lnTo>
                  <a:lnTo>
                    <a:pt x="6476" y="23037"/>
                  </a:lnTo>
                  <a:lnTo>
                    <a:pt x="2514" y="29883"/>
                  </a:lnTo>
                  <a:lnTo>
                    <a:pt x="355" y="37795"/>
                  </a:lnTo>
                  <a:lnTo>
                    <a:pt x="0" y="529564"/>
                  </a:lnTo>
                  <a:lnTo>
                    <a:pt x="2158" y="537476"/>
                  </a:lnTo>
                  <a:lnTo>
                    <a:pt x="6121" y="544677"/>
                  </a:lnTo>
                  <a:lnTo>
                    <a:pt x="10083" y="551522"/>
                  </a:lnTo>
                  <a:lnTo>
                    <a:pt x="15836" y="557276"/>
                  </a:lnTo>
                  <a:lnTo>
                    <a:pt x="23037" y="561238"/>
                  </a:lnTo>
                  <a:lnTo>
                    <a:pt x="29883" y="565200"/>
                  </a:lnTo>
                  <a:lnTo>
                    <a:pt x="37795" y="567359"/>
                  </a:lnTo>
                  <a:lnTo>
                    <a:pt x="67678" y="567359"/>
                  </a:lnTo>
                  <a:lnTo>
                    <a:pt x="99364" y="544322"/>
                  </a:lnTo>
                  <a:lnTo>
                    <a:pt x="103314" y="537476"/>
                  </a:lnTo>
                  <a:lnTo>
                    <a:pt x="105473" y="529564"/>
                  </a:lnTo>
                  <a:lnTo>
                    <a:pt x="105373" y="37795"/>
                  </a:lnTo>
                  <a:lnTo>
                    <a:pt x="103314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36" y="10439"/>
                  </a:lnTo>
                  <a:lnTo>
                    <a:pt x="82435" y="6477"/>
                  </a:lnTo>
                  <a:lnTo>
                    <a:pt x="75603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63360" y="2505240"/>
              <a:ext cx="106045" cy="567690"/>
            </a:xfrm>
            <a:custGeom>
              <a:avLst/>
              <a:gdLst/>
              <a:ahLst/>
              <a:cxnLst/>
              <a:rect l="l" t="t" r="r" b="b"/>
              <a:pathLst>
                <a:path w="106045" h="567689">
                  <a:moveTo>
                    <a:pt x="355" y="45720"/>
                  </a:moveTo>
                  <a:lnTo>
                    <a:pt x="355" y="37795"/>
                  </a:lnTo>
                  <a:lnTo>
                    <a:pt x="2514" y="29883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603" y="2514"/>
                  </a:lnTo>
                  <a:lnTo>
                    <a:pt x="82435" y="6477"/>
                  </a:lnTo>
                  <a:lnTo>
                    <a:pt x="89636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14" y="30238"/>
                  </a:lnTo>
                  <a:lnTo>
                    <a:pt x="105473" y="38163"/>
                  </a:lnTo>
                  <a:lnTo>
                    <a:pt x="105473" y="46075"/>
                  </a:lnTo>
                  <a:lnTo>
                    <a:pt x="105473" y="521639"/>
                  </a:lnTo>
                  <a:lnTo>
                    <a:pt x="105473" y="529564"/>
                  </a:lnTo>
                  <a:lnTo>
                    <a:pt x="103314" y="537476"/>
                  </a:lnTo>
                  <a:lnTo>
                    <a:pt x="99364" y="544322"/>
                  </a:lnTo>
                  <a:lnTo>
                    <a:pt x="95402" y="551522"/>
                  </a:lnTo>
                  <a:lnTo>
                    <a:pt x="89636" y="557276"/>
                  </a:lnTo>
                  <a:lnTo>
                    <a:pt x="82803" y="561238"/>
                  </a:lnTo>
                  <a:lnTo>
                    <a:pt x="75603" y="565200"/>
                  </a:lnTo>
                  <a:lnTo>
                    <a:pt x="67678" y="567359"/>
                  </a:lnTo>
                  <a:lnTo>
                    <a:pt x="59753" y="567359"/>
                  </a:lnTo>
                  <a:lnTo>
                    <a:pt x="45719" y="567359"/>
                  </a:lnTo>
                  <a:lnTo>
                    <a:pt x="37795" y="567359"/>
                  </a:lnTo>
                  <a:lnTo>
                    <a:pt x="29883" y="565200"/>
                  </a:lnTo>
                  <a:lnTo>
                    <a:pt x="23037" y="561238"/>
                  </a:lnTo>
                  <a:lnTo>
                    <a:pt x="15836" y="557276"/>
                  </a:lnTo>
                  <a:lnTo>
                    <a:pt x="10083" y="551522"/>
                  </a:lnTo>
                  <a:lnTo>
                    <a:pt x="6121" y="544677"/>
                  </a:lnTo>
                  <a:lnTo>
                    <a:pt x="2158" y="537476"/>
                  </a:lnTo>
                  <a:lnTo>
                    <a:pt x="0" y="529564"/>
                  </a:lnTo>
                  <a:lnTo>
                    <a:pt x="0" y="521639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6530936" y="2334056"/>
            <a:ext cx="118110" cy="909319"/>
            <a:chOff x="6530936" y="2334056"/>
            <a:chExt cx="118110" cy="909319"/>
          </a:xfrm>
        </p:grpSpPr>
        <p:sp>
          <p:nvSpPr>
            <p:cNvPr id="95" name="object 95"/>
            <p:cNvSpPr/>
            <p:nvPr/>
          </p:nvSpPr>
          <p:spPr>
            <a:xfrm>
              <a:off x="6537236" y="2340356"/>
              <a:ext cx="106045" cy="896619"/>
            </a:xfrm>
            <a:custGeom>
              <a:avLst/>
              <a:gdLst/>
              <a:ahLst/>
              <a:cxnLst/>
              <a:rect l="l" t="t" r="r" b="b"/>
              <a:pathLst>
                <a:path w="106045" h="896619">
                  <a:moveTo>
                    <a:pt x="46088" y="0"/>
                  </a:moveTo>
                  <a:lnTo>
                    <a:pt x="38163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205" y="10083"/>
                  </a:lnTo>
                  <a:lnTo>
                    <a:pt x="10439" y="15849"/>
                  </a:lnTo>
                  <a:lnTo>
                    <a:pt x="6489" y="23037"/>
                  </a:lnTo>
                  <a:lnTo>
                    <a:pt x="2527" y="29883"/>
                  </a:lnTo>
                  <a:lnTo>
                    <a:pt x="368" y="37807"/>
                  </a:lnTo>
                  <a:lnTo>
                    <a:pt x="0" y="858608"/>
                  </a:lnTo>
                  <a:lnTo>
                    <a:pt x="2158" y="866521"/>
                  </a:lnTo>
                  <a:lnTo>
                    <a:pt x="6121" y="873721"/>
                  </a:lnTo>
                  <a:lnTo>
                    <a:pt x="10083" y="880567"/>
                  </a:lnTo>
                  <a:lnTo>
                    <a:pt x="15849" y="886320"/>
                  </a:lnTo>
                  <a:lnTo>
                    <a:pt x="23037" y="890282"/>
                  </a:lnTo>
                  <a:lnTo>
                    <a:pt x="29883" y="894245"/>
                  </a:lnTo>
                  <a:lnTo>
                    <a:pt x="37807" y="896404"/>
                  </a:lnTo>
                  <a:lnTo>
                    <a:pt x="67678" y="896404"/>
                  </a:lnTo>
                  <a:lnTo>
                    <a:pt x="99364" y="873366"/>
                  </a:lnTo>
                  <a:lnTo>
                    <a:pt x="103327" y="866521"/>
                  </a:lnTo>
                  <a:lnTo>
                    <a:pt x="105486" y="858608"/>
                  </a:lnTo>
                  <a:lnTo>
                    <a:pt x="105389" y="37807"/>
                  </a:lnTo>
                  <a:lnTo>
                    <a:pt x="103327" y="30238"/>
                  </a:lnTo>
                  <a:lnTo>
                    <a:pt x="99364" y="23037"/>
                  </a:lnTo>
                  <a:lnTo>
                    <a:pt x="95402" y="16205"/>
                  </a:lnTo>
                  <a:lnTo>
                    <a:pt x="89649" y="10439"/>
                  </a:lnTo>
                  <a:lnTo>
                    <a:pt x="82448" y="6489"/>
                  </a:lnTo>
                  <a:lnTo>
                    <a:pt x="75603" y="2527"/>
                  </a:lnTo>
                  <a:lnTo>
                    <a:pt x="67678" y="368"/>
                  </a:lnTo>
                  <a:lnTo>
                    <a:pt x="59766" y="368"/>
                  </a:lnTo>
                  <a:lnTo>
                    <a:pt x="4608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537236" y="2340356"/>
              <a:ext cx="106045" cy="896619"/>
            </a:xfrm>
            <a:custGeom>
              <a:avLst/>
              <a:gdLst/>
              <a:ahLst/>
              <a:cxnLst/>
              <a:rect l="l" t="t" r="r" b="b"/>
              <a:pathLst>
                <a:path w="106045" h="896619">
                  <a:moveTo>
                    <a:pt x="368" y="45720"/>
                  </a:moveTo>
                  <a:lnTo>
                    <a:pt x="368" y="37807"/>
                  </a:lnTo>
                  <a:lnTo>
                    <a:pt x="2527" y="29883"/>
                  </a:lnTo>
                  <a:lnTo>
                    <a:pt x="6489" y="23037"/>
                  </a:lnTo>
                  <a:lnTo>
                    <a:pt x="10439" y="15849"/>
                  </a:lnTo>
                  <a:lnTo>
                    <a:pt x="16205" y="10083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63" y="0"/>
                  </a:lnTo>
                  <a:lnTo>
                    <a:pt x="46088" y="0"/>
                  </a:lnTo>
                  <a:lnTo>
                    <a:pt x="59766" y="368"/>
                  </a:lnTo>
                  <a:lnTo>
                    <a:pt x="67678" y="368"/>
                  </a:lnTo>
                  <a:lnTo>
                    <a:pt x="75603" y="2527"/>
                  </a:lnTo>
                  <a:lnTo>
                    <a:pt x="82448" y="6489"/>
                  </a:lnTo>
                  <a:lnTo>
                    <a:pt x="89649" y="10439"/>
                  </a:lnTo>
                  <a:lnTo>
                    <a:pt x="95402" y="16205"/>
                  </a:lnTo>
                  <a:lnTo>
                    <a:pt x="99364" y="23037"/>
                  </a:lnTo>
                  <a:lnTo>
                    <a:pt x="103327" y="30238"/>
                  </a:lnTo>
                  <a:lnTo>
                    <a:pt x="105486" y="38163"/>
                  </a:lnTo>
                  <a:lnTo>
                    <a:pt x="105486" y="46088"/>
                  </a:lnTo>
                  <a:lnTo>
                    <a:pt x="105486" y="850684"/>
                  </a:lnTo>
                  <a:lnTo>
                    <a:pt x="105486" y="858608"/>
                  </a:lnTo>
                  <a:lnTo>
                    <a:pt x="103327" y="866521"/>
                  </a:lnTo>
                  <a:lnTo>
                    <a:pt x="99364" y="873366"/>
                  </a:lnTo>
                  <a:lnTo>
                    <a:pt x="95402" y="880567"/>
                  </a:lnTo>
                  <a:lnTo>
                    <a:pt x="89649" y="886320"/>
                  </a:lnTo>
                  <a:lnTo>
                    <a:pt x="82803" y="890282"/>
                  </a:lnTo>
                  <a:lnTo>
                    <a:pt x="75603" y="894245"/>
                  </a:lnTo>
                  <a:lnTo>
                    <a:pt x="67678" y="896404"/>
                  </a:lnTo>
                  <a:lnTo>
                    <a:pt x="59766" y="896404"/>
                  </a:lnTo>
                  <a:lnTo>
                    <a:pt x="45719" y="896404"/>
                  </a:lnTo>
                  <a:lnTo>
                    <a:pt x="37807" y="896404"/>
                  </a:lnTo>
                  <a:lnTo>
                    <a:pt x="29883" y="894245"/>
                  </a:lnTo>
                  <a:lnTo>
                    <a:pt x="23037" y="890282"/>
                  </a:lnTo>
                  <a:lnTo>
                    <a:pt x="15849" y="886320"/>
                  </a:lnTo>
                  <a:lnTo>
                    <a:pt x="10083" y="880567"/>
                  </a:lnTo>
                  <a:lnTo>
                    <a:pt x="6121" y="873721"/>
                  </a:lnTo>
                  <a:lnTo>
                    <a:pt x="2158" y="866521"/>
                  </a:lnTo>
                  <a:lnTo>
                    <a:pt x="0" y="858608"/>
                  </a:lnTo>
                  <a:lnTo>
                    <a:pt x="0" y="850684"/>
                  </a:lnTo>
                  <a:lnTo>
                    <a:pt x="368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6704824" y="2443504"/>
            <a:ext cx="118110" cy="690245"/>
            <a:chOff x="6704824" y="2443504"/>
            <a:chExt cx="118110" cy="690245"/>
          </a:xfrm>
        </p:grpSpPr>
        <p:sp>
          <p:nvSpPr>
            <p:cNvPr id="98" name="object 98"/>
            <p:cNvSpPr/>
            <p:nvPr/>
          </p:nvSpPr>
          <p:spPr>
            <a:xfrm>
              <a:off x="6711124" y="2449804"/>
              <a:ext cx="106045" cy="677545"/>
            </a:xfrm>
            <a:custGeom>
              <a:avLst/>
              <a:gdLst/>
              <a:ahLst/>
              <a:cxnLst/>
              <a:rect l="l" t="t" r="r" b="b"/>
              <a:pathLst>
                <a:path w="106045" h="677544">
                  <a:moveTo>
                    <a:pt x="46075" y="0"/>
                  </a:moveTo>
                  <a:lnTo>
                    <a:pt x="38150" y="0"/>
                  </a:lnTo>
                  <a:lnTo>
                    <a:pt x="30238" y="2158"/>
                  </a:lnTo>
                  <a:lnTo>
                    <a:pt x="23037" y="6121"/>
                  </a:lnTo>
                  <a:lnTo>
                    <a:pt x="16192" y="10071"/>
                  </a:lnTo>
                  <a:lnTo>
                    <a:pt x="10439" y="15836"/>
                  </a:lnTo>
                  <a:lnTo>
                    <a:pt x="6477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639356"/>
                  </a:lnTo>
                  <a:lnTo>
                    <a:pt x="2159" y="647280"/>
                  </a:lnTo>
                  <a:lnTo>
                    <a:pt x="6121" y="654469"/>
                  </a:lnTo>
                  <a:lnTo>
                    <a:pt x="10071" y="661314"/>
                  </a:lnTo>
                  <a:lnTo>
                    <a:pt x="15836" y="667080"/>
                  </a:lnTo>
                  <a:lnTo>
                    <a:pt x="23037" y="671029"/>
                  </a:lnTo>
                  <a:lnTo>
                    <a:pt x="29870" y="674992"/>
                  </a:lnTo>
                  <a:lnTo>
                    <a:pt x="37795" y="677151"/>
                  </a:lnTo>
                  <a:lnTo>
                    <a:pt x="67678" y="677151"/>
                  </a:lnTo>
                  <a:lnTo>
                    <a:pt x="99352" y="654113"/>
                  </a:lnTo>
                  <a:lnTo>
                    <a:pt x="103314" y="647280"/>
                  </a:lnTo>
                  <a:lnTo>
                    <a:pt x="105473" y="639356"/>
                  </a:lnTo>
                  <a:lnTo>
                    <a:pt x="105376" y="37795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192"/>
                  </a:lnTo>
                  <a:lnTo>
                    <a:pt x="89636" y="10439"/>
                  </a:lnTo>
                  <a:lnTo>
                    <a:pt x="82435" y="6476"/>
                  </a:lnTo>
                  <a:lnTo>
                    <a:pt x="75590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711124" y="2449804"/>
              <a:ext cx="106045" cy="677545"/>
            </a:xfrm>
            <a:custGeom>
              <a:avLst/>
              <a:gdLst/>
              <a:ahLst/>
              <a:cxnLst/>
              <a:rect l="l" t="t" r="r" b="b"/>
              <a:pathLst>
                <a:path w="106045" h="677544">
                  <a:moveTo>
                    <a:pt x="355" y="45719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7" y="23037"/>
                  </a:lnTo>
                  <a:lnTo>
                    <a:pt x="10439" y="15836"/>
                  </a:lnTo>
                  <a:lnTo>
                    <a:pt x="16192" y="10071"/>
                  </a:lnTo>
                  <a:lnTo>
                    <a:pt x="23037" y="6121"/>
                  </a:lnTo>
                  <a:lnTo>
                    <a:pt x="30238" y="2158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590" y="2514"/>
                  </a:lnTo>
                  <a:lnTo>
                    <a:pt x="82435" y="6476"/>
                  </a:lnTo>
                  <a:lnTo>
                    <a:pt x="89636" y="10439"/>
                  </a:lnTo>
                  <a:lnTo>
                    <a:pt x="95389" y="16192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50"/>
                  </a:lnTo>
                  <a:lnTo>
                    <a:pt x="105473" y="46075"/>
                  </a:lnTo>
                  <a:lnTo>
                    <a:pt x="105473" y="631431"/>
                  </a:lnTo>
                  <a:lnTo>
                    <a:pt x="105473" y="639356"/>
                  </a:lnTo>
                  <a:lnTo>
                    <a:pt x="103314" y="647280"/>
                  </a:lnTo>
                  <a:lnTo>
                    <a:pt x="99352" y="654113"/>
                  </a:lnTo>
                  <a:lnTo>
                    <a:pt x="95389" y="661314"/>
                  </a:lnTo>
                  <a:lnTo>
                    <a:pt x="89636" y="667080"/>
                  </a:lnTo>
                  <a:lnTo>
                    <a:pt x="82791" y="671029"/>
                  </a:lnTo>
                  <a:lnTo>
                    <a:pt x="75590" y="674992"/>
                  </a:lnTo>
                  <a:lnTo>
                    <a:pt x="67678" y="677151"/>
                  </a:lnTo>
                  <a:lnTo>
                    <a:pt x="59753" y="677151"/>
                  </a:lnTo>
                  <a:lnTo>
                    <a:pt x="45720" y="677151"/>
                  </a:lnTo>
                  <a:lnTo>
                    <a:pt x="37795" y="677151"/>
                  </a:lnTo>
                  <a:lnTo>
                    <a:pt x="29870" y="674992"/>
                  </a:lnTo>
                  <a:lnTo>
                    <a:pt x="23037" y="671029"/>
                  </a:lnTo>
                  <a:lnTo>
                    <a:pt x="15836" y="667080"/>
                  </a:lnTo>
                  <a:lnTo>
                    <a:pt x="10071" y="661314"/>
                  </a:lnTo>
                  <a:lnTo>
                    <a:pt x="6121" y="654469"/>
                  </a:lnTo>
                  <a:lnTo>
                    <a:pt x="2159" y="647280"/>
                  </a:lnTo>
                  <a:lnTo>
                    <a:pt x="0" y="639356"/>
                  </a:lnTo>
                  <a:lnTo>
                    <a:pt x="0" y="631431"/>
                  </a:lnTo>
                  <a:lnTo>
                    <a:pt x="355" y="4571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6878344" y="2580664"/>
            <a:ext cx="118110" cy="415925"/>
            <a:chOff x="6878344" y="2580664"/>
            <a:chExt cx="118110" cy="415925"/>
          </a:xfrm>
        </p:grpSpPr>
        <p:sp>
          <p:nvSpPr>
            <p:cNvPr id="101" name="object 101"/>
            <p:cNvSpPr/>
            <p:nvPr/>
          </p:nvSpPr>
          <p:spPr>
            <a:xfrm>
              <a:off x="6884644" y="2586964"/>
              <a:ext cx="106045" cy="403225"/>
            </a:xfrm>
            <a:custGeom>
              <a:avLst/>
              <a:gdLst/>
              <a:ahLst/>
              <a:cxnLst/>
              <a:rect l="l" t="t" r="r" b="b"/>
              <a:pathLst>
                <a:path w="106045" h="403225">
                  <a:moveTo>
                    <a:pt x="46075" y="0"/>
                  </a:moveTo>
                  <a:lnTo>
                    <a:pt x="38150" y="0"/>
                  </a:lnTo>
                  <a:lnTo>
                    <a:pt x="30238" y="2159"/>
                  </a:lnTo>
                  <a:lnTo>
                    <a:pt x="23037" y="6121"/>
                  </a:lnTo>
                  <a:lnTo>
                    <a:pt x="16192" y="10071"/>
                  </a:lnTo>
                  <a:lnTo>
                    <a:pt x="10439" y="15836"/>
                  </a:lnTo>
                  <a:lnTo>
                    <a:pt x="6476" y="23037"/>
                  </a:lnTo>
                  <a:lnTo>
                    <a:pt x="2514" y="29870"/>
                  </a:lnTo>
                  <a:lnTo>
                    <a:pt x="355" y="37795"/>
                  </a:lnTo>
                  <a:lnTo>
                    <a:pt x="0" y="365036"/>
                  </a:lnTo>
                  <a:lnTo>
                    <a:pt x="2159" y="372960"/>
                  </a:lnTo>
                  <a:lnTo>
                    <a:pt x="6121" y="380149"/>
                  </a:lnTo>
                  <a:lnTo>
                    <a:pt x="10071" y="386994"/>
                  </a:lnTo>
                  <a:lnTo>
                    <a:pt x="15836" y="392760"/>
                  </a:lnTo>
                  <a:lnTo>
                    <a:pt x="23037" y="396709"/>
                  </a:lnTo>
                  <a:lnTo>
                    <a:pt x="29870" y="400672"/>
                  </a:lnTo>
                  <a:lnTo>
                    <a:pt x="37795" y="402831"/>
                  </a:lnTo>
                  <a:lnTo>
                    <a:pt x="67678" y="402831"/>
                  </a:lnTo>
                  <a:lnTo>
                    <a:pt x="99352" y="379793"/>
                  </a:lnTo>
                  <a:lnTo>
                    <a:pt x="103314" y="372960"/>
                  </a:lnTo>
                  <a:lnTo>
                    <a:pt x="105473" y="365036"/>
                  </a:lnTo>
                  <a:lnTo>
                    <a:pt x="105376" y="37795"/>
                  </a:lnTo>
                  <a:lnTo>
                    <a:pt x="103314" y="30238"/>
                  </a:lnTo>
                  <a:lnTo>
                    <a:pt x="99352" y="23037"/>
                  </a:lnTo>
                  <a:lnTo>
                    <a:pt x="95389" y="16192"/>
                  </a:lnTo>
                  <a:lnTo>
                    <a:pt x="89636" y="10439"/>
                  </a:lnTo>
                  <a:lnTo>
                    <a:pt x="82435" y="6477"/>
                  </a:lnTo>
                  <a:lnTo>
                    <a:pt x="75590" y="2514"/>
                  </a:lnTo>
                  <a:lnTo>
                    <a:pt x="67678" y="355"/>
                  </a:lnTo>
                  <a:lnTo>
                    <a:pt x="59753" y="355"/>
                  </a:lnTo>
                  <a:lnTo>
                    <a:pt x="46075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884644" y="2586964"/>
              <a:ext cx="106045" cy="403225"/>
            </a:xfrm>
            <a:custGeom>
              <a:avLst/>
              <a:gdLst/>
              <a:ahLst/>
              <a:cxnLst/>
              <a:rect l="l" t="t" r="r" b="b"/>
              <a:pathLst>
                <a:path w="106045" h="403225">
                  <a:moveTo>
                    <a:pt x="355" y="45720"/>
                  </a:moveTo>
                  <a:lnTo>
                    <a:pt x="355" y="37795"/>
                  </a:lnTo>
                  <a:lnTo>
                    <a:pt x="2514" y="29870"/>
                  </a:lnTo>
                  <a:lnTo>
                    <a:pt x="6476" y="23037"/>
                  </a:lnTo>
                  <a:lnTo>
                    <a:pt x="10439" y="15836"/>
                  </a:lnTo>
                  <a:lnTo>
                    <a:pt x="16192" y="10071"/>
                  </a:lnTo>
                  <a:lnTo>
                    <a:pt x="23037" y="6121"/>
                  </a:lnTo>
                  <a:lnTo>
                    <a:pt x="30238" y="2159"/>
                  </a:lnTo>
                  <a:lnTo>
                    <a:pt x="38150" y="0"/>
                  </a:lnTo>
                  <a:lnTo>
                    <a:pt x="46075" y="0"/>
                  </a:lnTo>
                  <a:lnTo>
                    <a:pt x="59753" y="355"/>
                  </a:lnTo>
                  <a:lnTo>
                    <a:pt x="67678" y="355"/>
                  </a:lnTo>
                  <a:lnTo>
                    <a:pt x="75590" y="2514"/>
                  </a:lnTo>
                  <a:lnTo>
                    <a:pt x="82435" y="6477"/>
                  </a:lnTo>
                  <a:lnTo>
                    <a:pt x="89636" y="10439"/>
                  </a:lnTo>
                  <a:lnTo>
                    <a:pt x="95389" y="16192"/>
                  </a:lnTo>
                  <a:lnTo>
                    <a:pt x="99352" y="23037"/>
                  </a:lnTo>
                  <a:lnTo>
                    <a:pt x="103314" y="30238"/>
                  </a:lnTo>
                  <a:lnTo>
                    <a:pt x="105473" y="38150"/>
                  </a:lnTo>
                  <a:lnTo>
                    <a:pt x="105473" y="46075"/>
                  </a:lnTo>
                  <a:lnTo>
                    <a:pt x="105473" y="357111"/>
                  </a:lnTo>
                  <a:lnTo>
                    <a:pt x="105473" y="365036"/>
                  </a:lnTo>
                  <a:lnTo>
                    <a:pt x="103314" y="372960"/>
                  </a:lnTo>
                  <a:lnTo>
                    <a:pt x="99352" y="379793"/>
                  </a:lnTo>
                  <a:lnTo>
                    <a:pt x="95389" y="386994"/>
                  </a:lnTo>
                  <a:lnTo>
                    <a:pt x="89636" y="392760"/>
                  </a:lnTo>
                  <a:lnTo>
                    <a:pt x="82791" y="396709"/>
                  </a:lnTo>
                  <a:lnTo>
                    <a:pt x="75590" y="400672"/>
                  </a:lnTo>
                  <a:lnTo>
                    <a:pt x="67678" y="402831"/>
                  </a:lnTo>
                  <a:lnTo>
                    <a:pt x="59753" y="402831"/>
                  </a:lnTo>
                  <a:lnTo>
                    <a:pt x="45720" y="402831"/>
                  </a:lnTo>
                  <a:lnTo>
                    <a:pt x="37795" y="402831"/>
                  </a:lnTo>
                  <a:lnTo>
                    <a:pt x="29870" y="400672"/>
                  </a:lnTo>
                  <a:lnTo>
                    <a:pt x="23037" y="396709"/>
                  </a:lnTo>
                  <a:lnTo>
                    <a:pt x="15836" y="392760"/>
                  </a:lnTo>
                  <a:lnTo>
                    <a:pt x="10071" y="386994"/>
                  </a:lnTo>
                  <a:lnTo>
                    <a:pt x="6121" y="380149"/>
                  </a:lnTo>
                  <a:lnTo>
                    <a:pt x="2159" y="372960"/>
                  </a:lnTo>
                  <a:lnTo>
                    <a:pt x="0" y="365036"/>
                  </a:lnTo>
                  <a:lnTo>
                    <a:pt x="0" y="357111"/>
                  </a:lnTo>
                  <a:lnTo>
                    <a:pt x="355" y="45720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3" name="object 10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52220" y="2663100"/>
            <a:ext cx="118073" cy="250559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25740" y="2717824"/>
            <a:ext cx="118073" cy="141111"/>
          </a:xfrm>
          <a:prstGeom prst="rect">
            <a:avLst/>
          </a:prstGeom>
        </p:spPr>
      </p:pic>
      <p:sp>
        <p:nvSpPr>
          <p:cNvPr id="105" name="object 105"/>
          <p:cNvSpPr txBox="1"/>
          <p:nvPr/>
        </p:nvSpPr>
        <p:spPr>
          <a:xfrm>
            <a:off x="444144" y="691095"/>
            <a:ext cx="302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1370" algn="l"/>
                <a:tab pos="986790" algn="l"/>
                <a:tab pos="1991360" algn="l"/>
                <a:tab pos="2176780" algn="l"/>
              </a:tabLst>
            </a:pP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C</a:t>
            </a:r>
            <a:r>
              <a:rPr sz="12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S</a:t>
            </a:r>
            <a:r>
              <a:rPr sz="1200" b="1" spc="-6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E</a:t>
            </a:r>
            <a:r>
              <a:rPr sz="1200" b="1" spc="40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4</a:t>
            </a:r>
            <a:r>
              <a:rPr sz="12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4</a:t>
            </a:r>
            <a:r>
              <a:rPr sz="12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BC8EF"/>
                </a:solidFill>
                <a:latin typeface="Calibri"/>
                <a:cs typeface="Calibri"/>
              </a:rPr>
              <a:t>5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	</a:t>
            </a:r>
            <a:r>
              <a:rPr sz="1200" b="1" spc="-50" dirty="0">
                <a:solidFill>
                  <a:srgbClr val="4BC8EF"/>
                </a:solidFill>
                <a:latin typeface="Calibri"/>
                <a:cs typeface="Calibri"/>
              </a:rPr>
              <a:t>·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	S</a:t>
            </a:r>
            <a:r>
              <a:rPr sz="1200" b="1" spc="-6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E</a:t>
            </a:r>
            <a:r>
              <a:rPr sz="1200" b="1" spc="-9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C</a:t>
            </a:r>
            <a:r>
              <a:rPr sz="12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T</a:t>
            </a:r>
            <a:r>
              <a:rPr sz="1200" b="1" spc="-6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I</a:t>
            </a:r>
            <a:r>
              <a:rPr sz="12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200" b="1" spc="-6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N</a:t>
            </a:r>
            <a:r>
              <a:rPr sz="1200" b="1" spc="41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BC8EF"/>
                </a:solidFill>
                <a:latin typeface="Calibri"/>
                <a:cs typeface="Calibri"/>
              </a:rPr>
              <a:t>7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	</a:t>
            </a:r>
            <a:r>
              <a:rPr sz="1200" b="1" spc="-50" dirty="0">
                <a:solidFill>
                  <a:srgbClr val="4BC8EF"/>
                </a:solidFill>
                <a:latin typeface="Calibri"/>
                <a:cs typeface="Calibri"/>
              </a:rPr>
              <a:t>·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	G</a:t>
            </a:r>
            <a:r>
              <a:rPr sz="12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R</a:t>
            </a:r>
            <a:r>
              <a:rPr sz="12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2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U</a:t>
            </a:r>
            <a:r>
              <a:rPr sz="12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BC8EF"/>
                </a:solidFill>
                <a:latin typeface="Calibri"/>
                <a:cs typeface="Calibri"/>
              </a:rPr>
              <a:t>P</a:t>
            </a:r>
            <a:r>
              <a:rPr sz="1200" b="1" spc="409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BC8EF"/>
                </a:solidFill>
                <a:latin typeface="Calibri"/>
                <a:cs typeface="Calibri"/>
              </a:rPr>
              <a:t>0</a:t>
            </a:r>
            <a:r>
              <a:rPr sz="12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BC8E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6" name="object 106" descr="$PPTXTitle"/>
          <p:cNvSpPr txBox="1">
            <a:spLocks noGrp="1"/>
          </p:cNvSpPr>
          <p:nvPr>
            <p:ph type="title"/>
          </p:nvPr>
        </p:nvSpPr>
        <p:spPr>
          <a:xfrm>
            <a:off x="444144" y="1041743"/>
            <a:ext cx="9712325" cy="10515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4000"/>
              </a:lnSpc>
              <a:spcBef>
                <a:spcPts val="275"/>
              </a:spcBef>
            </a:pPr>
            <a:r>
              <a:rPr sz="3400" spc="45" dirty="0"/>
              <a:t>Speaker</a:t>
            </a:r>
            <a:r>
              <a:rPr sz="3400" spc="-40" dirty="0"/>
              <a:t> </a:t>
            </a:r>
            <a:r>
              <a:rPr sz="3400" spc="70" dirty="0"/>
              <a:t>Identification</a:t>
            </a:r>
            <a:r>
              <a:rPr sz="3400" spc="-40" dirty="0"/>
              <a:t> </a:t>
            </a:r>
            <a:r>
              <a:rPr sz="3400" dirty="0"/>
              <a:t>System</a:t>
            </a:r>
            <a:r>
              <a:rPr sz="3400" spc="-40" dirty="0"/>
              <a:t> </a:t>
            </a:r>
            <a:r>
              <a:rPr sz="3400" spc="70" dirty="0"/>
              <a:t>Using</a:t>
            </a:r>
            <a:r>
              <a:rPr sz="3400" spc="-40" dirty="0"/>
              <a:t> </a:t>
            </a:r>
            <a:r>
              <a:rPr sz="3400" spc="-484" dirty="0"/>
              <a:t>MFCC</a:t>
            </a:r>
            <a:r>
              <a:rPr sz="3400" spc="-40" dirty="0"/>
              <a:t> </a:t>
            </a:r>
            <a:r>
              <a:rPr sz="3400" spc="-10" dirty="0"/>
              <a:t>Feature </a:t>
            </a:r>
            <a:r>
              <a:rPr sz="3400" dirty="0"/>
              <a:t>Extraction</a:t>
            </a:r>
            <a:r>
              <a:rPr sz="3400" spc="35" dirty="0"/>
              <a:t> </a:t>
            </a:r>
            <a:r>
              <a:rPr sz="3400" spc="80" dirty="0"/>
              <a:t>and</a:t>
            </a:r>
            <a:r>
              <a:rPr sz="3400" spc="35" dirty="0"/>
              <a:t> </a:t>
            </a:r>
            <a:r>
              <a:rPr sz="3400" dirty="0"/>
              <a:t>Random</a:t>
            </a:r>
            <a:r>
              <a:rPr sz="3400" spc="30" dirty="0"/>
              <a:t> </a:t>
            </a:r>
            <a:r>
              <a:rPr sz="3400" dirty="0"/>
              <a:t>Forest</a:t>
            </a:r>
            <a:r>
              <a:rPr sz="3400" spc="35" dirty="0"/>
              <a:t> </a:t>
            </a:r>
            <a:r>
              <a:rPr sz="3400" spc="-10" dirty="0"/>
              <a:t>Classifier</a:t>
            </a:r>
            <a:endParaRPr sz="3400"/>
          </a:p>
        </p:txBody>
      </p:sp>
      <p:sp>
        <p:nvSpPr>
          <p:cNvPr id="107" name="object 107"/>
          <p:cNvSpPr txBox="1"/>
          <p:nvPr/>
        </p:nvSpPr>
        <p:spPr>
          <a:xfrm>
            <a:off x="444144" y="3337102"/>
            <a:ext cx="6779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9A9C3"/>
                </a:solidFill>
                <a:latin typeface="Calibri"/>
                <a:cs typeface="Calibri"/>
              </a:rPr>
              <a:t>lightweight,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fully</a:t>
            </a:r>
            <a:r>
              <a:rPr sz="140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reproducible</a:t>
            </a:r>
            <a:r>
              <a:rPr sz="140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9A9C3"/>
                </a:solidFill>
                <a:latin typeface="Calibri"/>
                <a:cs typeface="Calibri"/>
              </a:rPr>
              <a:t>closed-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set</a:t>
            </a:r>
            <a:r>
              <a:rPr sz="140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pipeline</a:t>
            </a:r>
            <a:r>
              <a:rPr sz="140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5,000</a:t>
            </a:r>
            <a:r>
              <a:rPr sz="140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9A9C3"/>
                </a:solidFill>
                <a:latin typeface="Calibri"/>
                <a:cs typeface="Calibri"/>
              </a:rPr>
              <a:t>utterances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10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9A9C3"/>
                </a:solidFill>
                <a:latin typeface="Calibri"/>
                <a:cs typeface="Calibri"/>
              </a:rPr>
              <a:t>speakers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40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9A9C3"/>
                </a:solidFill>
                <a:latin typeface="Calibri"/>
                <a:cs typeface="Calibri"/>
              </a:rPr>
              <a:t>CPU-</a:t>
            </a:r>
            <a:r>
              <a:rPr sz="1400" i="1" spc="-20" dirty="0">
                <a:solidFill>
                  <a:srgbClr val="99A9C3"/>
                </a:solidFill>
                <a:latin typeface="Calibri"/>
                <a:cs typeface="Calibri"/>
              </a:rPr>
              <a:t>only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452520" y="3835799"/>
            <a:ext cx="3255645" cy="1243965"/>
            <a:chOff x="452520" y="3835799"/>
            <a:chExt cx="3255645" cy="1243965"/>
          </a:xfrm>
        </p:grpSpPr>
        <p:sp>
          <p:nvSpPr>
            <p:cNvPr id="109" name="object 109"/>
            <p:cNvSpPr/>
            <p:nvPr/>
          </p:nvSpPr>
          <p:spPr>
            <a:xfrm>
              <a:off x="457199" y="3840479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172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40"/>
                  </a:lnTo>
                  <a:lnTo>
                    <a:pt x="3173044" y="1234084"/>
                  </a:lnTo>
                  <a:lnTo>
                    <a:pt x="3217414" y="1218980"/>
                  </a:lnTo>
                  <a:lnTo>
                    <a:pt x="3243631" y="1180215"/>
                  </a:lnTo>
                  <a:lnTo>
                    <a:pt x="3243691" y="1180036"/>
                  </a:lnTo>
                  <a:lnTo>
                    <a:pt x="3245472" y="1170840"/>
                  </a:lnTo>
                  <a:lnTo>
                    <a:pt x="3245512" y="1170635"/>
                  </a:lnTo>
                  <a:lnTo>
                    <a:pt x="3246096" y="1161364"/>
                  </a:lnTo>
                  <a:lnTo>
                    <a:pt x="3246120" y="1160995"/>
                  </a:lnTo>
                  <a:lnTo>
                    <a:pt x="3245764" y="73075"/>
                  </a:lnTo>
                  <a:lnTo>
                    <a:pt x="3230660" y="28705"/>
                  </a:lnTo>
                  <a:lnTo>
                    <a:pt x="3191716" y="2428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57199" y="3840479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8" y="15104"/>
                  </a:lnTo>
                  <a:lnTo>
                    <a:pt x="3243333" y="54224"/>
                  </a:lnTo>
                  <a:lnTo>
                    <a:pt x="3245764" y="73075"/>
                  </a:lnTo>
                  <a:lnTo>
                    <a:pt x="3246120" y="1160995"/>
                  </a:lnTo>
                  <a:lnTo>
                    <a:pt x="3245512" y="1170635"/>
                  </a:lnTo>
                  <a:lnTo>
                    <a:pt x="3243691" y="1180036"/>
                  </a:lnTo>
                  <a:lnTo>
                    <a:pt x="3217414" y="1218980"/>
                  </a:lnTo>
                  <a:lnTo>
                    <a:pt x="3173044" y="1234084"/>
                  </a:lnTo>
                  <a:lnTo>
                    <a:pt x="73075" y="1234440"/>
                  </a:lnTo>
                  <a:lnTo>
                    <a:pt x="28555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94804" y="42062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39" y="8504"/>
                  </a:lnTo>
                  <a:lnTo>
                    <a:pt x="125641" y="33477"/>
                  </a:lnTo>
                  <a:lnTo>
                    <a:pt x="73659" y="73482"/>
                  </a:lnTo>
                  <a:lnTo>
                    <a:pt x="33832" y="125641"/>
                  </a:lnTo>
                  <a:lnTo>
                    <a:pt x="8548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2" y="347417"/>
                  </a:lnTo>
                  <a:lnTo>
                    <a:pt x="52074" y="404328"/>
                  </a:lnTo>
                  <a:lnTo>
                    <a:pt x="98283" y="450777"/>
                  </a:lnTo>
                  <a:lnTo>
                    <a:pt x="155195" y="483631"/>
                  </a:lnTo>
                  <a:lnTo>
                    <a:pt x="218633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28" y="450777"/>
                  </a:lnTo>
                  <a:lnTo>
                    <a:pt x="450832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94804" y="42062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282"/>
                  </a:moveTo>
                  <a:lnTo>
                    <a:pt x="2148" y="218334"/>
                  </a:lnTo>
                  <a:lnTo>
                    <a:pt x="8548" y="186166"/>
                  </a:lnTo>
                  <a:lnTo>
                    <a:pt x="33832" y="125641"/>
                  </a:lnTo>
                  <a:lnTo>
                    <a:pt x="73659" y="73482"/>
                  </a:lnTo>
                  <a:lnTo>
                    <a:pt x="125641" y="33477"/>
                  </a:lnTo>
                  <a:lnTo>
                    <a:pt x="186339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48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19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48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39" y="494236"/>
                  </a:lnTo>
                  <a:lnTo>
                    <a:pt x="125641" y="469074"/>
                  </a:lnTo>
                  <a:lnTo>
                    <a:pt x="73659" y="429071"/>
                  </a:lnTo>
                  <a:lnTo>
                    <a:pt x="33832" y="376923"/>
                  </a:lnTo>
                  <a:lnTo>
                    <a:pt x="8548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784694" y="4353369"/>
            <a:ext cx="321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4BC8EF"/>
                </a:solidFill>
                <a:latin typeface="Calibri"/>
                <a:cs typeface="Calibri"/>
              </a:rPr>
              <a:t>AMS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322184" y="4112348"/>
            <a:ext cx="1597025" cy="5873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Ashfaq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Mahee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Siddiky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ID: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2231903042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4064399" y="3835799"/>
            <a:ext cx="3255645" cy="1243965"/>
            <a:chOff x="4064399" y="3835799"/>
            <a:chExt cx="3255645" cy="1243965"/>
          </a:xfrm>
        </p:grpSpPr>
        <p:sp>
          <p:nvSpPr>
            <p:cNvPr id="116" name="object 116"/>
            <p:cNvSpPr/>
            <p:nvPr/>
          </p:nvSpPr>
          <p:spPr>
            <a:xfrm>
              <a:off x="4069079" y="3840479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172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15098" y="1205734"/>
                  </a:lnTo>
                  <a:lnTo>
                    <a:pt x="54046" y="1232011"/>
                  </a:lnTo>
                  <a:lnTo>
                    <a:pt x="73075" y="1234440"/>
                  </a:lnTo>
                  <a:lnTo>
                    <a:pt x="3173044" y="1234084"/>
                  </a:lnTo>
                  <a:lnTo>
                    <a:pt x="3217414" y="1218980"/>
                  </a:lnTo>
                  <a:lnTo>
                    <a:pt x="3240578" y="1189255"/>
                  </a:lnTo>
                  <a:lnTo>
                    <a:pt x="3240655" y="1189099"/>
                  </a:lnTo>
                  <a:lnTo>
                    <a:pt x="3243631" y="1180215"/>
                  </a:lnTo>
                  <a:lnTo>
                    <a:pt x="3243691" y="1180036"/>
                  </a:lnTo>
                  <a:lnTo>
                    <a:pt x="3245472" y="1170840"/>
                  </a:lnTo>
                  <a:lnTo>
                    <a:pt x="3245512" y="1170635"/>
                  </a:lnTo>
                  <a:lnTo>
                    <a:pt x="3246096" y="1161364"/>
                  </a:lnTo>
                  <a:lnTo>
                    <a:pt x="3246120" y="1160995"/>
                  </a:lnTo>
                  <a:lnTo>
                    <a:pt x="3245764" y="73075"/>
                  </a:lnTo>
                  <a:lnTo>
                    <a:pt x="3230660" y="28705"/>
                  </a:lnTo>
                  <a:lnTo>
                    <a:pt x="3191716" y="2428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069079" y="3840479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8" y="15104"/>
                  </a:lnTo>
                  <a:lnTo>
                    <a:pt x="3243333" y="54224"/>
                  </a:lnTo>
                  <a:lnTo>
                    <a:pt x="3245764" y="73075"/>
                  </a:lnTo>
                  <a:lnTo>
                    <a:pt x="3246120" y="1160995"/>
                  </a:lnTo>
                  <a:lnTo>
                    <a:pt x="3245512" y="1170635"/>
                  </a:lnTo>
                  <a:lnTo>
                    <a:pt x="3243691" y="1180036"/>
                  </a:lnTo>
                  <a:lnTo>
                    <a:pt x="3217414" y="1218980"/>
                  </a:lnTo>
                  <a:lnTo>
                    <a:pt x="3173044" y="1234084"/>
                  </a:lnTo>
                  <a:lnTo>
                    <a:pt x="73075" y="1234440"/>
                  </a:lnTo>
                  <a:lnTo>
                    <a:pt x="28555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306684" y="42062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637" y="0"/>
                  </a:moveTo>
                  <a:lnTo>
                    <a:pt x="186339" y="8504"/>
                  </a:lnTo>
                  <a:lnTo>
                    <a:pt x="125641" y="33477"/>
                  </a:lnTo>
                  <a:lnTo>
                    <a:pt x="73660" y="73482"/>
                  </a:lnTo>
                  <a:lnTo>
                    <a:pt x="33832" y="125641"/>
                  </a:lnTo>
                  <a:lnTo>
                    <a:pt x="8548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2" y="347417"/>
                  </a:lnTo>
                  <a:lnTo>
                    <a:pt x="52074" y="404328"/>
                  </a:lnTo>
                  <a:lnTo>
                    <a:pt x="98283" y="450777"/>
                  </a:lnTo>
                  <a:lnTo>
                    <a:pt x="155195" y="483631"/>
                  </a:lnTo>
                  <a:lnTo>
                    <a:pt x="218633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28" y="450777"/>
                  </a:lnTo>
                  <a:lnTo>
                    <a:pt x="450832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306684" y="42062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0" y="251282"/>
                  </a:moveTo>
                  <a:lnTo>
                    <a:pt x="2148" y="218334"/>
                  </a:lnTo>
                  <a:lnTo>
                    <a:pt x="8548" y="186166"/>
                  </a:lnTo>
                  <a:lnTo>
                    <a:pt x="33832" y="125641"/>
                  </a:lnTo>
                  <a:lnTo>
                    <a:pt x="73660" y="73482"/>
                  </a:lnTo>
                  <a:lnTo>
                    <a:pt x="125641" y="33477"/>
                  </a:lnTo>
                  <a:lnTo>
                    <a:pt x="186339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48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48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39" y="494236"/>
                  </a:lnTo>
                  <a:lnTo>
                    <a:pt x="125641" y="469074"/>
                  </a:lnTo>
                  <a:lnTo>
                    <a:pt x="73660" y="429071"/>
                  </a:lnTo>
                  <a:lnTo>
                    <a:pt x="33832" y="376923"/>
                  </a:lnTo>
                  <a:lnTo>
                    <a:pt x="8548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4396575" y="4353369"/>
            <a:ext cx="321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4BC8EF"/>
                </a:solidFill>
                <a:latin typeface="Calibri"/>
                <a:cs typeface="Calibri"/>
              </a:rPr>
              <a:t>MAS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934064" y="4112348"/>
            <a:ext cx="1219200" cy="5873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Md.</a:t>
            </a:r>
            <a:r>
              <a:rPr sz="13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Arebi</a:t>
            </a:r>
            <a:r>
              <a:rPr sz="135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Sarker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ID: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2221362042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7676280" y="3835799"/>
            <a:ext cx="3255645" cy="1243965"/>
            <a:chOff x="7676280" y="3835799"/>
            <a:chExt cx="3255645" cy="1243965"/>
          </a:xfrm>
        </p:grpSpPr>
        <p:sp>
          <p:nvSpPr>
            <p:cNvPr id="123" name="object 123"/>
            <p:cNvSpPr/>
            <p:nvPr/>
          </p:nvSpPr>
          <p:spPr>
            <a:xfrm>
              <a:off x="7680960" y="3840479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31726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40"/>
                  </a:lnTo>
                  <a:lnTo>
                    <a:pt x="3173044" y="1234084"/>
                  </a:lnTo>
                  <a:lnTo>
                    <a:pt x="3217414" y="1218980"/>
                  </a:lnTo>
                  <a:lnTo>
                    <a:pt x="3240578" y="1189255"/>
                  </a:lnTo>
                  <a:lnTo>
                    <a:pt x="3240655" y="1189099"/>
                  </a:lnTo>
                  <a:lnTo>
                    <a:pt x="3243631" y="1180215"/>
                  </a:lnTo>
                  <a:lnTo>
                    <a:pt x="3243691" y="1180036"/>
                  </a:lnTo>
                  <a:lnTo>
                    <a:pt x="3245472" y="1170840"/>
                  </a:lnTo>
                  <a:lnTo>
                    <a:pt x="3245512" y="1170635"/>
                  </a:lnTo>
                  <a:lnTo>
                    <a:pt x="3246096" y="1161364"/>
                  </a:lnTo>
                  <a:lnTo>
                    <a:pt x="3246120" y="1160995"/>
                  </a:lnTo>
                  <a:lnTo>
                    <a:pt x="3245764" y="73075"/>
                  </a:lnTo>
                  <a:lnTo>
                    <a:pt x="3230660" y="28705"/>
                  </a:lnTo>
                  <a:lnTo>
                    <a:pt x="3191716" y="2428"/>
                  </a:lnTo>
                  <a:lnTo>
                    <a:pt x="3182315" y="607"/>
                  </a:lnTo>
                  <a:lnTo>
                    <a:pt x="317267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680960" y="3840479"/>
              <a:ext cx="3246120" cy="1234440"/>
            </a:xfrm>
            <a:custGeom>
              <a:avLst/>
              <a:gdLst/>
              <a:ahLst/>
              <a:cxnLst/>
              <a:rect l="l" t="t" r="r" b="b"/>
              <a:pathLst>
                <a:path w="3246120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172675" y="0"/>
                  </a:lnTo>
                  <a:lnTo>
                    <a:pt x="3217208" y="15104"/>
                  </a:lnTo>
                  <a:lnTo>
                    <a:pt x="3243333" y="54224"/>
                  </a:lnTo>
                  <a:lnTo>
                    <a:pt x="3245764" y="73075"/>
                  </a:lnTo>
                  <a:lnTo>
                    <a:pt x="3246120" y="1160995"/>
                  </a:lnTo>
                  <a:lnTo>
                    <a:pt x="3245512" y="1170635"/>
                  </a:lnTo>
                  <a:lnTo>
                    <a:pt x="3243691" y="1180036"/>
                  </a:lnTo>
                  <a:lnTo>
                    <a:pt x="3217414" y="1218980"/>
                  </a:lnTo>
                  <a:lnTo>
                    <a:pt x="3173044" y="1234084"/>
                  </a:lnTo>
                  <a:lnTo>
                    <a:pt x="73075" y="1234440"/>
                  </a:lnTo>
                  <a:lnTo>
                    <a:pt x="28555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918564" y="42062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637" y="0"/>
                  </a:moveTo>
                  <a:lnTo>
                    <a:pt x="186339" y="8504"/>
                  </a:lnTo>
                  <a:lnTo>
                    <a:pt x="125641" y="33477"/>
                  </a:lnTo>
                  <a:lnTo>
                    <a:pt x="73659" y="73482"/>
                  </a:lnTo>
                  <a:lnTo>
                    <a:pt x="33832" y="125641"/>
                  </a:lnTo>
                  <a:lnTo>
                    <a:pt x="8548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2" y="347417"/>
                  </a:lnTo>
                  <a:lnTo>
                    <a:pt x="52074" y="404328"/>
                  </a:lnTo>
                  <a:lnTo>
                    <a:pt x="98283" y="450777"/>
                  </a:lnTo>
                  <a:lnTo>
                    <a:pt x="155195" y="483631"/>
                  </a:lnTo>
                  <a:lnTo>
                    <a:pt x="218633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28" y="450777"/>
                  </a:lnTo>
                  <a:lnTo>
                    <a:pt x="450832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918564" y="42062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0" y="251282"/>
                  </a:moveTo>
                  <a:lnTo>
                    <a:pt x="2148" y="218334"/>
                  </a:lnTo>
                  <a:lnTo>
                    <a:pt x="8548" y="186166"/>
                  </a:lnTo>
                  <a:lnTo>
                    <a:pt x="33832" y="125641"/>
                  </a:lnTo>
                  <a:lnTo>
                    <a:pt x="73659" y="73482"/>
                  </a:lnTo>
                  <a:lnTo>
                    <a:pt x="125641" y="33477"/>
                  </a:lnTo>
                  <a:lnTo>
                    <a:pt x="186339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48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48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39" y="494236"/>
                  </a:lnTo>
                  <a:lnTo>
                    <a:pt x="125641" y="469074"/>
                  </a:lnTo>
                  <a:lnTo>
                    <a:pt x="73659" y="429071"/>
                  </a:lnTo>
                  <a:lnTo>
                    <a:pt x="33832" y="376923"/>
                  </a:lnTo>
                  <a:lnTo>
                    <a:pt x="8548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8059584" y="4353369"/>
            <a:ext cx="2209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4BC8EF"/>
                </a:solidFill>
                <a:latin typeface="Calibri"/>
                <a:cs typeface="Calibri"/>
              </a:rPr>
              <a:t>NH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545944" y="4112348"/>
            <a:ext cx="975360" cy="5873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Nazmul</a:t>
            </a:r>
            <a:r>
              <a:rPr sz="135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Huda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ID: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2212434042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444144" y="5431218"/>
            <a:ext cx="57143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Department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Computer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Science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Engineering</a:t>
            </a:r>
            <a:r>
              <a:rPr sz="1150" spc="24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150" spc="24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North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South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University,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Dhaka,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Bangladesh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15" dirty="0"/>
              <a:t> </a:t>
            </a:r>
            <a:r>
              <a:rPr lang="en-US" dirty="0"/>
              <a:t>&amp;</a:t>
            </a:r>
            <a:r>
              <a:rPr spc="10" dirty="0"/>
              <a:t> </a:t>
            </a:r>
            <a:r>
              <a:rPr spc="60" dirty="0"/>
              <a:t>Dataset</a:t>
            </a:r>
            <a:r>
              <a:rPr spc="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36262" y="278961"/>
            <a:ext cx="908050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Nazmul</a:t>
            </a:r>
            <a:r>
              <a:rPr sz="1250" b="1" spc="-6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20" dirty="0">
                <a:solidFill>
                  <a:srgbClr val="4BC8EF"/>
                </a:solidFill>
                <a:latin typeface="Calibri"/>
                <a:cs typeface="Calibri"/>
              </a:rPr>
              <a:t>Huda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2164" y="1110964"/>
            <a:ext cx="5953125" cy="1179830"/>
            <a:chOff x="452164" y="1110964"/>
            <a:chExt cx="5953125" cy="1179830"/>
          </a:xfrm>
        </p:grpSpPr>
        <p:sp>
          <p:nvSpPr>
            <p:cNvPr id="5" name="object 5"/>
            <p:cNvSpPr/>
            <p:nvPr/>
          </p:nvSpPr>
          <p:spPr>
            <a:xfrm>
              <a:off x="456844" y="1115644"/>
              <a:ext cx="5943600" cy="1170940"/>
            </a:xfrm>
            <a:custGeom>
              <a:avLst/>
              <a:gdLst/>
              <a:ahLst/>
              <a:cxnLst/>
              <a:rect l="l" t="t" r="r" b="b"/>
              <a:pathLst>
                <a:path w="5943600" h="1170939">
                  <a:moveTo>
                    <a:pt x="5870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097279"/>
                  </a:lnTo>
                  <a:lnTo>
                    <a:pt x="594" y="1106551"/>
                  </a:lnTo>
                  <a:lnTo>
                    <a:pt x="607" y="1106756"/>
                  </a:lnTo>
                  <a:lnTo>
                    <a:pt x="2394" y="1115952"/>
                  </a:lnTo>
                  <a:lnTo>
                    <a:pt x="2428" y="1116131"/>
                  </a:lnTo>
                  <a:lnTo>
                    <a:pt x="5412" y="1125015"/>
                  </a:lnTo>
                  <a:lnTo>
                    <a:pt x="36360" y="1160640"/>
                  </a:lnTo>
                  <a:lnTo>
                    <a:pt x="73075" y="1170355"/>
                  </a:lnTo>
                  <a:lnTo>
                    <a:pt x="5870511" y="1170000"/>
                  </a:lnTo>
                  <a:lnTo>
                    <a:pt x="5914889" y="1154896"/>
                  </a:lnTo>
                  <a:lnTo>
                    <a:pt x="5941109" y="1116131"/>
                  </a:lnTo>
                  <a:lnTo>
                    <a:pt x="5943600" y="1096911"/>
                  </a:lnTo>
                  <a:lnTo>
                    <a:pt x="5943231" y="73075"/>
                  </a:lnTo>
                  <a:lnTo>
                    <a:pt x="5928140" y="28698"/>
                  </a:lnTo>
                  <a:lnTo>
                    <a:pt x="5889190" y="2428"/>
                  </a:lnTo>
                  <a:lnTo>
                    <a:pt x="5879789" y="607"/>
                  </a:lnTo>
                  <a:lnTo>
                    <a:pt x="587015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844" y="1115644"/>
              <a:ext cx="5943600" cy="1170940"/>
            </a:xfrm>
            <a:custGeom>
              <a:avLst/>
              <a:gdLst/>
              <a:ahLst/>
              <a:cxnLst/>
              <a:rect l="l" t="t" r="r" b="b"/>
              <a:pathLst>
                <a:path w="5943600" h="117093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870155" y="0"/>
                  </a:lnTo>
                  <a:lnTo>
                    <a:pt x="5914683" y="15096"/>
                  </a:lnTo>
                  <a:lnTo>
                    <a:pt x="5940802" y="54219"/>
                  </a:lnTo>
                  <a:lnTo>
                    <a:pt x="5943231" y="73075"/>
                  </a:lnTo>
                  <a:lnTo>
                    <a:pt x="5943600" y="1096911"/>
                  </a:lnTo>
                  <a:lnTo>
                    <a:pt x="5942992" y="1106551"/>
                  </a:lnTo>
                  <a:lnTo>
                    <a:pt x="5941169" y="1115952"/>
                  </a:lnTo>
                  <a:lnTo>
                    <a:pt x="5914889" y="1154896"/>
                  </a:lnTo>
                  <a:lnTo>
                    <a:pt x="5870511" y="1170000"/>
                  </a:lnTo>
                  <a:lnTo>
                    <a:pt x="73075" y="1170355"/>
                  </a:lnTo>
                  <a:lnTo>
                    <a:pt x="28548" y="1155251"/>
                  </a:lnTo>
                  <a:lnTo>
                    <a:pt x="2428" y="1116131"/>
                  </a:lnTo>
                  <a:lnTo>
                    <a:pt x="0" y="1097279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0100" y="1208201"/>
            <a:ext cx="5266690" cy="9563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050" b="1" spc="-10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050" b="1" spc="-10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b</a:t>
            </a:r>
            <a:r>
              <a:rPr sz="105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j</a:t>
            </a:r>
            <a:r>
              <a:rPr sz="1050" b="1" spc="-9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e</a:t>
            </a:r>
            <a:r>
              <a:rPr sz="105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c</a:t>
            </a:r>
            <a:r>
              <a:rPr sz="1050" b="1" spc="-10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ti</a:t>
            </a:r>
            <a:r>
              <a:rPr sz="1050" b="1" spc="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BC8EF"/>
                </a:solidFill>
                <a:latin typeface="Calibri"/>
                <a:cs typeface="Calibri"/>
              </a:rPr>
              <a:t>v</a:t>
            </a:r>
            <a:r>
              <a:rPr sz="1050" b="1" spc="-10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4BC8EF"/>
                </a:solidFill>
                <a:latin typeface="Calibri"/>
                <a:cs typeface="Calibri"/>
              </a:rPr>
              <a:t>e</a:t>
            </a:r>
            <a:endParaRPr sz="1050" dirty="0">
              <a:latin typeface="Calibri"/>
              <a:cs typeface="Calibri"/>
            </a:endParaRPr>
          </a:p>
          <a:p>
            <a:pPr marL="12700" marR="5080">
              <a:lnSpc>
                <a:spcPct val="106600"/>
              </a:lnSpc>
              <a:spcBef>
                <a:spcPts val="64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Deliver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lightweight,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reproducible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closed-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speaker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identification suitable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embedded</a:t>
            </a:r>
            <a:r>
              <a:rPr sz="125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GPU,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corpus,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retrainable</a:t>
            </a:r>
            <a:r>
              <a:rPr sz="1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seconds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enrolled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population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changes.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6844" y="2487244"/>
            <a:ext cx="5943600" cy="2756535"/>
            <a:chOff x="456844" y="2487244"/>
            <a:chExt cx="5943600" cy="2756535"/>
          </a:xfrm>
        </p:grpSpPr>
        <p:sp>
          <p:nvSpPr>
            <p:cNvPr id="9" name="object 9"/>
            <p:cNvSpPr/>
            <p:nvPr/>
          </p:nvSpPr>
          <p:spPr>
            <a:xfrm>
              <a:off x="456844" y="2487244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69">
                  <a:moveTo>
                    <a:pt x="5943231" y="0"/>
                  </a:moveTo>
                  <a:lnTo>
                    <a:pt x="0" y="0"/>
                  </a:lnTo>
                  <a:lnTo>
                    <a:pt x="0" y="305993"/>
                  </a:lnTo>
                  <a:lnTo>
                    <a:pt x="2971799" y="305993"/>
                  </a:lnTo>
                  <a:lnTo>
                    <a:pt x="5943231" y="305993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6844" y="2793606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69">
                  <a:moveTo>
                    <a:pt x="5943231" y="0"/>
                  </a:moveTo>
                  <a:lnTo>
                    <a:pt x="0" y="0"/>
                  </a:lnTo>
                  <a:lnTo>
                    <a:pt x="0" y="305993"/>
                  </a:lnTo>
                  <a:lnTo>
                    <a:pt x="2971799" y="305993"/>
                  </a:lnTo>
                  <a:lnTo>
                    <a:pt x="5943231" y="305993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6844" y="3099955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6006"/>
                  </a:lnTo>
                  <a:lnTo>
                    <a:pt x="2971799" y="306006"/>
                  </a:lnTo>
                  <a:lnTo>
                    <a:pt x="5943231" y="306006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52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844" y="3406317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6006"/>
                  </a:lnTo>
                  <a:lnTo>
                    <a:pt x="2971799" y="306006"/>
                  </a:lnTo>
                  <a:lnTo>
                    <a:pt x="5943231" y="306006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6844" y="3712324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5993"/>
                  </a:lnTo>
                  <a:lnTo>
                    <a:pt x="2971799" y="305993"/>
                  </a:lnTo>
                  <a:lnTo>
                    <a:pt x="5943231" y="305993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52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6844" y="4018673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6006"/>
                  </a:lnTo>
                  <a:lnTo>
                    <a:pt x="2971799" y="306006"/>
                  </a:lnTo>
                  <a:lnTo>
                    <a:pt x="5943231" y="306006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6844" y="4325035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6006"/>
                  </a:lnTo>
                  <a:lnTo>
                    <a:pt x="2971799" y="306006"/>
                  </a:lnTo>
                  <a:lnTo>
                    <a:pt x="5943231" y="306006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52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6844" y="4631397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6006"/>
                  </a:lnTo>
                  <a:lnTo>
                    <a:pt x="2971799" y="306006"/>
                  </a:lnTo>
                  <a:lnTo>
                    <a:pt x="5943231" y="306006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6844" y="4937759"/>
              <a:ext cx="5943600" cy="306070"/>
            </a:xfrm>
            <a:custGeom>
              <a:avLst/>
              <a:gdLst/>
              <a:ahLst/>
              <a:cxnLst/>
              <a:rect l="l" t="t" r="r" b="b"/>
              <a:pathLst>
                <a:path w="5943600" h="306070">
                  <a:moveTo>
                    <a:pt x="5943231" y="0"/>
                  </a:moveTo>
                  <a:lnTo>
                    <a:pt x="0" y="0"/>
                  </a:lnTo>
                  <a:lnTo>
                    <a:pt x="0" y="305993"/>
                  </a:lnTo>
                  <a:lnTo>
                    <a:pt x="2971799" y="305993"/>
                  </a:lnTo>
                  <a:lnTo>
                    <a:pt x="5943231" y="305993"/>
                  </a:lnTo>
                  <a:lnTo>
                    <a:pt x="5943231" y="0"/>
                  </a:lnTo>
                  <a:close/>
                </a:path>
              </a:pathLst>
            </a:custGeom>
            <a:solidFill>
              <a:srgbClr val="152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52164" y="2482564"/>
          <a:ext cx="5942964" cy="275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0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b="1" spc="50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Property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9525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b="1" spc="-10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9525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spc="-25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150" spc="-2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utterances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5,000</a:t>
                      </a:r>
                      <a:r>
                        <a:rPr sz="11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mono</a:t>
                      </a:r>
                      <a:r>
                        <a:rPr sz="11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PCM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.wav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Speakers</a:t>
                      </a:r>
                      <a:r>
                        <a:rPr sz="1150" spc="-25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(classes)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150" b="1" spc="2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150" b="1" spc="2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500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utterances</a:t>
                      </a:r>
                      <a:r>
                        <a:rPr sz="115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Lexical</a:t>
                      </a:r>
                      <a:r>
                        <a:rPr sz="1150" spc="-65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9525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Spoken</a:t>
                      </a:r>
                      <a:r>
                        <a:rPr sz="11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digits</a:t>
                      </a:r>
                      <a:r>
                        <a:rPr sz="11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0–</a:t>
                      </a:r>
                      <a:r>
                        <a:rPr sz="11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9525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Repetitions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9525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</a:t>
                      </a:r>
                      <a:r>
                        <a:rPr sz="115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digit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sz="11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speaker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9525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Sampling</a:t>
                      </a:r>
                      <a:r>
                        <a:rPr sz="1150" spc="-4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2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Resampled</a:t>
                      </a:r>
                      <a:r>
                        <a:rPr sz="11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1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16,000</a:t>
                      </a:r>
                      <a:r>
                        <a:rPr sz="11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Hz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Normalised</a:t>
                      </a:r>
                      <a:r>
                        <a:rPr sz="1150" spc="-45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duration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1.000</a:t>
                      </a:r>
                      <a:r>
                        <a:rPr sz="115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1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(16,000</a:t>
                      </a:r>
                      <a:r>
                        <a:rPr sz="11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samples)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150" spc="-2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balance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Perfectly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uniform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12700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spc="-2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Train </a:t>
                      </a:r>
                      <a:r>
                        <a:rPr sz="115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150" spc="-10" dirty="0">
                          <a:solidFill>
                            <a:srgbClr val="99A9C3"/>
                          </a:solidFill>
                          <a:latin typeface="Calibri"/>
                          <a:cs typeface="Calibri"/>
                        </a:rPr>
                        <a:t> Validation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9525">
                      <a:solidFill>
                        <a:srgbClr val="30446A"/>
                      </a:solidFill>
                      <a:prstDash val="solid"/>
                    </a:lnL>
                    <a:lnT w="12700">
                      <a:solidFill>
                        <a:srgbClr val="30446A"/>
                      </a:solidFill>
                      <a:prstDash val="solid"/>
                    </a:lnT>
                    <a:lnB w="9525">
                      <a:solidFill>
                        <a:srgbClr val="3044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64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4,000</a:t>
                      </a:r>
                      <a:r>
                        <a:rPr sz="115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15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1,000</a:t>
                      </a:r>
                      <a:r>
                        <a:rPr sz="115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(stratified)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R w="9525">
                      <a:solidFill>
                        <a:srgbClr val="30446A"/>
                      </a:solidFill>
                      <a:prstDash val="solid"/>
                    </a:lnR>
                    <a:lnT w="12700">
                      <a:solidFill>
                        <a:srgbClr val="30446A"/>
                      </a:solidFill>
                      <a:prstDash val="solid"/>
                    </a:lnT>
                    <a:lnB w="9525">
                      <a:solidFill>
                        <a:srgbClr val="30446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7639024" y="1690738"/>
            <a:ext cx="3054985" cy="3054985"/>
            <a:chOff x="7639024" y="1690738"/>
            <a:chExt cx="3054985" cy="3054985"/>
          </a:xfrm>
        </p:grpSpPr>
        <p:sp>
          <p:nvSpPr>
            <p:cNvPr id="20" name="object 20"/>
            <p:cNvSpPr/>
            <p:nvPr/>
          </p:nvSpPr>
          <p:spPr>
            <a:xfrm>
              <a:off x="9166682" y="1697037"/>
              <a:ext cx="894080" cy="906144"/>
            </a:xfrm>
            <a:custGeom>
              <a:avLst/>
              <a:gdLst/>
              <a:ahLst/>
              <a:cxnLst/>
              <a:rect l="l" t="t" r="r" b="b"/>
              <a:pathLst>
                <a:path w="894079" h="906144">
                  <a:moveTo>
                    <a:pt x="0" y="0"/>
                  </a:moveTo>
                  <a:lnTo>
                    <a:pt x="0" y="760679"/>
                  </a:lnTo>
                  <a:lnTo>
                    <a:pt x="47527" y="762151"/>
                  </a:lnTo>
                  <a:lnTo>
                    <a:pt x="94935" y="766578"/>
                  </a:lnTo>
                  <a:lnTo>
                    <a:pt x="142014" y="773978"/>
                  </a:lnTo>
                  <a:lnTo>
                    <a:pt x="188556" y="784367"/>
                  </a:lnTo>
                  <a:lnTo>
                    <a:pt x="234353" y="797763"/>
                  </a:lnTo>
                  <a:lnTo>
                    <a:pt x="279387" y="813905"/>
                  </a:lnTo>
                  <a:lnTo>
                    <a:pt x="323246" y="832879"/>
                  </a:lnTo>
                  <a:lnTo>
                    <a:pt x="365792" y="854582"/>
                  </a:lnTo>
                  <a:lnTo>
                    <a:pt x="406887" y="878911"/>
                  </a:lnTo>
                  <a:lnTo>
                    <a:pt x="446392" y="905763"/>
                  </a:lnTo>
                  <a:lnTo>
                    <a:pt x="893521" y="290525"/>
                  </a:lnTo>
                  <a:lnTo>
                    <a:pt x="850035" y="259980"/>
                  </a:lnTo>
                  <a:lnTo>
                    <a:pt x="805531" y="231006"/>
                  </a:lnTo>
                  <a:lnTo>
                    <a:pt x="760054" y="203628"/>
                  </a:lnTo>
                  <a:lnTo>
                    <a:pt x="713653" y="177867"/>
                  </a:lnTo>
                  <a:lnTo>
                    <a:pt x="666375" y="153749"/>
                  </a:lnTo>
                  <a:lnTo>
                    <a:pt x="618267" y="131296"/>
                  </a:lnTo>
                  <a:lnTo>
                    <a:pt x="569378" y="110532"/>
                  </a:lnTo>
                  <a:lnTo>
                    <a:pt x="519754" y="91482"/>
                  </a:lnTo>
                  <a:lnTo>
                    <a:pt x="469442" y="74167"/>
                  </a:lnTo>
                  <a:lnTo>
                    <a:pt x="418664" y="58633"/>
                  </a:lnTo>
                  <a:lnTo>
                    <a:pt x="367409" y="44914"/>
                  </a:lnTo>
                  <a:lnTo>
                    <a:pt x="315734" y="33016"/>
                  </a:lnTo>
                  <a:lnTo>
                    <a:pt x="263694" y="22940"/>
                  </a:lnTo>
                  <a:lnTo>
                    <a:pt x="211346" y="14689"/>
                  </a:lnTo>
                  <a:lnTo>
                    <a:pt x="158746" y="8267"/>
                  </a:lnTo>
                  <a:lnTo>
                    <a:pt x="105951" y="3676"/>
                  </a:lnTo>
                  <a:lnTo>
                    <a:pt x="53016" y="9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6682" y="1697037"/>
              <a:ext cx="894080" cy="906144"/>
            </a:xfrm>
            <a:custGeom>
              <a:avLst/>
              <a:gdLst/>
              <a:ahLst/>
              <a:cxnLst/>
              <a:rect l="l" t="t" r="r" b="b"/>
              <a:pathLst>
                <a:path w="894079" h="906144">
                  <a:moveTo>
                    <a:pt x="893521" y="290525"/>
                  </a:moveTo>
                  <a:lnTo>
                    <a:pt x="850035" y="259980"/>
                  </a:lnTo>
                  <a:lnTo>
                    <a:pt x="805531" y="231006"/>
                  </a:lnTo>
                  <a:lnTo>
                    <a:pt x="760054" y="203628"/>
                  </a:lnTo>
                  <a:lnTo>
                    <a:pt x="713653" y="177867"/>
                  </a:lnTo>
                  <a:lnTo>
                    <a:pt x="666375" y="153749"/>
                  </a:lnTo>
                  <a:lnTo>
                    <a:pt x="618267" y="131296"/>
                  </a:lnTo>
                  <a:lnTo>
                    <a:pt x="569378" y="110532"/>
                  </a:lnTo>
                  <a:lnTo>
                    <a:pt x="519754" y="91482"/>
                  </a:lnTo>
                  <a:lnTo>
                    <a:pt x="469442" y="74167"/>
                  </a:lnTo>
                  <a:lnTo>
                    <a:pt x="418664" y="58633"/>
                  </a:lnTo>
                  <a:lnTo>
                    <a:pt x="367409" y="44914"/>
                  </a:lnTo>
                  <a:lnTo>
                    <a:pt x="315734" y="33016"/>
                  </a:lnTo>
                  <a:lnTo>
                    <a:pt x="263694" y="22940"/>
                  </a:lnTo>
                  <a:lnTo>
                    <a:pt x="211346" y="14689"/>
                  </a:lnTo>
                  <a:lnTo>
                    <a:pt x="158746" y="8267"/>
                  </a:lnTo>
                  <a:lnTo>
                    <a:pt x="105951" y="3676"/>
                  </a:lnTo>
                  <a:lnTo>
                    <a:pt x="53016" y="919"/>
                  </a:lnTo>
                  <a:lnTo>
                    <a:pt x="0" y="0"/>
                  </a:lnTo>
                  <a:lnTo>
                    <a:pt x="0" y="760679"/>
                  </a:lnTo>
                  <a:lnTo>
                    <a:pt x="47527" y="762151"/>
                  </a:lnTo>
                  <a:lnTo>
                    <a:pt x="94935" y="766578"/>
                  </a:lnTo>
                  <a:lnTo>
                    <a:pt x="142014" y="773978"/>
                  </a:lnTo>
                  <a:lnTo>
                    <a:pt x="188556" y="784367"/>
                  </a:lnTo>
                  <a:lnTo>
                    <a:pt x="234353" y="797763"/>
                  </a:lnTo>
                  <a:lnTo>
                    <a:pt x="279387" y="813905"/>
                  </a:lnTo>
                  <a:lnTo>
                    <a:pt x="323246" y="832879"/>
                  </a:lnTo>
                  <a:lnTo>
                    <a:pt x="365792" y="854582"/>
                  </a:lnTo>
                  <a:lnTo>
                    <a:pt x="406887" y="878911"/>
                  </a:lnTo>
                  <a:lnTo>
                    <a:pt x="446392" y="905763"/>
                  </a:lnTo>
                  <a:lnTo>
                    <a:pt x="893521" y="290525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13074" y="1987562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447128" y="0"/>
                  </a:moveTo>
                  <a:lnTo>
                    <a:pt x="0" y="615238"/>
                  </a:lnTo>
                  <a:lnTo>
                    <a:pt x="37916" y="644511"/>
                  </a:lnTo>
                  <a:lnTo>
                    <a:pt x="73827" y="676099"/>
                  </a:lnTo>
                  <a:lnTo>
                    <a:pt x="107629" y="709899"/>
                  </a:lnTo>
                  <a:lnTo>
                    <a:pt x="139218" y="745806"/>
                  </a:lnTo>
                  <a:lnTo>
                    <a:pt x="168490" y="783717"/>
                  </a:lnTo>
                  <a:lnTo>
                    <a:pt x="195343" y="823221"/>
                  </a:lnTo>
                  <a:lnTo>
                    <a:pt x="219672" y="864316"/>
                  </a:lnTo>
                  <a:lnTo>
                    <a:pt x="241375" y="906862"/>
                  </a:lnTo>
                  <a:lnTo>
                    <a:pt x="260349" y="950722"/>
                  </a:lnTo>
                  <a:lnTo>
                    <a:pt x="276491" y="995756"/>
                  </a:lnTo>
                  <a:lnTo>
                    <a:pt x="1000086" y="760679"/>
                  </a:lnTo>
                  <a:lnTo>
                    <a:pt x="982768" y="710367"/>
                  </a:lnTo>
                  <a:lnTo>
                    <a:pt x="963715" y="660743"/>
                  </a:lnTo>
                  <a:lnTo>
                    <a:pt x="942950" y="611854"/>
                  </a:lnTo>
                  <a:lnTo>
                    <a:pt x="920496" y="563746"/>
                  </a:lnTo>
                  <a:lnTo>
                    <a:pt x="896377" y="516468"/>
                  </a:lnTo>
                  <a:lnTo>
                    <a:pt x="870618" y="470067"/>
                  </a:lnTo>
                  <a:lnTo>
                    <a:pt x="843241" y="424590"/>
                  </a:lnTo>
                  <a:lnTo>
                    <a:pt x="814270" y="380086"/>
                  </a:lnTo>
                  <a:lnTo>
                    <a:pt x="783729" y="336600"/>
                  </a:lnTo>
                  <a:lnTo>
                    <a:pt x="751789" y="294098"/>
                  </a:lnTo>
                  <a:lnTo>
                    <a:pt x="718394" y="252782"/>
                  </a:lnTo>
                  <a:lnTo>
                    <a:pt x="683582" y="212690"/>
                  </a:lnTo>
                  <a:lnTo>
                    <a:pt x="647392" y="173861"/>
                  </a:lnTo>
                  <a:lnTo>
                    <a:pt x="609863" y="136333"/>
                  </a:lnTo>
                  <a:lnTo>
                    <a:pt x="571033" y="100144"/>
                  </a:lnTo>
                  <a:lnTo>
                    <a:pt x="530942" y="65334"/>
                  </a:lnTo>
                  <a:lnTo>
                    <a:pt x="489627" y="31939"/>
                  </a:lnTo>
                  <a:lnTo>
                    <a:pt x="447128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13074" y="1987562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1000086" y="760679"/>
                  </a:moveTo>
                  <a:lnTo>
                    <a:pt x="982768" y="710367"/>
                  </a:lnTo>
                  <a:lnTo>
                    <a:pt x="963715" y="660743"/>
                  </a:lnTo>
                  <a:lnTo>
                    <a:pt x="942950" y="611854"/>
                  </a:lnTo>
                  <a:lnTo>
                    <a:pt x="920496" y="563746"/>
                  </a:lnTo>
                  <a:lnTo>
                    <a:pt x="896377" y="516468"/>
                  </a:lnTo>
                  <a:lnTo>
                    <a:pt x="870618" y="470067"/>
                  </a:lnTo>
                  <a:lnTo>
                    <a:pt x="843241" y="424590"/>
                  </a:lnTo>
                  <a:lnTo>
                    <a:pt x="814270" y="380086"/>
                  </a:lnTo>
                  <a:lnTo>
                    <a:pt x="783729" y="336600"/>
                  </a:lnTo>
                  <a:lnTo>
                    <a:pt x="751789" y="294098"/>
                  </a:lnTo>
                  <a:lnTo>
                    <a:pt x="718394" y="252782"/>
                  </a:lnTo>
                  <a:lnTo>
                    <a:pt x="683582" y="212690"/>
                  </a:lnTo>
                  <a:lnTo>
                    <a:pt x="647392" y="173861"/>
                  </a:lnTo>
                  <a:lnTo>
                    <a:pt x="609863" y="136333"/>
                  </a:lnTo>
                  <a:lnTo>
                    <a:pt x="571033" y="100144"/>
                  </a:lnTo>
                  <a:lnTo>
                    <a:pt x="530942" y="65334"/>
                  </a:lnTo>
                  <a:lnTo>
                    <a:pt x="489627" y="31939"/>
                  </a:lnTo>
                  <a:lnTo>
                    <a:pt x="447128" y="0"/>
                  </a:lnTo>
                  <a:lnTo>
                    <a:pt x="0" y="615238"/>
                  </a:lnTo>
                  <a:lnTo>
                    <a:pt x="37916" y="644511"/>
                  </a:lnTo>
                  <a:lnTo>
                    <a:pt x="73827" y="676099"/>
                  </a:lnTo>
                  <a:lnTo>
                    <a:pt x="107629" y="709899"/>
                  </a:lnTo>
                  <a:lnTo>
                    <a:pt x="139218" y="745806"/>
                  </a:lnTo>
                  <a:lnTo>
                    <a:pt x="168490" y="783717"/>
                  </a:lnTo>
                  <a:lnTo>
                    <a:pt x="195343" y="823221"/>
                  </a:lnTo>
                  <a:lnTo>
                    <a:pt x="219672" y="864316"/>
                  </a:lnTo>
                  <a:lnTo>
                    <a:pt x="241375" y="906862"/>
                  </a:lnTo>
                  <a:lnTo>
                    <a:pt x="260349" y="950722"/>
                  </a:lnTo>
                  <a:lnTo>
                    <a:pt x="276491" y="995756"/>
                  </a:lnTo>
                  <a:lnTo>
                    <a:pt x="1000086" y="760679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889566" y="2748241"/>
              <a:ext cx="798195" cy="939800"/>
            </a:xfrm>
            <a:custGeom>
              <a:avLst/>
              <a:gdLst/>
              <a:ahLst/>
              <a:cxnLst/>
              <a:rect l="l" t="t" r="r" b="b"/>
              <a:pathLst>
                <a:path w="798195" h="939800">
                  <a:moveTo>
                    <a:pt x="723595" y="0"/>
                  </a:moveTo>
                  <a:lnTo>
                    <a:pt x="0" y="235076"/>
                  </a:lnTo>
                  <a:lnTo>
                    <a:pt x="13427" y="280881"/>
                  </a:lnTo>
                  <a:lnTo>
                    <a:pt x="23904" y="327444"/>
                  </a:lnTo>
                  <a:lnTo>
                    <a:pt x="31411" y="374577"/>
                  </a:lnTo>
                  <a:lnTo>
                    <a:pt x="35929" y="422092"/>
                  </a:lnTo>
                  <a:lnTo>
                    <a:pt x="37439" y="469798"/>
                  </a:lnTo>
                  <a:lnTo>
                    <a:pt x="35929" y="517504"/>
                  </a:lnTo>
                  <a:lnTo>
                    <a:pt x="31411" y="565018"/>
                  </a:lnTo>
                  <a:lnTo>
                    <a:pt x="23904" y="612152"/>
                  </a:lnTo>
                  <a:lnTo>
                    <a:pt x="13427" y="658715"/>
                  </a:lnTo>
                  <a:lnTo>
                    <a:pt x="0" y="704519"/>
                  </a:lnTo>
                  <a:lnTo>
                    <a:pt x="723595" y="939596"/>
                  </a:lnTo>
                  <a:lnTo>
                    <a:pt x="739138" y="888818"/>
                  </a:lnTo>
                  <a:lnTo>
                    <a:pt x="752888" y="837560"/>
                  </a:lnTo>
                  <a:lnTo>
                    <a:pt x="764833" y="785875"/>
                  </a:lnTo>
                  <a:lnTo>
                    <a:pt x="774966" y="733816"/>
                  </a:lnTo>
                  <a:lnTo>
                    <a:pt x="783276" y="681439"/>
                  </a:lnTo>
                  <a:lnTo>
                    <a:pt x="789756" y="628794"/>
                  </a:lnTo>
                  <a:lnTo>
                    <a:pt x="794396" y="575937"/>
                  </a:lnTo>
                  <a:lnTo>
                    <a:pt x="797186" y="522921"/>
                  </a:lnTo>
                  <a:lnTo>
                    <a:pt x="798118" y="469798"/>
                  </a:lnTo>
                  <a:lnTo>
                    <a:pt x="797186" y="416672"/>
                  </a:lnTo>
                  <a:lnTo>
                    <a:pt x="794396" y="363653"/>
                  </a:lnTo>
                  <a:lnTo>
                    <a:pt x="789756" y="310796"/>
                  </a:lnTo>
                  <a:lnTo>
                    <a:pt x="783276" y="258152"/>
                  </a:lnTo>
                  <a:lnTo>
                    <a:pt x="774966" y="205775"/>
                  </a:lnTo>
                  <a:lnTo>
                    <a:pt x="764833" y="153718"/>
                  </a:lnTo>
                  <a:lnTo>
                    <a:pt x="752888" y="102035"/>
                  </a:lnTo>
                  <a:lnTo>
                    <a:pt x="739138" y="50777"/>
                  </a:lnTo>
                  <a:lnTo>
                    <a:pt x="723595" y="0"/>
                  </a:lnTo>
                  <a:close/>
                </a:path>
              </a:pathLst>
            </a:custGeom>
            <a:solidFill>
              <a:srgbClr val="F1B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89566" y="2748241"/>
              <a:ext cx="798195" cy="939800"/>
            </a:xfrm>
            <a:custGeom>
              <a:avLst/>
              <a:gdLst/>
              <a:ahLst/>
              <a:cxnLst/>
              <a:rect l="l" t="t" r="r" b="b"/>
              <a:pathLst>
                <a:path w="798195" h="939800">
                  <a:moveTo>
                    <a:pt x="723595" y="939596"/>
                  </a:moveTo>
                  <a:lnTo>
                    <a:pt x="739138" y="888818"/>
                  </a:lnTo>
                  <a:lnTo>
                    <a:pt x="752888" y="837560"/>
                  </a:lnTo>
                  <a:lnTo>
                    <a:pt x="764833" y="785875"/>
                  </a:lnTo>
                  <a:lnTo>
                    <a:pt x="774966" y="733816"/>
                  </a:lnTo>
                  <a:lnTo>
                    <a:pt x="783276" y="681439"/>
                  </a:lnTo>
                  <a:lnTo>
                    <a:pt x="789756" y="628794"/>
                  </a:lnTo>
                  <a:lnTo>
                    <a:pt x="794396" y="575937"/>
                  </a:lnTo>
                  <a:lnTo>
                    <a:pt x="797186" y="522921"/>
                  </a:lnTo>
                  <a:lnTo>
                    <a:pt x="798118" y="469798"/>
                  </a:lnTo>
                  <a:lnTo>
                    <a:pt x="797186" y="416672"/>
                  </a:lnTo>
                  <a:lnTo>
                    <a:pt x="794396" y="363653"/>
                  </a:lnTo>
                  <a:lnTo>
                    <a:pt x="789756" y="310796"/>
                  </a:lnTo>
                  <a:lnTo>
                    <a:pt x="783276" y="258152"/>
                  </a:lnTo>
                  <a:lnTo>
                    <a:pt x="774966" y="205775"/>
                  </a:lnTo>
                  <a:lnTo>
                    <a:pt x="764833" y="153718"/>
                  </a:lnTo>
                  <a:lnTo>
                    <a:pt x="752888" y="102035"/>
                  </a:lnTo>
                  <a:lnTo>
                    <a:pt x="739138" y="50777"/>
                  </a:lnTo>
                  <a:lnTo>
                    <a:pt x="723595" y="0"/>
                  </a:lnTo>
                  <a:lnTo>
                    <a:pt x="0" y="235076"/>
                  </a:lnTo>
                  <a:lnTo>
                    <a:pt x="13427" y="280881"/>
                  </a:lnTo>
                  <a:lnTo>
                    <a:pt x="23904" y="327444"/>
                  </a:lnTo>
                  <a:lnTo>
                    <a:pt x="31411" y="374577"/>
                  </a:lnTo>
                  <a:lnTo>
                    <a:pt x="35929" y="422092"/>
                  </a:lnTo>
                  <a:lnTo>
                    <a:pt x="37439" y="469798"/>
                  </a:lnTo>
                  <a:lnTo>
                    <a:pt x="35929" y="517504"/>
                  </a:lnTo>
                  <a:lnTo>
                    <a:pt x="31411" y="565018"/>
                  </a:lnTo>
                  <a:lnTo>
                    <a:pt x="23904" y="612152"/>
                  </a:lnTo>
                  <a:lnTo>
                    <a:pt x="13427" y="658715"/>
                  </a:lnTo>
                  <a:lnTo>
                    <a:pt x="0" y="704519"/>
                  </a:lnTo>
                  <a:lnTo>
                    <a:pt x="723595" y="939596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13074" y="3452761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276491" y="0"/>
                  </a:moveTo>
                  <a:lnTo>
                    <a:pt x="260349" y="45033"/>
                  </a:lnTo>
                  <a:lnTo>
                    <a:pt x="241375" y="88893"/>
                  </a:lnTo>
                  <a:lnTo>
                    <a:pt x="219672" y="131439"/>
                  </a:lnTo>
                  <a:lnTo>
                    <a:pt x="195343" y="172534"/>
                  </a:lnTo>
                  <a:lnTo>
                    <a:pt x="168490" y="212039"/>
                  </a:lnTo>
                  <a:lnTo>
                    <a:pt x="139218" y="249949"/>
                  </a:lnTo>
                  <a:lnTo>
                    <a:pt x="107629" y="285856"/>
                  </a:lnTo>
                  <a:lnTo>
                    <a:pt x="73827" y="319656"/>
                  </a:lnTo>
                  <a:lnTo>
                    <a:pt x="37916" y="351245"/>
                  </a:lnTo>
                  <a:lnTo>
                    <a:pt x="0" y="380517"/>
                  </a:lnTo>
                  <a:lnTo>
                    <a:pt x="447128" y="995756"/>
                  </a:lnTo>
                  <a:lnTo>
                    <a:pt x="489627" y="963816"/>
                  </a:lnTo>
                  <a:lnTo>
                    <a:pt x="530942" y="930422"/>
                  </a:lnTo>
                  <a:lnTo>
                    <a:pt x="571033" y="895611"/>
                  </a:lnTo>
                  <a:lnTo>
                    <a:pt x="609863" y="859423"/>
                  </a:lnTo>
                  <a:lnTo>
                    <a:pt x="647392" y="821895"/>
                  </a:lnTo>
                  <a:lnTo>
                    <a:pt x="683582" y="783066"/>
                  </a:lnTo>
                  <a:lnTo>
                    <a:pt x="718394" y="742974"/>
                  </a:lnTo>
                  <a:lnTo>
                    <a:pt x="751789" y="701657"/>
                  </a:lnTo>
                  <a:lnTo>
                    <a:pt x="783729" y="659155"/>
                  </a:lnTo>
                  <a:lnTo>
                    <a:pt x="814270" y="615670"/>
                  </a:lnTo>
                  <a:lnTo>
                    <a:pt x="843241" y="571165"/>
                  </a:lnTo>
                  <a:lnTo>
                    <a:pt x="870618" y="525688"/>
                  </a:lnTo>
                  <a:lnTo>
                    <a:pt x="896377" y="479287"/>
                  </a:lnTo>
                  <a:lnTo>
                    <a:pt x="920496" y="432009"/>
                  </a:lnTo>
                  <a:lnTo>
                    <a:pt x="942950" y="383902"/>
                  </a:lnTo>
                  <a:lnTo>
                    <a:pt x="963715" y="335012"/>
                  </a:lnTo>
                  <a:lnTo>
                    <a:pt x="982768" y="285388"/>
                  </a:lnTo>
                  <a:lnTo>
                    <a:pt x="1000086" y="235077"/>
                  </a:lnTo>
                  <a:lnTo>
                    <a:pt x="276491" y="0"/>
                  </a:lnTo>
                  <a:close/>
                </a:path>
              </a:pathLst>
            </a:custGeom>
            <a:solidFill>
              <a:srgbClr val="EE6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13074" y="3452761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447128" y="995756"/>
                  </a:moveTo>
                  <a:lnTo>
                    <a:pt x="489627" y="963816"/>
                  </a:lnTo>
                  <a:lnTo>
                    <a:pt x="530942" y="930422"/>
                  </a:lnTo>
                  <a:lnTo>
                    <a:pt x="571033" y="895611"/>
                  </a:lnTo>
                  <a:lnTo>
                    <a:pt x="609863" y="859423"/>
                  </a:lnTo>
                  <a:lnTo>
                    <a:pt x="647392" y="821895"/>
                  </a:lnTo>
                  <a:lnTo>
                    <a:pt x="683582" y="783066"/>
                  </a:lnTo>
                  <a:lnTo>
                    <a:pt x="718394" y="742974"/>
                  </a:lnTo>
                  <a:lnTo>
                    <a:pt x="751789" y="701657"/>
                  </a:lnTo>
                  <a:lnTo>
                    <a:pt x="783729" y="659155"/>
                  </a:lnTo>
                  <a:lnTo>
                    <a:pt x="814270" y="615670"/>
                  </a:lnTo>
                  <a:lnTo>
                    <a:pt x="843241" y="571165"/>
                  </a:lnTo>
                  <a:lnTo>
                    <a:pt x="870618" y="525688"/>
                  </a:lnTo>
                  <a:lnTo>
                    <a:pt x="896377" y="479287"/>
                  </a:lnTo>
                  <a:lnTo>
                    <a:pt x="920496" y="432009"/>
                  </a:lnTo>
                  <a:lnTo>
                    <a:pt x="942950" y="383902"/>
                  </a:lnTo>
                  <a:lnTo>
                    <a:pt x="963715" y="335012"/>
                  </a:lnTo>
                  <a:lnTo>
                    <a:pt x="982768" y="285388"/>
                  </a:lnTo>
                  <a:lnTo>
                    <a:pt x="1000086" y="235077"/>
                  </a:lnTo>
                  <a:lnTo>
                    <a:pt x="276491" y="0"/>
                  </a:lnTo>
                  <a:lnTo>
                    <a:pt x="260349" y="45033"/>
                  </a:lnTo>
                  <a:lnTo>
                    <a:pt x="241375" y="88893"/>
                  </a:lnTo>
                  <a:lnTo>
                    <a:pt x="219672" y="131439"/>
                  </a:lnTo>
                  <a:lnTo>
                    <a:pt x="195343" y="172534"/>
                  </a:lnTo>
                  <a:lnTo>
                    <a:pt x="168490" y="212039"/>
                  </a:lnTo>
                  <a:lnTo>
                    <a:pt x="139218" y="249949"/>
                  </a:lnTo>
                  <a:lnTo>
                    <a:pt x="107629" y="285856"/>
                  </a:lnTo>
                  <a:lnTo>
                    <a:pt x="73827" y="319656"/>
                  </a:lnTo>
                  <a:lnTo>
                    <a:pt x="37916" y="351245"/>
                  </a:lnTo>
                  <a:lnTo>
                    <a:pt x="0" y="380517"/>
                  </a:lnTo>
                  <a:lnTo>
                    <a:pt x="447128" y="995756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66313" y="3833279"/>
              <a:ext cx="894080" cy="906144"/>
            </a:xfrm>
            <a:custGeom>
              <a:avLst/>
              <a:gdLst/>
              <a:ahLst/>
              <a:cxnLst/>
              <a:rect l="l" t="t" r="r" b="b"/>
              <a:pathLst>
                <a:path w="894079" h="906145">
                  <a:moveTo>
                    <a:pt x="446760" y="0"/>
                  </a:moveTo>
                  <a:lnTo>
                    <a:pt x="407255" y="26852"/>
                  </a:lnTo>
                  <a:lnTo>
                    <a:pt x="366160" y="51181"/>
                  </a:lnTo>
                  <a:lnTo>
                    <a:pt x="323614" y="72884"/>
                  </a:lnTo>
                  <a:lnTo>
                    <a:pt x="279755" y="91858"/>
                  </a:lnTo>
                  <a:lnTo>
                    <a:pt x="234721" y="108000"/>
                  </a:lnTo>
                  <a:lnTo>
                    <a:pt x="188924" y="121433"/>
                  </a:lnTo>
                  <a:lnTo>
                    <a:pt x="142382" y="131910"/>
                  </a:lnTo>
                  <a:lnTo>
                    <a:pt x="95303" y="139415"/>
                  </a:lnTo>
                  <a:lnTo>
                    <a:pt x="47896" y="143931"/>
                  </a:lnTo>
                  <a:lnTo>
                    <a:pt x="368" y="145440"/>
                  </a:lnTo>
                  <a:lnTo>
                    <a:pt x="0" y="906119"/>
                  </a:lnTo>
                  <a:lnTo>
                    <a:pt x="53126" y="905187"/>
                  </a:lnTo>
                  <a:lnTo>
                    <a:pt x="106146" y="902398"/>
                  </a:lnTo>
                  <a:lnTo>
                    <a:pt x="159005" y="897760"/>
                  </a:lnTo>
                  <a:lnTo>
                    <a:pt x="211651" y="891281"/>
                  </a:lnTo>
                  <a:lnTo>
                    <a:pt x="264030" y="882972"/>
                  </a:lnTo>
                  <a:lnTo>
                    <a:pt x="316088" y="872839"/>
                  </a:lnTo>
                  <a:lnTo>
                    <a:pt x="367774" y="860894"/>
                  </a:lnTo>
                  <a:lnTo>
                    <a:pt x="419032" y="847143"/>
                  </a:lnTo>
                  <a:lnTo>
                    <a:pt x="469811" y="831596"/>
                  </a:lnTo>
                  <a:lnTo>
                    <a:pt x="520122" y="814281"/>
                  </a:lnTo>
                  <a:lnTo>
                    <a:pt x="569746" y="795231"/>
                  </a:lnTo>
                  <a:lnTo>
                    <a:pt x="618636" y="774467"/>
                  </a:lnTo>
                  <a:lnTo>
                    <a:pt x="666743" y="752014"/>
                  </a:lnTo>
                  <a:lnTo>
                    <a:pt x="714021" y="727896"/>
                  </a:lnTo>
                  <a:lnTo>
                    <a:pt x="760422" y="702135"/>
                  </a:lnTo>
                  <a:lnTo>
                    <a:pt x="805899" y="674757"/>
                  </a:lnTo>
                  <a:lnTo>
                    <a:pt x="850404" y="645783"/>
                  </a:lnTo>
                  <a:lnTo>
                    <a:pt x="893889" y="615238"/>
                  </a:lnTo>
                  <a:lnTo>
                    <a:pt x="446760" y="0"/>
                  </a:lnTo>
                  <a:close/>
                </a:path>
              </a:pathLst>
            </a:custGeom>
            <a:solidFill>
              <a:srgbClr val="9A7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6313" y="3833279"/>
              <a:ext cx="894080" cy="906144"/>
            </a:xfrm>
            <a:custGeom>
              <a:avLst/>
              <a:gdLst/>
              <a:ahLst/>
              <a:cxnLst/>
              <a:rect l="l" t="t" r="r" b="b"/>
              <a:pathLst>
                <a:path w="894079" h="906145">
                  <a:moveTo>
                    <a:pt x="0" y="906119"/>
                  </a:moveTo>
                  <a:lnTo>
                    <a:pt x="53126" y="905187"/>
                  </a:lnTo>
                  <a:lnTo>
                    <a:pt x="106146" y="902398"/>
                  </a:lnTo>
                  <a:lnTo>
                    <a:pt x="159005" y="897760"/>
                  </a:lnTo>
                  <a:lnTo>
                    <a:pt x="211651" y="891281"/>
                  </a:lnTo>
                  <a:lnTo>
                    <a:pt x="264030" y="882972"/>
                  </a:lnTo>
                  <a:lnTo>
                    <a:pt x="316088" y="872839"/>
                  </a:lnTo>
                  <a:lnTo>
                    <a:pt x="367774" y="860894"/>
                  </a:lnTo>
                  <a:lnTo>
                    <a:pt x="419032" y="847143"/>
                  </a:lnTo>
                  <a:lnTo>
                    <a:pt x="469811" y="831596"/>
                  </a:lnTo>
                  <a:lnTo>
                    <a:pt x="520122" y="814281"/>
                  </a:lnTo>
                  <a:lnTo>
                    <a:pt x="569746" y="795231"/>
                  </a:lnTo>
                  <a:lnTo>
                    <a:pt x="618636" y="774467"/>
                  </a:lnTo>
                  <a:lnTo>
                    <a:pt x="666743" y="752014"/>
                  </a:lnTo>
                  <a:lnTo>
                    <a:pt x="714021" y="727896"/>
                  </a:lnTo>
                  <a:lnTo>
                    <a:pt x="760422" y="702135"/>
                  </a:lnTo>
                  <a:lnTo>
                    <a:pt x="805899" y="674757"/>
                  </a:lnTo>
                  <a:lnTo>
                    <a:pt x="850404" y="645783"/>
                  </a:lnTo>
                  <a:lnTo>
                    <a:pt x="893889" y="615238"/>
                  </a:lnTo>
                  <a:lnTo>
                    <a:pt x="446760" y="0"/>
                  </a:lnTo>
                  <a:lnTo>
                    <a:pt x="407255" y="26852"/>
                  </a:lnTo>
                  <a:lnTo>
                    <a:pt x="366160" y="51181"/>
                  </a:lnTo>
                  <a:lnTo>
                    <a:pt x="323614" y="72884"/>
                  </a:lnTo>
                  <a:lnTo>
                    <a:pt x="279755" y="91858"/>
                  </a:lnTo>
                  <a:lnTo>
                    <a:pt x="234721" y="108000"/>
                  </a:lnTo>
                  <a:lnTo>
                    <a:pt x="188924" y="121433"/>
                  </a:lnTo>
                  <a:lnTo>
                    <a:pt x="142382" y="131910"/>
                  </a:lnTo>
                  <a:lnTo>
                    <a:pt x="95303" y="139415"/>
                  </a:lnTo>
                  <a:lnTo>
                    <a:pt x="47896" y="143931"/>
                  </a:lnTo>
                  <a:lnTo>
                    <a:pt x="368" y="145440"/>
                  </a:lnTo>
                  <a:lnTo>
                    <a:pt x="0" y="906119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72437" y="3833279"/>
              <a:ext cx="894715" cy="906144"/>
            </a:xfrm>
            <a:custGeom>
              <a:avLst/>
              <a:gdLst/>
              <a:ahLst/>
              <a:cxnLst/>
              <a:rect l="l" t="t" r="r" b="b"/>
              <a:pathLst>
                <a:path w="894715" h="906145">
                  <a:moveTo>
                    <a:pt x="447128" y="0"/>
                  </a:moveTo>
                  <a:lnTo>
                    <a:pt x="0" y="615238"/>
                  </a:lnTo>
                  <a:lnTo>
                    <a:pt x="43485" y="645783"/>
                  </a:lnTo>
                  <a:lnTo>
                    <a:pt x="87990" y="674757"/>
                  </a:lnTo>
                  <a:lnTo>
                    <a:pt x="133466" y="702135"/>
                  </a:lnTo>
                  <a:lnTo>
                    <a:pt x="179867" y="727896"/>
                  </a:lnTo>
                  <a:lnTo>
                    <a:pt x="227145" y="752014"/>
                  </a:lnTo>
                  <a:lnTo>
                    <a:pt x="275253" y="774467"/>
                  </a:lnTo>
                  <a:lnTo>
                    <a:pt x="324142" y="795231"/>
                  </a:lnTo>
                  <a:lnTo>
                    <a:pt x="373767" y="814281"/>
                  </a:lnTo>
                  <a:lnTo>
                    <a:pt x="424078" y="831596"/>
                  </a:lnTo>
                  <a:lnTo>
                    <a:pt x="474856" y="847143"/>
                  </a:lnTo>
                  <a:lnTo>
                    <a:pt x="526115" y="860894"/>
                  </a:lnTo>
                  <a:lnTo>
                    <a:pt x="577800" y="872839"/>
                  </a:lnTo>
                  <a:lnTo>
                    <a:pt x="629858" y="882972"/>
                  </a:lnTo>
                  <a:lnTo>
                    <a:pt x="682236" y="891281"/>
                  </a:lnTo>
                  <a:lnTo>
                    <a:pt x="734880" y="897760"/>
                  </a:lnTo>
                  <a:lnTo>
                    <a:pt x="787737" y="902398"/>
                  </a:lnTo>
                  <a:lnTo>
                    <a:pt x="840754" y="905187"/>
                  </a:lnTo>
                  <a:lnTo>
                    <a:pt x="893876" y="906119"/>
                  </a:lnTo>
                  <a:lnTo>
                    <a:pt x="894245" y="145440"/>
                  </a:lnTo>
                  <a:lnTo>
                    <a:pt x="846364" y="143931"/>
                  </a:lnTo>
                  <a:lnTo>
                    <a:pt x="798742" y="139415"/>
                  </a:lnTo>
                  <a:lnTo>
                    <a:pt x="751552" y="131910"/>
                  </a:lnTo>
                  <a:lnTo>
                    <a:pt x="704970" y="121433"/>
                  </a:lnTo>
                  <a:lnTo>
                    <a:pt x="659168" y="108000"/>
                  </a:lnTo>
                  <a:lnTo>
                    <a:pt x="614129" y="91858"/>
                  </a:lnTo>
                  <a:lnTo>
                    <a:pt x="570269" y="72884"/>
                  </a:lnTo>
                  <a:lnTo>
                    <a:pt x="527724" y="51181"/>
                  </a:lnTo>
                  <a:lnTo>
                    <a:pt x="486632" y="26852"/>
                  </a:lnTo>
                  <a:lnTo>
                    <a:pt x="447128" y="0"/>
                  </a:lnTo>
                  <a:close/>
                </a:path>
              </a:pathLst>
            </a:custGeom>
            <a:solidFill>
              <a:srgbClr val="3EA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72437" y="3833279"/>
              <a:ext cx="894715" cy="906144"/>
            </a:xfrm>
            <a:custGeom>
              <a:avLst/>
              <a:gdLst/>
              <a:ahLst/>
              <a:cxnLst/>
              <a:rect l="l" t="t" r="r" b="b"/>
              <a:pathLst>
                <a:path w="894715" h="906145">
                  <a:moveTo>
                    <a:pt x="0" y="615238"/>
                  </a:moveTo>
                  <a:lnTo>
                    <a:pt x="43485" y="645783"/>
                  </a:lnTo>
                  <a:lnTo>
                    <a:pt x="87990" y="674757"/>
                  </a:lnTo>
                  <a:lnTo>
                    <a:pt x="133466" y="702135"/>
                  </a:lnTo>
                  <a:lnTo>
                    <a:pt x="179867" y="727896"/>
                  </a:lnTo>
                  <a:lnTo>
                    <a:pt x="227145" y="752014"/>
                  </a:lnTo>
                  <a:lnTo>
                    <a:pt x="275253" y="774467"/>
                  </a:lnTo>
                  <a:lnTo>
                    <a:pt x="324142" y="795231"/>
                  </a:lnTo>
                  <a:lnTo>
                    <a:pt x="373767" y="814281"/>
                  </a:lnTo>
                  <a:lnTo>
                    <a:pt x="424078" y="831596"/>
                  </a:lnTo>
                  <a:lnTo>
                    <a:pt x="474856" y="847143"/>
                  </a:lnTo>
                  <a:lnTo>
                    <a:pt x="526115" y="860894"/>
                  </a:lnTo>
                  <a:lnTo>
                    <a:pt x="577800" y="872839"/>
                  </a:lnTo>
                  <a:lnTo>
                    <a:pt x="629858" y="882972"/>
                  </a:lnTo>
                  <a:lnTo>
                    <a:pt x="682236" y="891281"/>
                  </a:lnTo>
                  <a:lnTo>
                    <a:pt x="734880" y="897760"/>
                  </a:lnTo>
                  <a:lnTo>
                    <a:pt x="787737" y="902398"/>
                  </a:lnTo>
                  <a:lnTo>
                    <a:pt x="840754" y="905187"/>
                  </a:lnTo>
                  <a:lnTo>
                    <a:pt x="893876" y="906119"/>
                  </a:lnTo>
                  <a:lnTo>
                    <a:pt x="894245" y="145440"/>
                  </a:lnTo>
                  <a:lnTo>
                    <a:pt x="846364" y="143931"/>
                  </a:lnTo>
                  <a:lnTo>
                    <a:pt x="798742" y="139415"/>
                  </a:lnTo>
                  <a:lnTo>
                    <a:pt x="751552" y="131910"/>
                  </a:lnTo>
                  <a:lnTo>
                    <a:pt x="704970" y="121433"/>
                  </a:lnTo>
                  <a:lnTo>
                    <a:pt x="659168" y="108000"/>
                  </a:lnTo>
                  <a:lnTo>
                    <a:pt x="614129" y="91858"/>
                  </a:lnTo>
                  <a:lnTo>
                    <a:pt x="570269" y="72884"/>
                  </a:lnTo>
                  <a:lnTo>
                    <a:pt x="527724" y="51181"/>
                  </a:lnTo>
                  <a:lnTo>
                    <a:pt x="486632" y="26852"/>
                  </a:lnTo>
                  <a:lnTo>
                    <a:pt x="447128" y="0"/>
                  </a:lnTo>
                  <a:lnTo>
                    <a:pt x="0" y="615238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19479" y="3452761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723595" y="0"/>
                  </a:moveTo>
                  <a:lnTo>
                    <a:pt x="0" y="235077"/>
                  </a:lnTo>
                  <a:lnTo>
                    <a:pt x="17317" y="285388"/>
                  </a:lnTo>
                  <a:lnTo>
                    <a:pt x="36371" y="335012"/>
                  </a:lnTo>
                  <a:lnTo>
                    <a:pt x="57136" y="383902"/>
                  </a:lnTo>
                  <a:lnTo>
                    <a:pt x="79590" y="432009"/>
                  </a:lnTo>
                  <a:lnTo>
                    <a:pt x="103709" y="479287"/>
                  </a:lnTo>
                  <a:lnTo>
                    <a:pt x="129468" y="525688"/>
                  </a:lnTo>
                  <a:lnTo>
                    <a:pt x="156845" y="571165"/>
                  </a:lnTo>
                  <a:lnTo>
                    <a:pt x="185816" y="615670"/>
                  </a:lnTo>
                  <a:lnTo>
                    <a:pt x="216357" y="659155"/>
                  </a:lnTo>
                  <a:lnTo>
                    <a:pt x="248297" y="701657"/>
                  </a:lnTo>
                  <a:lnTo>
                    <a:pt x="281692" y="742974"/>
                  </a:lnTo>
                  <a:lnTo>
                    <a:pt x="316504" y="783066"/>
                  </a:lnTo>
                  <a:lnTo>
                    <a:pt x="352694" y="821895"/>
                  </a:lnTo>
                  <a:lnTo>
                    <a:pt x="390223" y="859423"/>
                  </a:lnTo>
                  <a:lnTo>
                    <a:pt x="429053" y="895611"/>
                  </a:lnTo>
                  <a:lnTo>
                    <a:pt x="469144" y="930422"/>
                  </a:lnTo>
                  <a:lnTo>
                    <a:pt x="510458" y="963816"/>
                  </a:lnTo>
                  <a:lnTo>
                    <a:pt x="552958" y="995756"/>
                  </a:lnTo>
                  <a:lnTo>
                    <a:pt x="1000086" y="380517"/>
                  </a:lnTo>
                  <a:lnTo>
                    <a:pt x="962170" y="351245"/>
                  </a:lnTo>
                  <a:lnTo>
                    <a:pt x="926259" y="319656"/>
                  </a:lnTo>
                  <a:lnTo>
                    <a:pt x="892457" y="285856"/>
                  </a:lnTo>
                  <a:lnTo>
                    <a:pt x="860868" y="249949"/>
                  </a:lnTo>
                  <a:lnTo>
                    <a:pt x="831596" y="212039"/>
                  </a:lnTo>
                  <a:lnTo>
                    <a:pt x="804743" y="172534"/>
                  </a:lnTo>
                  <a:lnTo>
                    <a:pt x="780414" y="131439"/>
                  </a:lnTo>
                  <a:lnTo>
                    <a:pt x="758711" y="88893"/>
                  </a:lnTo>
                  <a:lnTo>
                    <a:pt x="739737" y="45033"/>
                  </a:lnTo>
                  <a:lnTo>
                    <a:pt x="723595" y="0"/>
                  </a:lnTo>
                  <a:close/>
                </a:path>
              </a:pathLst>
            </a:custGeom>
            <a:solidFill>
              <a:srgbClr val="6ECE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19479" y="3452761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0" y="235077"/>
                  </a:moveTo>
                  <a:lnTo>
                    <a:pt x="17317" y="285388"/>
                  </a:lnTo>
                  <a:lnTo>
                    <a:pt x="36371" y="335012"/>
                  </a:lnTo>
                  <a:lnTo>
                    <a:pt x="57136" y="383902"/>
                  </a:lnTo>
                  <a:lnTo>
                    <a:pt x="79590" y="432009"/>
                  </a:lnTo>
                  <a:lnTo>
                    <a:pt x="103709" y="479287"/>
                  </a:lnTo>
                  <a:lnTo>
                    <a:pt x="129468" y="525688"/>
                  </a:lnTo>
                  <a:lnTo>
                    <a:pt x="156845" y="571165"/>
                  </a:lnTo>
                  <a:lnTo>
                    <a:pt x="185816" y="615670"/>
                  </a:lnTo>
                  <a:lnTo>
                    <a:pt x="216357" y="659155"/>
                  </a:lnTo>
                  <a:lnTo>
                    <a:pt x="248297" y="701657"/>
                  </a:lnTo>
                  <a:lnTo>
                    <a:pt x="281692" y="742974"/>
                  </a:lnTo>
                  <a:lnTo>
                    <a:pt x="316504" y="783066"/>
                  </a:lnTo>
                  <a:lnTo>
                    <a:pt x="352694" y="821895"/>
                  </a:lnTo>
                  <a:lnTo>
                    <a:pt x="390223" y="859423"/>
                  </a:lnTo>
                  <a:lnTo>
                    <a:pt x="429053" y="895611"/>
                  </a:lnTo>
                  <a:lnTo>
                    <a:pt x="469144" y="930422"/>
                  </a:lnTo>
                  <a:lnTo>
                    <a:pt x="510458" y="963816"/>
                  </a:lnTo>
                  <a:lnTo>
                    <a:pt x="552958" y="995756"/>
                  </a:lnTo>
                  <a:lnTo>
                    <a:pt x="1000086" y="380517"/>
                  </a:lnTo>
                  <a:lnTo>
                    <a:pt x="962170" y="351245"/>
                  </a:lnTo>
                  <a:lnTo>
                    <a:pt x="926259" y="319656"/>
                  </a:lnTo>
                  <a:lnTo>
                    <a:pt x="892457" y="285856"/>
                  </a:lnTo>
                  <a:lnTo>
                    <a:pt x="860868" y="249949"/>
                  </a:lnTo>
                  <a:lnTo>
                    <a:pt x="831596" y="212039"/>
                  </a:lnTo>
                  <a:lnTo>
                    <a:pt x="804743" y="172534"/>
                  </a:lnTo>
                  <a:lnTo>
                    <a:pt x="780414" y="131439"/>
                  </a:lnTo>
                  <a:lnTo>
                    <a:pt x="758711" y="88893"/>
                  </a:lnTo>
                  <a:lnTo>
                    <a:pt x="739737" y="45033"/>
                  </a:lnTo>
                  <a:lnTo>
                    <a:pt x="723595" y="0"/>
                  </a:lnTo>
                  <a:lnTo>
                    <a:pt x="0" y="235077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45323" y="2748241"/>
              <a:ext cx="798195" cy="939800"/>
            </a:xfrm>
            <a:custGeom>
              <a:avLst/>
              <a:gdLst/>
              <a:ahLst/>
              <a:cxnLst/>
              <a:rect l="l" t="t" r="r" b="b"/>
              <a:pathLst>
                <a:path w="798195" h="939800">
                  <a:moveTo>
                    <a:pt x="74155" y="0"/>
                  </a:moveTo>
                  <a:lnTo>
                    <a:pt x="58624" y="50777"/>
                  </a:lnTo>
                  <a:lnTo>
                    <a:pt x="44908" y="102031"/>
                  </a:lnTo>
                  <a:lnTo>
                    <a:pt x="33012" y="153705"/>
                  </a:lnTo>
                  <a:lnTo>
                    <a:pt x="22937" y="205744"/>
                  </a:lnTo>
                  <a:lnTo>
                    <a:pt x="14688" y="258091"/>
                  </a:lnTo>
                  <a:lnTo>
                    <a:pt x="8266" y="310690"/>
                  </a:lnTo>
                  <a:lnTo>
                    <a:pt x="3676" y="363486"/>
                  </a:lnTo>
                  <a:lnTo>
                    <a:pt x="919" y="416422"/>
                  </a:lnTo>
                  <a:lnTo>
                    <a:pt x="0" y="469442"/>
                  </a:lnTo>
                  <a:lnTo>
                    <a:pt x="830" y="517504"/>
                  </a:lnTo>
                  <a:lnTo>
                    <a:pt x="919" y="522671"/>
                  </a:lnTo>
                  <a:lnTo>
                    <a:pt x="3676" y="575770"/>
                  </a:lnTo>
                  <a:lnTo>
                    <a:pt x="8266" y="628689"/>
                  </a:lnTo>
                  <a:lnTo>
                    <a:pt x="14688" y="681378"/>
                  </a:lnTo>
                  <a:lnTo>
                    <a:pt x="22937" y="733785"/>
                  </a:lnTo>
                  <a:lnTo>
                    <a:pt x="33012" y="785861"/>
                  </a:lnTo>
                  <a:lnTo>
                    <a:pt x="44908" y="837556"/>
                  </a:lnTo>
                  <a:lnTo>
                    <a:pt x="58624" y="888817"/>
                  </a:lnTo>
                  <a:lnTo>
                    <a:pt x="74155" y="939596"/>
                  </a:lnTo>
                  <a:lnTo>
                    <a:pt x="797750" y="704519"/>
                  </a:lnTo>
                  <a:lnTo>
                    <a:pt x="784360" y="658715"/>
                  </a:lnTo>
                  <a:lnTo>
                    <a:pt x="773975" y="612152"/>
                  </a:lnTo>
                  <a:lnTo>
                    <a:pt x="766577" y="565018"/>
                  </a:lnTo>
                  <a:lnTo>
                    <a:pt x="762151" y="517504"/>
                  </a:lnTo>
                  <a:lnTo>
                    <a:pt x="760679" y="469798"/>
                  </a:lnTo>
                  <a:lnTo>
                    <a:pt x="762151" y="422092"/>
                  </a:lnTo>
                  <a:lnTo>
                    <a:pt x="766577" y="374577"/>
                  </a:lnTo>
                  <a:lnTo>
                    <a:pt x="773975" y="327444"/>
                  </a:lnTo>
                  <a:lnTo>
                    <a:pt x="784360" y="280881"/>
                  </a:lnTo>
                  <a:lnTo>
                    <a:pt x="797750" y="235076"/>
                  </a:lnTo>
                  <a:lnTo>
                    <a:pt x="74155" y="0"/>
                  </a:lnTo>
                  <a:close/>
                </a:path>
              </a:pathLst>
            </a:custGeom>
            <a:solidFill>
              <a:srgbClr val="F69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45323" y="2748241"/>
              <a:ext cx="798195" cy="939800"/>
            </a:xfrm>
            <a:custGeom>
              <a:avLst/>
              <a:gdLst/>
              <a:ahLst/>
              <a:cxnLst/>
              <a:rect l="l" t="t" r="r" b="b"/>
              <a:pathLst>
                <a:path w="798195" h="939800">
                  <a:moveTo>
                    <a:pt x="74155" y="0"/>
                  </a:moveTo>
                  <a:lnTo>
                    <a:pt x="58624" y="50777"/>
                  </a:lnTo>
                  <a:lnTo>
                    <a:pt x="44908" y="102031"/>
                  </a:lnTo>
                  <a:lnTo>
                    <a:pt x="33012" y="153705"/>
                  </a:lnTo>
                  <a:lnTo>
                    <a:pt x="22937" y="205744"/>
                  </a:lnTo>
                  <a:lnTo>
                    <a:pt x="14688" y="258091"/>
                  </a:lnTo>
                  <a:lnTo>
                    <a:pt x="8266" y="310690"/>
                  </a:lnTo>
                  <a:lnTo>
                    <a:pt x="3676" y="363486"/>
                  </a:lnTo>
                  <a:lnTo>
                    <a:pt x="919" y="416422"/>
                  </a:lnTo>
                  <a:lnTo>
                    <a:pt x="0" y="469442"/>
                  </a:lnTo>
                  <a:lnTo>
                    <a:pt x="919" y="522671"/>
                  </a:lnTo>
                  <a:lnTo>
                    <a:pt x="3676" y="575770"/>
                  </a:lnTo>
                  <a:lnTo>
                    <a:pt x="8266" y="628689"/>
                  </a:lnTo>
                  <a:lnTo>
                    <a:pt x="14688" y="681378"/>
                  </a:lnTo>
                  <a:lnTo>
                    <a:pt x="22937" y="733785"/>
                  </a:lnTo>
                  <a:lnTo>
                    <a:pt x="33012" y="785861"/>
                  </a:lnTo>
                  <a:lnTo>
                    <a:pt x="44908" y="837556"/>
                  </a:lnTo>
                  <a:lnTo>
                    <a:pt x="58624" y="888817"/>
                  </a:lnTo>
                  <a:lnTo>
                    <a:pt x="74155" y="939596"/>
                  </a:lnTo>
                  <a:lnTo>
                    <a:pt x="797750" y="704519"/>
                  </a:lnTo>
                  <a:lnTo>
                    <a:pt x="784360" y="658715"/>
                  </a:lnTo>
                  <a:lnTo>
                    <a:pt x="773975" y="612152"/>
                  </a:lnTo>
                  <a:lnTo>
                    <a:pt x="766577" y="565018"/>
                  </a:lnTo>
                  <a:lnTo>
                    <a:pt x="762151" y="517504"/>
                  </a:lnTo>
                  <a:lnTo>
                    <a:pt x="760679" y="469798"/>
                  </a:lnTo>
                  <a:lnTo>
                    <a:pt x="762151" y="422092"/>
                  </a:lnTo>
                  <a:lnTo>
                    <a:pt x="766577" y="374577"/>
                  </a:lnTo>
                  <a:lnTo>
                    <a:pt x="773975" y="327444"/>
                  </a:lnTo>
                  <a:lnTo>
                    <a:pt x="784360" y="280881"/>
                  </a:lnTo>
                  <a:lnTo>
                    <a:pt x="797750" y="235076"/>
                  </a:lnTo>
                  <a:lnTo>
                    <a:pt x="74155" y="0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19479" y="1987562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552958" y="0"/>
                  </a:moveTo>
                  <a:lnTo>
                    <a:pt x="510458" y="31939"/>
                  </a:lnTo>
                  <a:lnTo>
                    <a:pt x="469144" y="65334"/>
                  </a:lnTo>
                  <a:lnTo>
                    <a:pt x="429053" y="100144"/>
                  </a:lnTo>
                  <a:lnTo>
                    <a:pt x="390223" y="136333"/>
                  </a:lnTo>
                  <a:lnTo>
                    <a:pt x="352694" y="173861"/>
                  </a:lnTo>
                  <a:lnTo>
                    <a:pt x="316504" y="212690"/>
                  </a:lnTo>
                  <a:lnTo>
                    <a:pt x="281692" y="252782"/>
                  </a:lnTo>
                  <a:lnTo>
                    <a:pt x="248297" y="294098"/>
                  </a:lnTo>
                  <a:lnTo>
                    <a:pt x="216357" y="336600"/>
                  </a:lnTo>
                  <a:lnTo>
                    <a:pt x="185816" y="380086"/>
                  </a:lnTo>
                  <a:lnTo>
                    <a:pt x="156845" y="424590"/>
                  </a:lnTo>
                  <a:lnTo>
                    <a:pt x="129468" y="470067"/>
                  </a:lnTo>
                  <a:lnTo>
                    <a:pt x="103709" y="516468"/>
                  </a:lnTo>
                  <a:lnTo>
                    <a:pt x="79590" y="563746"/>
                  </a:lnTo>
                  <a:lnTo>
                    <a:pt x="57136" y="611854"/>
                  </a:lnTo>
                  <a:lnTo>
                    <a:pt x="36371" y="660743"/>
                  </a:lnTo>
                  <a:lnTo>
                    <a:pt x="17317" y="710367"/>
                  </a:lnTo>
                  <a:lnTo>
                    <a:pt x="0" y="760679"/>
                  </a:lnTo>
                  <a:lnTo>
                    <a:pt x="723595" y="995756"/>
                  </a:lnTo>
                  <a:lnTo>
                    <a:pt x="739737" y="950722"/>
                  </a:lnTo>
                  <a:lnTo>
                    <a:pt x="758711" y="906862"/>
                  </a:lnTo>
                  <a:lnTo>
                    <a:pt x="780414" y="864316"/>
                  </a:lnTo>
                  <a:lnTo>
                    <a:pt x="804743" y="823221"/>
                  </a:lnTo>
                  <a:lnTo>
                    <a:pt x="831596" y="783717"/>
                  </a:lnTo>
                  <a:lnTo>
                    <a:pt x="860868" y="745806"/>
                  </a:lnTo>
                  <a:lnTo>
                    <a:pt x="892457" y="709899"/>
                  </a:lnTo>
                  <a:lnTo>
                    <a:pt x="926259" y="676099"/>
                  </a:lnTo>
                  <a:lnTo>
                    <a:pt x="962170" y="644511"/>
                  </a:lnTo>
                  <a:lnTo>
                    <a:pt x="1000086" y="615238"/>
                  </a:lnTo>
                  <a:lnTo>
                    <a:pt x="552958" y="0"/>
                  </a:lnTo>
                  <a:close/>
                </a:path>
              </a:pathLst>
            </a:custGeom>
            <a:solidFill>
              <a:srgbClr val="E46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19479" y="1987562"/>
              <a:ext cx="1000125" cy="996315"/>
            </a:xfrm>
            <a:custGeom>
              <a:avLst/>
              <a:gdLst/>
              <a:ahLst/>
              <a:cxnLst/>
              <a:rect l="l" t="t" r="r" b="b"/>
              <a:pathLst>
                <a:path w="1000125" h="996314">
                  <a:moveTo>
                    <a:pt x="552958" y="0"/>
                  </a:moveTo>
                  <a:lnTo>
                    <a:pt x="510458" y="31939"/>
                  </a:lnTo>
                  <a:lnTo>
                    <a:pt x="469144" y="65334"/>
                  </a:lnTo>
                  <a:lnTo>
                    <a:pt x="429053" y="100144"/>
                  </a:lnTo>
                  <a:lnTo>
                    <a:pt x="390223" y="136333"/>
                  </a:lnTo>
                  <a:lnTo>
                    <a:pt x="352694" y="173861"/>
                  </a:lnTo>
                  <a:lnTo>
                    <a:pt x="316504" y="212690"/>
                  </a:lnTo>
                  <a:lnTo>
                    <a:pt x="281692" y="252782"/>
                  </a:lnTo>
                  <a:lnTo>
                    <a:pt x="248297" y="294098"/>
                  </a:lnTo>
                  <a:lnTo>
                    <a:pt x="216357" y="336600"/>
                  </a:lnTo>
                  <a:lnTo>
                    <a:pt x="185816" y="380086"/>
                  </a:lnTo>
                  <a:lnTo>
                    <a:pt x="156845" y="424590"/>
                  </a:lnTo>
                  <a:lnTo>
                    <a:pt x="129468" y="470067"/>
                  </a:lnTo>
                  <a:lnTo>
                    <a:pt x="103709" y="516468"/>
                  </a:lnTo>
                  <a:lnTo>
                    <a:pt x="79590" y="563746"/>
                  </a:lnTo>
                  <a:lnTo>
                    <a:pt x="57136" y="611854"/>
                  </a:lnTo>
                  <a:lnTo>
                    <a:pt x="36371" y="660743"/>
                  </a:lnTo>
                  <a:lnTo>
                    <a:pt x="17317" y="710367"/>
                  </a:lnTo>
                  <a:lnTo>
                    <a:pt x="0" y="760679"/>
                  </a:lnTo>
                  <a:lnTo>
                    <a:pt x="723595" y="995756"/>
                  </a:lnTo>
                  <a:lnTo>
                    <a:pt x="739737" y="950722"/>
                  </a:lnTo>
                  <a:lnTo>
                    <a:pt x="758711" y="906862"/>
                  </a:lnTo>
                  <a:lnTo>
                    <a:pt x="780414" y="864316"/>
                  </a:lnTo>
                  <a:lnTo>
                    <a:pt x="804743" y="823221"/>
                  </a:lnTo>
                  <a:lnTo>
                    <a:pt x="831596" y="783717"/>
                  </a:lnTo>
                  <a:lnTo>
                    <a:pt x="860868" y="745806"/>
                  </a:lnTo>
                  <a:lnTo>
                    <a:pt x="892457" y="709899"/>
                  </a:lnTo>
                  <a:lnTo>
                    <a:pt x="926259" y="676099"/>
                  </a:lnTo>
                  <a:lnTo>
                    <a:pt x="962170" y="644511"/>
                  </a:lnTo>
                  <a:lnTo>
                    <a:pt x="1000086" y="615238"/>
                  </a:lnTo>
                  <a:lnTo>
                    <a:pt x="552958" y="0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72437" y="1697037"/>
              <a:ext cx="894715" cy="906144"/>
            </a:xfrm>
            <a:custGeom>
              <a:avLst/>
              <a:gdLst/>
              <a:ahLst/>
              <a:cxnLst/>
              <a:rect l="l" t="t" r="r" b="b"/>
              <a:pathLst>
                <a:path w="894715" h="906144">
                  <a:moveTo>
                    <a:pt x="894245" y="0"/>
                  </a:moveTo>
                  <a:lnTo>
                    <a:pt x="841012" y="919"/>
                  </a:lnTo>
                  <a:lnTo>
                    <a:pt x="787910" y="3676"/>
                  </a:lnTo>
                  <a:lnTo>
                    <a:pt x="734989" y="8267"/>
                  </a:lnTo>
                  <a:lnTo>
                    <a:pt x="682299" y="14689"/>
                  </a:lnTo>
                  <a:lnTo>
                    <a:pt x="629890" y="22940"/>
                  </a:lnTo>
                  <a:lnTo>
                    <a:pt x="577813" y="33016"/>
                  </a:lnTo>
                  <a:lnTo>
                    <a:pt x="526119" y="44914"/>
                  </a:lnTo>
                  <a:lnTo>
                    <a:pt x="474857" y="58633"/>
                  </a:lnTo>
                  <a:lnTo>
                    <a:pt x="424078" y="74167"/>
                  </a:lnTo>
                  <a:lnTo>
                    <a:pt x="373767" y="91482"/>
                  </a:lnTo>
                  <a:lnTo>
                    <a:pt x="324142" y="110532"/>
                  </a:lnTo>
                  <a:lnTo>
                    <a:pt x="275253" y="131296"/>
                  </a:lnTo>
                  <a:lnTo>
                    <a:pt x="227145" y="153749"/>
                  </a:lnTo>
                  <a:lnTo>
                    <a:pt x="179867" y="177867"/>
                  </a:lnTo>
                  <a:lnTo>
                    <a:pt x="133466" y="203628"/>
                  </a:lnTo>
                  <a:lnTo>
                    <a:pt x="87990" y="231006"/>
                  </a:lnTo>
                  <a:lnTo>
                    <a:pt x="43485" y="259980"/>
                  </a:lnTo>
                  <a:lnTo>
                    <a:pt x="0" y="290525"/>
                  </a:lnTo>
                  <a:lnTo>
                    <a:pt x="447128" y="905763"/>
                  </a:lnTo>
                  <a:lnTo>
                    <a:pt x="486632" y="878911"/>
                  </a:lnTo>
                  <a:lnTo>
                    <a:pt x="527724" y="854582"/>
                  </a:lnTo>
                  <a:lnTo>
                    <a:pt x="570269" y="832879"/>
                  </a:lnTo>
                  <a:lnTo>
                    <a:pt x="614129" y="813905"/>
                  </a:lnTo>
                  <a:lnTo>
                    <a:pt x="659168" y="797763"/>
                  </a:lnTo>
                  <a:lnTo>
                    <a:pt x="704970" y="784367"/>
                  </a:lnTo>
                  <a:lnTo>
                    <a:pt x="751552" y="773978"/>
                  </a:lnTo>
                  <a:lnTo>
                    <a:pt x="798742" y="766578"/>
                  </a:lnTo>
                  <a:lnTo>
                    <a:pt x="846364" y="762151"/>
                  </a:lnTo>
                  <a:lnTo>
                    <a:pt x="894245" y="760679"/>
                  </a:lnTo>
                  <a:lnTo>
                    <a:pt x="894245" y="0"/>
                  </a:lnTo>
                  <a:close/>
                </a:path>
              </a:pathLst>
            </a:custGeom>
            <a:solidFill>
              <a:srgbClr val="59A8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72437" y="1697037"/>
              <a:ext cx="894715" cy="906144"/>
            </a:xfrm>
            <a:custGeom>
              <a:avLst/>
              <a:gdLst/>
              <a:ahLst/>
              <a:cxnLst/>
              <a:rect l="l" t="t" r="r" b="b"/>
              <a:pathLst>
                <a:path w="894715" h="906144">
                  <a:moveTo>
                    <a:pt x="894245" y="0"/>
                  </a:moveTo>
                  <a:lnTo>
                    <a:pt x="841012" y="919"/>
                  </a:lnTo>
                  <a:lnTo>
                    <a:pt x="787910" y="3676"/>
                  </a:lnTo>
                  <a:lnTo>
                    <a:pt x="734989" y="8267"/>
                  </a:lnTo>
                  <a:lnTo>
                    <a:pt x="682299" y="14689"/>
                  </a:lnTo>
                  <a:lnTo>
                    <a:pt x="629890" y="22940"/>
                  </a:lnTo>
                  <a:lnTo>
                    <a:pt x="577813" y="33016"/>
                  </a:lnTo>
                  <a:lnTo>
                    <a:pt x="526119" y="44914"/>
                  </a:lnTo>
                  <a:lnTo>
                    <a:pt x="474857" y="58633"/>
                  </a:lnTo>
                  <a:lnTo>
                    <a:pt x="424078" y="74167"/>
                  </a:lnTo>
                  <a:lnTo>
                    <a:pt x="373767" y="91482"/>
                  </a:lnTo>
                  <a:lnTo>
                    <a:pt x="324142" y="110532"/>
                  </a:lnTo>
                  <a:lnTo>
                    <a:pt x="275253" y="131296"/>
                  </a:lnTo>
                  <a:lnTo>
                    <a:pt x="227145" y="153749"/>
                  </a:lnTo>
                  <a:lnTo>
                    <a:pt x="179867" y="177867"/>
                  </a:lnTo>
                  <a:lnTo>
                    <a:pt x="133466" y="203628"/>
                  </a:lnTo>
                  <a:lnTo>
                    <a:pt x="87990" y="231006"/>
                  </a:lnTo>
                  <a:lnTo>
                    <a:pt x="43485" y="259980"/>
                  </a:lnTo>
                  <a:lnTo>
                    <a:pt x="0" y="290525"/>
                  </a:lnTo>
                  <a:lnTo>
                    <a:pt x="447128" y="905763"/>
                  </a:lnTo>
                  <a:lnTo>
                    <a:pt x="486632" y="878911"/>
                  </a:lnTo>
                  <a:lnTo>
                    <a:pt x="527724" y="854582"/>
                  </a:lnTo>
                  <a:lnTo>
                    <a:pt x="570269" y="832879"/>
                  </a:lnTo>
                  <a:lnTo>
                    <a:pt x="614129" y="813905"/>
                  </a:lnTo>
                  <a:lnTo>
                    <a:pt x="659168" y="797763"/>
                  </a:lnTo>
                  <a:lnTo>
                    <a:pt x="704970" y="784367"/>
                  </a:lnTo>
                  <a:lnTo>
                    <a:pt x="751552" y="773978"/>
                  </a:lnTo>
                  <a:lnTo>
                    <a:pt x="798742" y="766578"/>
                  </a:lnTo>
                  <a:lnTo>
                    <a:pt x="846364" y="762151"/>
                  </a:lnTo>
                  <a:lnTo>
                    <a:pt x="894245" y="760679"/>
                  </a:lnTo>
                  <a:lnTo>
                    <a:pt x="894245" y="0"/>
                  </a:lnTo>
                  <a:close/>
                </a:path>
              </a:pathLst>
            </a:custGeom>
            <a:ln w="12598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9391637" y="2043798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62197" y="2458478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79977" y="3129102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62197" y="3799357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391637" y="4214037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86444" y="4214037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115884" y="3799357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898104" y="3129102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15884" y="2458478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86444" y="2043798"/>
            <a:ext cx="2514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D1625"/>
                </a:solidFill>
                <a:latin typeface="Arial"/>
                <a:cs typeface="Arial"/>
              </a:rPr>
              <a:t>10%</a:t>
            </a:r>
            <a:endParaRPr sz="9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696517" y="1322069"/>
            <a:ext cx="293243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Perfectly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balanced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(10</a:t>
            </a:r>
            <a:r>
              <a:rPr sz="1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×</a:t>
            </a:r>
            <a:r>
              <a:rPr sz="12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10%)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322045" y="5001475"/>
            <a:ext cx="76200" cy="76200"/>
            <a:chOff x="7322045" y="5001475"/>
            <a:chExt cx="76200" cy="76200"/>
          </a:xfrm>
        </p:grpSpPr>
        <p:sp>
          <p:nvSpPr>
            <p:cNvPr id="52" name="object 52"/>
            <p:cNvSpPr/>
            <p:nvPr/>
          </p:nvSpPr>
          <p:spPr>
            <a:xfrm>
              <a:off x="7322045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795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22045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7795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7699323" y="5001475"/>
            <a:ext cx="76200" cy="76200"/>
            <a:chOff x="7699323" y="5001475"/>
            <a:chExt cx="76200" cy="76200"/>
          </a:xfrm>
        </p:grpSpPr>
        <p:sp>
          <p:nvSpPr>
            <p:cNvPr id="55" name="object 55"/>
            <p:cNvSpPr/>
            <p:nvPr/>
          </p:nvSpPr>
          <p:spPr>
            <a:xfrm>
              <a:off x="7699323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795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99323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7795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8076603" y="5001475"/>
            <a:ext cx="76200" cy="76200"/>
            <a:chOff x="8076603" y="5001475"/>
            <a:chExt cx="76200" cy="76200"/>
          </a:xfrm>
        </p:grpSpPr>
        <p:sp>
          <p:nvSpPr>
            <p:cNvPr id="58" name="object 58"/>
            <p:cNvSpPr/>
            <p:nvPr/>
          </p:nvSpPr>
          <p:spPr>
            <a:xfrm>
              <a:off x="8076603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795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F1B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076603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7795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8453881" y="5001475"/>
            <a:ext cx="76200" cy="76200"/>
            <a:chOff x="8453881" y="5001475"/>
            <a:chExt cx="76200" cy="76200"/>
          </a:xfrm>
        </p:grpSpPr>
        <p:sp>
          <p:nvSpPr>
            <p:cNvPr id="61" name="object 61"/>
            <p:cNvSpPr/>
            <p:nvPr/>
          </p:nvSpPr>
          <p:spPr>
            <a:xfrm>
              <a:off x="8453881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795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EE6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453881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7795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8831160" y="5001475"/>
            <a:ext cx="76200" cy="76200"/>
            <a:chOff x="8831160" y="5001475"/>
            <a:chExt cx="76200" cy="76200"/>
          </a:xfrm>
        </p:grpSpPr>
        <p:sp>
          <p:nvSpPr>
            <p:cNvPr id="64" name="object 64"/>
            <p:cNvSpPr/>
            <p:nvPr/>
          </p:nvSpPr>
          <p:spPr>
            <a:xfrm>
              <a:off x="8831160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7795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9A7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831160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795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7795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9208084" y="5001475"/>
            <a:ext cx="76200" cy="76200"/>
            <a:chOff x="9208084" y="5001475"/>
            <a:chExt cx="76200" cy="76200"/>
          </a:xfrm>
        </p:grpSpPr>
        <p:sp>
          <p:nvSpPr>
            <p:cNvPr id="67" name="object 67"/>
            <p:cNvSpPr/>
            <p:nvPr/>
          </p:nvSpPr>
          <p:spPr>
            <a:xfrm>
              <a:off x="9208084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50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3EA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208084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50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8150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9585362" y="5001475"/>
            <a:ext cx="76200" cy="76200"/>
            <a:chOff x="9585362" y="5001475"/>
            <a:chExt cx="76200" cy="76200"/>
          </a:xfrm>
        </p:grpSpPr>
        <p:sp>
          <p:nvSpPr>
            <p:cNvPr id="70" name="object 70"/>
            <p:cNvSpPr/>
            <p:nvPr/>
          </p:nvSpPr>
          <p:spPr>
            <a:xfrm>
              <a:off x="9585362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50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6ECE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585362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50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8150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9962642" y="5001475"/>
            <a:ext cx="76200" cy="76200"/>
            <a:chOff x="9962642" y="5001475"/>
            <a:chExt cx="76200" cy="76200"/>
          </a:xfrm>
        </p:grpSpPr>
        <p:sp>
          <p:nvSpPr>
            <p:cNvPr id="73" name="object 73"/>
            <p:cNvSpPr/>
            <p:nvPr/>
          </p:nvSpPr>
          <p:spPr>
            <a:xfrm>
              <a:off x="9962642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63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F69F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962642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63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8163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10339920" y="5001475"/>
            <a:ext cx="76200" cy="76200"/>
            <a:chOff x="10339920" y="5001475"/>
            <a:chExt cx="76200" cy="76200"/>
          </a:xfrm>
        </p:grpSpPr>
        <p:sp>
          <p:nvSpPr>
            <p:cNvPr id="76" name="object 76"/>
            <p:cNvSpPr/>
            <p:nvPr/>
          </p:nvSpPr>
          <p:spPr>
            <a:xfrm>
              <a:off x="10339920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63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E46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339920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63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8163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10717200" y="5001475"/>
            <a:ext cx="76200" cy="76200"/>
            <a:chOff x="10717200" y="5001475"/>
            <a:chExt cx="76200" cy="76200"/>
          </a:xfrm>
        </p:grpSpPr>
        <p:sp>
          <p:nvSpPr>
            <p:cNvPr id="79" name="object 79"/>
            <p:cNvSpPr/>
            <p:nvPr/>
          </p:nvSpPr>
          <p:spPr>
            <a:xfrm>
              <a:off x="10717200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958" y="0"/>
                  </a:moveTo>
                  <a:lnTo>
                    <a:pt x="0" y="0"/>
                  </a:lnTo>
                  <a:lnTo>
                    <a:pt x="0" y="75958"/>
                  </a:lnTo>
                  <a:lnTo>
                    <a:pt x="38163" y="75958"/>
                  </a:lnTo>
                  <a:lnTo>
                    <a:pt x="75958" y="75958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59A8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717200" y="5001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63" y="75958"/>
                  </a:moveTo>
                  <a:lnTo>
                    <a:pt x="0" y="75958"/>
                  </a:lnTo>
                  <a:lnTo>
                    <a:pt x="0" y="0"/>
                  </a:lnTo>
                  <a:lnTo>
                    <a:pt x="75958" y="0"/>
                  </a:lnTo>
                  <a:lnTo>
                    <a:pt x="75958" y="75958"/>
                  </a:lnTo>
                  <a:lnTo>
                    <a:pt x="38163" y="75958"/>
                  </a:lnTo>
                  <a:close/>
                </a:path>
              </a:pathLst>
            </a:custGeom>
            <a:ln w="3175">
              <a:solidFill>
                <a:srgbClr val="0D16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7421130" y="4942624"/>
            <a:ext cx="359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9890" algn="l"/>
                <a:tab pos="767080" algn="l"/>
                <a:tab pos="1144270" algn="l"/>
                <a:tab pos="1521460" algn="l"/>
                <a:tab pos="1898650" algn="l"/>
                <a:tab pos="2275840" algn="l"/>
                <a:tab pos="2653030" algn="l"/>
                <a:tab pos="3030220" algn="l"/>
                <a:tab pos="3407410" algn="l"/>
              </a:tabLst>
            </a:pP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S01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S02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S03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S04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S05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S06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S07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S08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S09</a:t>
            </a:r>
            <a:r>
              <a:rPr sz="1000" dirty="0">
                <a:solidFill>
                  <a:srgbClr val="99A9C3"/>
                </a:solidFill>
                <a:latin typeface="Calibri"/>
                <a:cs typeface="Calibri"/>
              </a:rPr>
              <a:t>	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S10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2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Preprocessing</a:t>
            </a:r>
            <a:r>
              <a:rPr spc="35" dirty="0"/>
              <a:t> </a:t>
            </a:r>
            <a:r>
              <a:rPr lang="en-US" dirty="0"/>
              <a:t>&amp;</a:t>
            </a:r>
            <a:r>
              <a:rPr spc="40" dirty="0"/>
              <a:t> </a:t>
            </a:r>
            <a:r>
              <a:rPr dirty="0"/>
              <a:t>Feature</a:t>
            </a:r>
            <a:r>
              <a:rPr spc="50" dirty="0"/>
              <a:t> </a:t>
            </a:r>
            <a:r>
              <a:rPr dirty="0"/>
              <a:t>Extraction</a:t>
            </a:r>
            <a:r>
              <a:rPr spc="55" dirty="0"/>
              <a:t> </a:t>
            </a:r>
            <a:r>
              <a:rPr spc="75" dirty="0"/>
              <a:t>Pipeline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2437" y="1229677"/>
            <a:ext cx="2615565" cy="2158365"/>
            <a:chOff x="452437" y="1229677"/>
            <a:chExt cx="2615565" cy="2158365"/>
          </a:xfrm>
        </p:grpSpPr>
        <p:sp>
          <p:nvSpPr>
            <p:cNvPr id="5" name="object 5"/>
            <p:cNvSpPr/>
            <p:nvPr/>
          </p:nvSpPr>
          <p:spPr>
            <a:xfrm>
              <a:off x="457200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5412" y="2103499"/>
                  </a:lnTo>
                  <a:lnTo>
                    <a:pt x="5464" y="2103655"/>
                  </a:lnTo>
                  <a:lnTo>
                    <a:pt x="9715" y="2112124"/>
                  </a:lnTo>
                  <a:lnTo>
                    <a:pt x="44984" y="2143375"/>
                  </a:lnTo>
                  <a:lnTo>
                    <a:pt x="73075" y="2148840"/>
                  </a:lnTo>
                  <a:lnTo>
                    <a:pt x="2532964" y="2148484"/>
                  </a:lnTo>
                  <a:lnTo>
                    <a:pt x="2577334" y="2133380"/>
                  </a:lnTo>
                  <a:lnTo>
                    <a:pt x="2603551" y="2094615"/>
                  </a:lnTo>
                  <a:lnTo>
                    <a:pt x="2603611" y="2094436"/>
                  </a:lnTo>
                  <a:lnTo>
                    <a:pt x="2605392" y="2085240"/>
                  </a:lnTo>
                  <a:lnTo>
                    <a:pt x="2605432" y="2085035"/>
                  </a:lnTo>
                  <a:lnTo>
                    <a:pt x="2606016" y="2075764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8" y="15104"/>
                  </a:lnTo>
                  <a:lnTo>
                    <a:pt x="2603253" y="54224"/>
                  </a:lnTo>
                  <a:lnTo>
                    <a:pt x="2605684" y="73075"/>
                  </a:lnTo>
                  <a:lnTo>
                    <a:pt x="2606040" y="2075395"/>
                  </a:lnTo>
                  <a:lnTo>
                    <a:pt x="2605432" y="2085035"/>
                  </a:lnTo>
                  <a:lnTo>
                    <a:pt x="2603611" y="2094436"/>
                  </a:lnTo>
                  <a:lnTo>
                    <a:pt x="2577334" y="2133380"/>
                  </a:lnTo>
                  <a:lnTo>
                    <a:pt x="2532964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679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6" y="308895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9" y="369390"/>
                  </a:lnTo>
                  <a:lnTo>
                    <a:pt x="308956" y="344199"/>
                  </a:lnTo>
                  <a:lnTo>
                    <a:pt x="344499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6" y="39568"/>
                  </a:lnTo>
                  <a:lnTo>
                    <a:pt x="265449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679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4" y="6438"/>
                  </a:lnTo>
                  <a:lnTo>
                    <a:pt x="288010" y="25565"/>
                  </a:lnTo>
                  <a:lnTo>
                    <a:pt x="327875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75" y="327696"/>
                  </a:lnTo>
                  <a:lnTo>
                    <a:pt x="288010" y="358203"/>
                  </a:lnTo>
                  <a:lnTo>
                    <a:pt x="241744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8941" y="1532420"/>
            <a:ext cx="179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7655" y="1517307"/>
            <a:ext cx="11842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Ingestion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740" y="2307219"/>
            <a:ext cx="185928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Decode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&amp;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resample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16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kHz. Truncate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or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zero-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pad to</a:t>
            </a:r>
            <a:r>
              <a:rPr sz="1150" spc="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exactly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16,000</a:t>
            </a:r>
            <a:r>
              <a:rPr sz="1150" spc="-4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samples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(1.000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s).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02610" y="1229677"/>
            <a:ext cx="2891790" cy="2158365"/>
            <a:chOff x="3102610" y="1229677"/>
            <a:chExt cx="2891790" cy="2158365"/>
          </a:xfrm>
        </p:grpSpPr>
        <p:sp>
          <p:nvSpPr>
            <p:cNvPr id="13" name="object 13"/>
            <p:cNvSpPr/>
            <p:nvPr/>
          </p:nvSpPr>
          <p:spPr>
            <a:xfrm>
              <a:off x="3108960" y="2148484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122" y="0"/>
                  </a:moveTo>
                  <a:lnTo>
                    <a:pt x="114122" y="68389"/>
                  </a:lnTo>
                  <a:lnTo>
                    <a:pt x="0" y="68389"/>
                  </a:lnTo>
                  <a:lnTo>
                    <a:pt x="0" y="205549"/>
                  </a:lnTo>
                  <a:lnTo>
                    <a:pt x="114122" y="205549"/>
                  </a:lnTo>
                  <a:lnTo>
                    <a:pt x="114122" y="274319"/>
                  </a:lnTo>
                  <a:lnTo>
                    <a:pt x="228600" y="137159"/>
                  </a:lnTo>
                  <a:lnTo>
                    <a:pt x="114122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8960" y="2148484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68389"/>
                  </a:moveTo>
                  <a:lnTo>
                    <a:pt x="114122" y="68389"/>
                  </a:lnTo>
                  <a:lnTo>
                    <a:pt x="114122" y="0"/>
                  </a:lnTo>
                  <a:lnTo>
                    <a:pt x="228600" y="137159"/>
                  </a:lnTo>
                  <a:lnTo>
                    <a:pt x="114122" y="274319"/>
                  </a:lnTo>
                  <a:lnTo>
                    <a:pt x="114122" y="205549"/>
                  </a:lnTo>
                  <a:lnTo>
                    <a:pt x="0" y="205549"/>
                  </a:lnTo>
                  <a:lnTo>
                    <a:pt x="0" y="6838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83280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28555" y="2133735"/>
                  </a:lnTo>
                  <a:lnTo>
                    <a:pt x="73075" y="2148840"/>
                  </a:lnTo>
                  <a:lnTo>
                    <a:pt x="2532964" y="2148484"/>
                  </a:lnTo>
                  <a:lnTo>
                    <a:pt x="2577334" y="2133380"/>
                  </a:lnTo>
                  <a:lnTo>
                    <a:pt x="2603551" y="2094615"/>
                  </a:lnTo>
                  <a:lnTo>
                    <a:pt x="2603611" y="2094436"/>
                  </a:lnTo>
                  <a:lnTo>
                    <a:pt x="2605392" y="2085240"/>
                  </a:lnTo>
                  <a:lnTo>
                    <a:pt x="2605432" y="2085035"/>
                  </a:lnTo>
                  <a:lnTo>
                    <a:pt x="2606016" y="2075764"/>
                  </a:lnTo>
                  <a:lnTo>
                    <a:pt x="2606040" y="207539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83280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8" y="15104"/>
                  </a:lnTo>
                  <a:lnTo>
                    <a:pt x="2603253" y="54224"/>
                  </a:lnTo>
                  <a:lnTo>
                    <a:pt x="2605684" y="73075"/>
                  </a:lnTo>
                  <a:lnTo>
                    <a:pt x="2606040" y="2075395"/>
                  </a:lnTo>
                  <a:lnTo>
                    <a:pt x="2605432" y="2085035"/>
                  </a:lnTo>
                  <a:lnTo>
                    <a:pt x="2603611" y="2094436"/>
                  </a:lnTo>
                  <a:lnTo>
                    <a:pt x="2577334" y="2133380"/>
                  </a:lnTo>
                  <a:lnTo>
                    <a:pt x="2532964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0287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6" y="308895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9" y="369390"/>
                  </a:lnTo>
                  <a:lnTo>
                    <a:pt x="308956" y="344199"/>
                  </a:lnTo>
                  <a:lnTo>
                    <a:pt x="344499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6" y="39568"/>
                  </a:lnTo>
                  <a:lnTo>
                    <a:pt x="265449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287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4" y="6438"/>
                  </a:lnTo>
                  <a:lnTo>
                    <a:pt x="288010" y="25565"/>
                  </a:lnTo>
                  <a:lnTo>
                    <a:pt x="327875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75" y="327696"/>
                  </a:lnTo>
                  <a:lnTo>
                    <a:pt x="288010" y="358203"/>
                  </a:lnTo>
                  <a:lnTo>
                    <a:pt x="241744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05021" y="1532420"/>
            <a:ext cx="179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3735" y="1517307"/>
            <a:ext cx="1121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Short-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4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FFT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9820" y="2307219"/>
            <a:ext cx="157607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2,048-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sample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FFT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window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(128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ms),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512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hop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(32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ms)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465" dirty="0">
                <a:solidFill>
                  <a:srgbClr val="99A9C3"/>
                </a:solidFill>
                <a:latin typeface="Calibri"/>
                <a:cs typeface="Calibri"/>
              </a:rPr>
              <a:t>*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32</a:t>
            </a:r>
            <a:r>
              <a:rPr sz="1150" spc="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temporal frames.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28690" y="1229677"/>
            <a:ext cx="2891790" cy="2158365"/>
            <a:chOff x="6028690" y="1229677"/>
            <a:chExt cx="2891790" cy="2158365"/>
          </a:xfrm>
        </p:grpSpPr>
        <p:sp>
          <p:nvSpPr>
            <p:cNvPr id="23" name="object 23"/>
            <p:cNvSpPr/>
            <p:nvPr/>
          </p:nvSpPr>
          <p:spPr>
            <a:xfrm>
              <a:off x="6035040" y="2148484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122" y="0"/>
                  </a:moveTo>
                  <a:lnTo>
                    <a:pt x="114122" y="68389"/>
                  </a:lnTo>
                  <a:lnTo>
                    <a:pt x="0" y="68389"/>
                  </a:lnTo>
                  <a:lnTo>
                    <a:pt x="0" y="205549"/>
                  </a:lnTo>
                  <a:lnTo>
                    <a:pt x="114122" y="205549"/>
                  </a:lnTo>
                  <a:lnTo>
                    <a:pt x="114122" y="274319"/>
                  </a:lnTo>
                  <a:lnTo>
                    <a:pt x="228600" y="137159"/>
                  </a:lnTo>
                  <a:lnTo>
                    <a:pt x="114122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35040" y="2148484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68389"/>
                  </a:moveTo>
                  <a:lnTo>
                    <a:pt x="114122" y="68389"/>
                  </a:lnTo>
                  <a:lnTo>
                    <a:pt x="114122" y="0"/>
                  </a:lnTo>
                  <a:lnTo>
                    <a:pt x="228600" y="137159"/>
                  </a:lnTo>
                  <a:lnTo>
                    <a:pt x="114122" y="274319"/>
                  </a:lnTo>
                  <a:lnTo>
                    <a:pt x="114122" y="205549"/>
                  </a:lnTo>
                  <a:lnTo>
                    <a:pt x="0" y="205549"/>
                  </a:lnTo>
                  <a:lnTo>
                    <a:pt x="0" y="6838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09360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28555" y="2133735"/>
                  </a:lnTo>
                  <a:lnTo>
                    <a:pt x="73075" y="2148840"/>
                  </a:lnTo>
                  <a:lnTo>
                    <a:pt x="2532964" y="2148484"/>
                  </a:lnTo>
                  <a:lnTo>
                    <a:pt x="2577334" y="2133380"/>
                  </a:lnTo>
                  <a:lnTo>
                    <a:pt x="2600498" y="2103655"/>
                  </a:lnTo>
                  <a:lnTo>
                    <a:pt x="2600575" y="2103499"/>
                  </a:lnTo>
                  <a:lnTo>
                    <a:pt x="2603551" y="2094615"/>
                  </a:lnTo>
                  <a:lnTo>
                    <a:pt x="2603611" y="2094436"/>
                  </a:lnTo>
                  <a:lnTo>
                    <a:pt x="2605392" y="2085240"/>
                  </a:lnTo>
                  <a:lnTo>
                    <a:pt x="2605432" y="2085035"/>
                  </a:lnTo>
                  <a:lnTo>
                    <a:pt x="2606016" y="2075764"/>
                  </a:lnTo>
                  <a:lnTo>
                    <a:pt x="2606040" y="207539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9360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8" y="15104"/>
                  </a:lnTo>
                  <a:lnTo>
                    <a:pt x="2603253" y="54224"/>
                  </a:lnTo>
                  <a:lnTo>
                    <a:pt x="2605684" y="73075"/>
                  </a:lnTo>
                  <a:lnTo>
                    <a:pt x="2606040" y="2075395"/>
                  </a:lnTo>
                  <a:lnTo>
                    <a:pt x="2605432" y="2085035"/>
                  </a:lnTo>
                  <a:lnTo>
                    <a:pt x="2603611" y="2094436"/>
                  </a:lnTo>
                  <a:lnTo>
                    <a:pt x="2577334" y="2133380"/>
                  </a:lnTo>
                  <a:lnTo>
                    <a:pt x="2532964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2895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6" y="308895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9" y="369390"/>
                  </a:lnTo>
                  <a:lnTo>
                    <a:pt x="308956" y="344199"/>
                  </a:lnTo>
                  <a:lnTo>
                    <a:pt x="344499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6" y="39568"/>
                  </a:lnTo>
                  <a:lnTo>
                    <a:pt x="265449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2895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4" y="6438"/>
                  </a:lnTo>
                  <a:lnTo>
                    <a:pt x="288010" y="25565"/>
                  </a:lnTo>
                  <a:lnTo>
                    <a:pt x="327875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75" y="327696"/>
                  </a:lnTo>
                  <a:lnTo>
                    <a:pt x="288010" y="358203"/>
                  </a:lnTo>
                  <a:lnTo>
                    <a:pt x="241744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31101" y="1532420"/>
            <a:ext cx="179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9815" y="1517307"/>
            <a:ext cx="7791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Mel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DCT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15899" y="2307219"/>
            <a:ext cx="1628139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40-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band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mel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filterbank,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log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compression,</a:t>
            </a:r>
            <a:r>
              <a:rPr sz="1150" spc="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DCT</a:t>
            </a:r>
            <a:r>
              <a:rPr sz="1150" spc="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Type-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II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465" dirty="0">
                <a:solidFill>
                  <a:srgbClr val="99A9C3"/>
                </a:solidFill>
                <a:latin typeface="Calibri"/>
                <a:cs typeface="Calibri"/>
              </a:rPr>
              <a:t>*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40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×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32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cepstral matrix.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954820" y="1229760"/>
            <a:ext cx="2891790" cy="2158365"/>
            <a:chOff x="8954820" y="1229760"/>
            <a:chExt cx="2891790" cy="2158365"/>
          </a:xfrm>
        </p:grpSpPr>
        <p:sp>
          <p:nvSpPr>
            <p:cNvPr id="33" name="object 33"/>
            <p:cNvSpPr/>
            <p:nvPr/>
          </p:nvSpPr>
          <p:spPr>
            <a:xfrm>
              <a:off x="8961119" y="2148484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114122" y="0"/>
                  </a:moveTo>
                  <a:lnTo>
                    <a:pt x="114122" y="68389"/>
                  </a:lnTo>
                  <a:lnTo>
                    <a:pt x="0" y="68389"/>
                  </a:lnTo>
                  <a:lnTo>
                    <a:pt x="0" y="205549"/>
                  </a:lnTo>
                  <a:lnTo>
                    <a:pt x="114122" y="205549"/>
                  </a:lnTo>
                  <a:lnTo>
                    <a:pt x="114122" y="274319"/>
                  </a:lnTo>
                  <a:lnTo>
                    <a:pt x="228600" y="137159"/>
                  </a:lnTo>
                  <a:lnTo>
                    <a:pt x="114122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961119" y="2148484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>
                  <a:moveTo>
                    <a:pt x="0" y="68389"/>
                  </a:moveTo>
                  <a:lnTo>
                    <a:pt x="114122" y="68389"/>
                  </a:lnTo>
                  <a:lnTo>
                    <a:pt x="114122" y="0"/>
                  </a:lnTo>
                  <a:lnTo>
                    <a:pt x="228600" y="137159"/>
                  </a:lnTo>
                  <a:lnTo>
                    <a:pt x="114122" y="274319"/>
                  </a:lnTo>
                  <a:lnTo>
                    <a:pt x="114122" y="205549"/>
                  </a:lnTo>
                  <a:lnTo>
                    <a:pt x="0" y="205549"/>
                  </a:lnTo>
                  <a:lnTo>
                    <a:pt x="0" y="68389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35439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25325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075764"/>
                  </a:lnTo>
                  <a:lnTo>
                    <a:pt x="594" y="2085035"/>
                  </a:lnTo>
                  <a:lnTo>
                    <a:pt x="607" y="2085240"/>
                  </a:lnTo>
                  <a:lnTo>
                    <a:pt x="2394" y="2094436"/>
                  </a:lnTo>
                  <a:lnTo>
                    <a:pt x="2428" y="2094615"/>
                  </a:lnTo>
                  <a:lnTo>
                    <a:pt x="5412" y="2103499"/>
                  </a:lnTo>
                  <a:lnTo>
                    <a:pt x="5464" y="2103655"/>
                  </a:lnTo>
                  <a:lnTo>
                    <a:pt x="36360" y="2139124"/>
                  </a:lnTo>
                  <a:lnTo>
                    <a:pt x="73075" y="2148840"/>
                  </a:lnTo>
                  <a:lnTo>
                    <a:pt x="2532964" y="2148484"/>
                  </a:lnTo>
                  <a:lnTo>
                    <a:pt x="2577334" y="2133380"/>
                  </a:lnTo>
                  <a:lnTo>
                    <a:pt x="2600498" y="2103655"/>
                  </a:lnTo>
                  <a:lnTo>
                    <a:pt x="2600575" y="2103499"/>
                  </a:lnTo>
                  <a:lnTo>
                    <a:pt x="2603551" y="2094615"/>
                  </a:lnTo>
                  <a:lnTo>
                    <a:pt x="2603611" y="2094436"/>
                  </a:lnTo>
                  <a:lnTo>
                    <a:pt x="2605392" y="2085240"/>
                  </a:lnTo>
                  <a:lnTo>
                    <a:pt x="2605432" y="2085035"/>
                  </a:lnTo>
                  <a:lnTo>
                    <a:pt x="2606016" y="2075764"/>
                  </a:lnTo>
                  <a:lnTo>
                    <a:pt x="2606039" y="2075395"/>
                  </a:lnTo>
                  <a:lnTo>
                    <a:pt x="2605684" y="73075"/>
                  </a:lnTo>
                  <a:lnTo>
                    <a:pt x="2590580" y="28705"/>
                  </a:lnTo>
                  <a:lnTo>
                    <a:pt x="2551636" y="2428"/>
                  </a:lnTo>
                  <a:lnTo>
                    <a:pt x="2542235" y="607"/>
                  </a:lnTo>
                  <a:lnTo>
                    <a:pt x="25325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235439" y="1234439"/>
              <a:ext cx="2606040" cy="2148840"/>
            </a:xfrm>
            <a:custGeom>
              <a:avLst/>
              <a:gdLst/>
              <a:ahLst/>
              <a:cxnLst/>
              <a:rect l="l" t="t" r="r" b="b"/>
              <a:pathLst>
                <a:path w="2606040" h="21488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532595" y="0"/>
                  </a:lnTo>
                  <a:lnTo>
                    <a:pt x="2577128" y="15104"/>
                  </a:lnTo>
                  <a:lnTo>
                    <a:pt x="2603253" y="54224"/>
                  </a:lnTo>
                  <a:lnTo>
                    <a:pt x="2605684" y="73075"/>
                  </a:lnTo>
                  <a:lnTo>
                    <a:pt x="2606039" y="2075395"/>
                  </a:lnTo>
                  <a:lnTo>
                    <a:pt x="2605432" y="2085035"/>
                  </a:lnTo>
                  <a:lnTo>
                    <a:pt x="2603611" y="2094436"/>
                  </a:lnTo>
                  <a:lnTo>
                    <a:pt x="2577334" y="2133380"/>
                  </a:lnTo>
                  <a:lnTo>
                    <a:pt x="2532964" y="2148484"/>
                  </a:lnTo>
                  <a:lnTo>
                    <a:pt x="73075" y="2148840"/>
                  </a:lnTo>
                  <a:lnTo>
                    <a:pt x="28555" y="2133735"/>
                  </a:lnTo>
                  <a:lnTo>
                    <a:pt x="2428" y="2094615"/>
                  </a:lnTo>
                  <a:lnTo>
                    <a:pt x="0" y="20757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45503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30" y="6438"/>
                  </a:lnTo>
                  <a:lnTo>
                    <a:pt x="96126" y="25565"/>
                  </a:lnTo>
                  <a:lnTo>
                    <a:pt x="56254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6" y="308895"/>
                  </a:lnTo>
                  <a:lnTo>
                    <a:pt x="75178" y="344199"/>
                  </a:lnTo>
                  <a:lnTo>
                    <a:pt x="118687" y="369390"/>
                  </a:lnTo>
                  <a:lnTo>
                    <a:pt x="167049" y="382452"/>
                  </a:lnTo>
                  <a:lnTo>
                    <a:pt x="192239" y="384124"/>
                  </a:lnTo>
                  <a:lnTo>
                    <a:pt x="217230" y="382452"/>
                  </a:lnTo>
                  <a:lnTo>
                    <a:pt x="265449" y="369390"/>
                  </a:lnTo>
                  <a:lnTo>
                    <a:pt x="308956" y="344199"/>
                  </a:lnTo>
                  <a:lnTo>
                    <a:pt x="344499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9" y="74867"/>
                  </a:lnTo>
                  <a:lnTo>
                    <a:pt x="308956" y="39568"/>
                  </a:lnTo>
                  <a:lnTo>
                    <a:pt x="265449" y="14433"/>
                  </a:lnTo>
                  <a:lnTo>
                    <a:pt x="217230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455035" y="14446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54" y="56070"/>
                  </a:lnTo>
                  <a:lnTo>
                    <a:pt x="96126" y="25565"/>
                  </a:lnTo>
                  <a:lnTo>
                    <a:pt x="142430" y="6438"/>
                  </a:lnTo>
                  <a:lnTo>
                    <a:pt x="192239" y="0"/>
                  </a:lnTo>
                  <a:lnTo>
                    <a:pt x="241744" y="6438"/>
                  </a:lnTo>
                  <a:lnTo>
                    <a:pt x="288010" y="25565"/>
                  </a:lnTo>
                  <a:lnTo>
                    <a:pt x="327875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75" y="327696"/>
                  </a:lnTo>
                  <a:lnTo>
                    <a:pt x="288010" y="358203"/>
                  </a:lnTo>
                  <a:lnTo>
                    <a:pt x="241744" y="377507"/>
                  </a:lnTo>
                  <a:lnTo>
                    <a:pt x="192239" y="384124"/>
                  </a:lnTo>
                  <a:lnTo>
                    <a:pt x="142430" y="377507"/>
                  </a:lnTo>
                  <a:lnTo>
                    <a:pt x="96126" y="358203"/>
                  </a:lnTo>
                  <a:lnTo>
                    <a:pt x="56254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57181" y="1532420"/>
            <a:ext cx="179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04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935895" y="1517307"/>
            <a:ext cx="100139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Vectorisation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41980" y="2307219"/>
            <a:ext cx="176212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Zero-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pad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time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axis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W =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40, row-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major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flatten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465" dirty="0">
                <a:solidFill>
                  <a:srgbClr val="99A9C3"/>
                </a:solidFill>
                <a:latin typeface="Calibri"/>
                <a:cs typeface="Calibri"/>
              </a:rPr>
              <a:t>*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1,600-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D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feature vector.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52164" y="3652920"/>
            <a:ext cx="11283950" cy="1243965"/>
            <a:chOff x="452164" y="3652920"/>
            <a:chExt cx="11283950" cy="1243965"/>
          </a:xfrm>
        </p:grpSpPr>
        <p:sp>
          <p:nvSpPr>
            <p:cNvPr id="43" name="object 43"/>
            <p:cNvSpPr/>
            <p:nvPr/>
          </p:nvSpPr>
          <p:spPr>
            <a:xfrm>
              <a:off x="456844" y="3657599"/>
              <a:ext cx="11275060" cy="1234440"/>
            </a:xfrm>
            <a:custGeom>
              <a:avLst/>
              <a:gdLst/>
              <a:ahLst/>
              <a:cxnLst/>
              <a:rect l="l" t="t" r="r" b="b"/>
              <a:pathLst>
                <a:path w="11275060" h="1234439">
                  <a:moveTo>
                    <a:pt x="112010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39"/>
                  </a:lnTo>
                  <a:lnTo>
                    <a:pt x="11201400" y="1234084"/>
                  </a:lnTo>
                  <a:lnTo>
                    <a:pt x="11245770" y="1218980"/>
                  </a:lnTo>
                  <a:lnTo>
                    <a:pt x="11268934" y="1189255"/>
                  </a:lnTo>
                  <a:lnTo>
                    <a:pt x="11269010" y="1189099"/>
                  </a:lnTo>
                  <a:lnTo>
                    <a:pt x="11271986" y="1180215"/>
                  </a:lnTo>
                  <a:lnTo>
                    <a:pt x="11272046" y="1180036"/>
                  </a:lnTo>
                  <a:lnTo>
                    <a:pt x="11273828" y="1170840"/>
                  </a:lnTo>
                  <a:lnTo>
                    <a:pt x="11273868" y="1170635"/>
                  </a:lnTo>
                  <a:lnTo>
                    <a:pt x="11274452" y="1161364"/>
                  </a:lnTo>
                  <a:lnTo>
                    <a:pt x="11274475" y="1160995"/>
                  </a:lnTo>
                  <a:lnTo>
                    <a:pt x="11274120" y="73075"/>
                  </a:lnTo>
                  <a:lnTo>
                    <a:pt x="11259016" y="28705"/>
                  </a:lnTo>
                  <a:lnTo>
                    <a:pt x="11220072" y="2428"/>
                  </a:lnTo>
                  <a:lnTo>
                    <a:pt x="11210671" y="607"/>
                  </a:lnTo>
                  <a:lnTo>
                    <a:pt x="11201031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844" y="3657599"/>
              <a:ext cx="11275060" cy="1234440"/>
            </a:xfrm>
            <a:custGeom>
              <a:avLst/>
              <a:gdLst/>
              <a:ahLst/>
              <a:cxnLst/>
              <a:rect l="l" t="t" r="r" b="b"/>
              <a:pathLst>
                <a:path w="11275060" h="123443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201031" y="0"/>
                  </a:lnTo>
                  <a:lnTo>
                    <a:pt x="11245564" y="15104"/>
                  </a:lnTo>
                  <a:lnTo>
                    <a:pt x="11271689" y="54224"/>
                  </a:lnTo>
                  <a:lnTo>
                    <a:pt x="11274120" y="73075"/>
                  </a:lnTo>
                  <a:lnTo>
                    <a:pt x="11274475" y="1160995"/>
                  </a:lnTo>
                  <a:lnTo>
                    <a:pt x="11273868" y="1170635"/>
                  </a:lnTo>
                  <a:lnTo>
                    <a:pt x="11272046" y="1180036"/>
                  </a:lnTo>
                  <a:lnTo>
                    <a:pt x="11245770" y="1218980"/>
                  </a:lnTo>
                  <a:lnTo>
                    <a:pt x="11201400" y="1234084"/>
                  </a:lnTo>
                  <a:lnTo>
                    <a:pt x="73075" y="1234439"/>
                  </a:lnTo>
                  <a:lnTo>
                    <a:pt x="28548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00100" y="3824185"/>
            <a:ext cx="17703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S</a:t>
            </a:r>
            <a:r>
              <a:rPr sz="10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H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A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P</a:t>
            </a:r>
            <a:r>
              <a:rPr sz="10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E</a:t>
            </a:r>
            <a:r>
              <a:rPr sz="1000" b="1" spc="31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T</a:t>
            </a:r>
            <a:r>
              <a:rPr sz="10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R</a:t>
            </a:r>
            <a:r>
              <a:rPr sz="10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A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N</a:t>
            </a:r>
            <a:r>
              <a:rPr sz="10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S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F</a:t>
            </a:r>
            <a:r>
              <a:rPr sz="100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R</a:t>
            </a:r>
            <a:r>
              <a:rPr sz="10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M</a:t>
            </a:r>
            <a:r>
              <a:rPr sz="10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AT</a:t>
            </a:r>
            <a:r>
              <a:rPr sz="10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I</a:t>
            </a:r>
            <a:r>
              <a:rPr sz="10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4BC8E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3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00455" y="4058052"/>
            <a:ext cx="905510" cy="5416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50" dirty="0">
                <a:solidFill>
                  <a:srgbClr val="42D8AC"/>
                </a:solidFill>
                <a:latin typeface="Calibri"/>
                <a:cs typeface="Calibri"/>
              </a:rPr>
              <a:t>variable</a:t>
            </a:r>
            <a:r>
              <a:rPr sz="1150" spc="-60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2D8AC"/>
                </a:solidFill>
                <a:latin typeface="Calibri"/>
                <a:cs typeface="Calibri"/>
              </a:rPr>
              <a:t>length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95486" y="4138460"/>
            <a:ext cx="1096010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00"/>
              </a:lnSpc>
            </a:pPr>
            <a:r>
              <a:rPr sz="2250" spc="907" baseline="-42592" dirty="0">
                <a:solidFill>
                  <a:srgbClr val="4BC8EF"/>
                </a:solidFill>
                <a:latin typeface="Calibri"/>
                <a:cs typeface="Calibri"/>
              </a:rPr>
              <a:t>*</a:t>
            </a:r>
            <a:r>
              <a:rPr sz="2250" spc="-37" baseline="-42592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Mono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22384" y="4398378"/>
            <a:ext cx="9493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42D8AC"/>
                </a:solidFill>
                <a:latin typeface="Calibri"/>
                <a:cs typeface="Calibri"/>
              </a:rPr>
              <a:t>16,000</a:t>
            </a:r>
            <a:r>
              <a:rPr sz="1150" spc="-60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42D8AC"/>
                </a:solidFill>
                <a:latin typeface="Calibri"/>
                <a:cs typeface="Calibri"/>
              </a:rPr>
              <a:t>samples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17401" y="4138460"/>
            <a:ext cx="108267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00"/>
              </a:lnSpc>
            </a:pPr>
            <a:r>
              <a:rPr sz="2250" spc="907" baseline="-42592" dirty="0">
                <a:solidFill>
                  <a:srgbClr val="4BC8EF"/>
                </a:solidFill>
                <a:latin typeface="Calibri"/>
                <a:cs typeface="Calibri"/>
              </a:rPr>
              <a:t>*</a:t>
            </a:r>
            <a:r>
              <a:rPr sz="2250" spc="-52" baseline="-42592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MFCC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44655" y="4398378"/>
            <a:ext cx="4603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42D8AC"/>
                </a:solidFill>
                <a:latin typeface="Calibri"/>
                <a:cs typeface="Calibri"/>
              </a:rPr>
              <a:t>40</a:t>
            </a:r>
            <a:r>
              <a:rPr sz="1150" spc="-10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2D8AC"/>
                </a:solidFill>
                <a:latin typeface="Calibri"/>
                <a:cs typeface="Calibri"/>
              </a:rPr>
              <a:t>×</a:t>
            </a:r>
            <a:r>
              <a:rPr sz="1150" spc="-25" dirty="0">
                <a:solidFill>
                  <a:srgbClr val="42D8AC"/>
                </a:solidFill>
                <a:latin typeface="Calibri"/>
                <a:cs typeface="Calibri"/>
              </a:rPr>
              <a:t> 32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39685" y="4138460"/>
            <a:ext cx="1195070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00"/>
              </a:lnSpc>
            </a:pPr>
            <a:r>
              <a:rPr sz="2250" spc="907" baseline="-42592" dirty="0">
                <a:solidFill>
                  <a:srgbClr val="4BC8EF"/>
                </a:solidFill>
                <a:latin typeface="Calibri"/>
                <a:cs typeface="Calibri"/>
              </a:rPr>
              <a:t>*</a:t>
            </a:r>
            <a:r>
              <a:rPr sz="2250" spc="-22" baseline="-42592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Padded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66584" y="4398378"/>
            <a:ext cx="46037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42D8AC"/>
                </a:solidFill>
                <a:latin typeface="Calibri"/>
                <a:cs typeface="Calibri"/>
              </a:rPr>
              <a:t>40</a:t>
            </a:r>
            <a:r>
              <a:rPr sz="1150" spc="-10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42D8AC"/>
                </a:solidFill>
                <a:latin typeface="Calibri"/>
                <a:cs typeface="Calibri"/>
              </a:rPr>
              <a:t>×</a:t>
            </a:r>
            <a:r>
              <a:rPr sz="1150" spc="-25" dirty="0">
                <a:solidFill>
                  <a:srgbClr val="42D8AC"/>
                </a:solidFill>
                <a:latin typeface="Calibri"/>
                <a:cs typeface="Calibri"/>
              </a:rPr>
              <a:t> 40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361601" y="4138460"/>
            <a:ext cx="1189355" cy="208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600"/>
              </a:lnSpc>
            </a:pPr>
            <a:r>
              <a:rPr sz="2250" spc="907" baseline="-42592" dirty="0">
                <a:solidFill>
                  <a:srgbClr val="4BC8EF"/>
                </a:solidFill>
                <a:latin typeface="Calibri"/>
                <a:cs typeface="Calibri"/>
              </a:rPr>
              <a:t>*</a:t>
            </a:r>
            <a:r>
              <a:rPr sz="2250" spc="-22" baseline="-42592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588500" y="4398378"/>
            <a:ext cx="4921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42D8AC"/>
                </a:solidFill>
                <a:latin typeface="Calibri"/>
                <a:cs typeface="Calibri"/>
              </a:rPr>
              <a:t>1,600-</a:t>
            </a:r>
            <a:r>
              <a:rPr sz="1150" spc="-50" dirty="0">
                <a:solidFill>
                  <a:srgbClr val="42D8AC"/>
                </a:solidFill>
                <a:latin typeface="Calibri"/>
                <a:cs typeface="Calibri"/>
              </a:rPr>
              <a:t>D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44144" y="5111178"/>
            <a:ext cx="69386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Design</a:t>
            </a:r>
            <a:r>
              <a:rPr sz="11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matrix:</a:t>
            </a:r>
            <a:r>
              <a:rPr sz="11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5,000</a:t>
            </a:r>
            <a:r>
              <a:rPr sz="11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×</a:t>
            </a:r>
            <a:r>
              <a:rPr sz="1150" i="1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1,600,</a:t>
            </a:r>
            <a:r>
              <a:rPr sz="11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serialised</a:t>
            </a:r>
            <a:r>
              <a:rPr sz="11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once</a:t>
            </a:r>
            <a:r>
              <a:rPr sz="11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1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1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99A9C3"/>
                </a:solidFill>
                <a:latin typeface="Calibri"/>
                <a:cs typeface="Calibri"/>
              </a:rPr>
              <a:t>compressed</a:t>
            </a:r>
            <a:r>
              <a:rPr sz="11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.npz</a:t>
            </a:r>
            <a:r>
              <a:rPr sz="11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archive</a:t>
            </a:r>
            <a:r>
              <a:rPr sz="1150" i="1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—</a:t>
            </a:r>
            <a:r>
              <a:rPr sz="11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training</a:t>
            </a:r>
            <a:r>
              <a:rPr sz="11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stage</a:t>
            </a:r>
            <a:r>
              <a:rPr sz="11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never</a:t>
            </a:r>
            <a:r>
              <a:rPr sz="11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99A9C3"/>
                </a:solidFill>
                <a:latin typeface="Calibri"/>
                <a:cs typeface="Calibri"/>
              </a:rPr>
              <a:t>re-</a:t>
            </a:r>
            <a:r>
              <a:rPr sz="1150" i="1" dirty="0">
                <a:solidFill>
                  <a:srgbClr val="99A9C3"/>
                </a:solidFill>
                <a:latin typeface="Calibri"/>
                <a:cs typeface="Calibri"/>
              </a:rPr>
              <a:t>reads</a:t>
            </a:r>
            <a:r>
              <a:rPr sz="11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99A9C3"/>
                </a:solidFill>
                <a:latin typeface="Calibri"/>
                <a:cs typeface="Calibri"/>
              </a:rPr>
              <a:t>audio.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8" name="object 3">
            <a:extLst>
              <a:ext uri="{FF2B5EF4-FFF2-40B4-BE49-F238E27FC236}">
                <a16:creationId xmlns:a16="http://schemas.microsoft.com/office/drawing/2014/main" id="{3EC76667-16B8-4A43-AE95-04E2DA1CF504}"/>
              </a:ext>
            </a:extLst>
          </p:cNvPr>
          <p:cNvSpPr txBox="1"/>
          <p:nvPr/>
        </p:nvSpPr>
        <p:spPr>
          <a:xfrm>
            <a:off x="10836262" y="278961"/>
            <a:ext cx="908050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Nazmul</a:t>
            </a:r>
            <a:r>
              <a:rPr sz="1250" b="1" spc="-6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20" dirty="0">
                <a:solidFill>
                  <a:srgbClr val="4BC8EF"/>
                </a:solidFill>
                <a:latin typeface="Calibri"/>
                <a:cs typeface="Calibri"/>
              </a:rPr>
              <a:t>Huda</a:t>
            </a:r>
            <a:endParaRPr sz="1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110" dirty="0"/>
              <a:t> </a:t>
            </a:r>
            <a:r>
              <a:rPr dirty="0"/>
              <a:t>Forest</a:t>
            </a:r>
            <a:r>
              <a:rPr spc="125" dirty="0"/>
              <a:t> </a:t>
            </a:r>
            <a:r>
              <a:rPr dirty="0"/>
              <a:t>Classifier</a:t>
            </a:r>
            <a:r>
              <a:rPr spc="130" dirty="0"/>
              <a:t> </a:t>
            </a:r>
            <a:r>
              <a:rPr spc="3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10545" y="278961"/>
            <a:ext cx="1133475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Md.</a:t>
            </a:r>
            <a:r>
              <a:rPr sz="1250" b="1" spc="-5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Arebi</a:t>
            </a:r>
            <a:r>
              <a:rPr sz="1250" b="1" spc="-4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Sarker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2520" y="1184040"/>
            <a:ext cx="5815965" cy="1308100"/>
            <a:chOff x="452520" y="1184040"/>
            <a:chExt cx="5815965" cy="1308100"/>
          </a:xfrm>
        </p:grpSpPr>
        <p:sp>
          <p:nvSpPr>
            <p:cNvPr id="5" name="object 5"/>
            <p:cNvSpPr/>
            <p:nvPr/>
          </p:nvSpPr>
          <p:spPr>
            <a:xfrm>
              <a:off x="457199" y="1188720"/>
              <a:ext cx="5806440" cy="1298575"/>
            </a:xfrm>
            <a:custGeom>
              <a:avLst/>
              <a:gdLst/>
              <a:ahLst/>
              <a:cxnLst/>
              <a:rect l="l" t="t" r="r" b="b"/>
              <a:pathLst>
                <a:path w="5806440" h="1298575">
                  <a:moveTo>
                    <a:pt x="57329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225435"/>
                  </a:lnTo>
                  <a:lnTo>
                    <a:pt x="15046" y="1269813"/>
                  </a:lnTo>
                  <a:lnTo>
                    <a:pt x="54046" y="1296093"/>
                  </a:lnTo>
                  <a:lnTo>
                    <a:pt x="73075" y="1298524"/>
                  </a:lnTo>
                  <a:lnTo>
                    <a:pt x="5733364" y="1298155"/>
                  </a:lnTo>
                  <a:lnTo>
                    <a:pt x="5777734" y="1283114"/>
                  </a:lnTo>
                  <a:lnTo>
                    <a:pt x="5803996" y="1244158"/>
                  </a:lnTo>
                  <a:lnTo>
                    <a:pt x="5806417" y="1225435"/>
                  </a:lnTo>
                  <a:lnTo>
                    <a:pt x="5806440" y="1225080"/>
                  </a:lnTo>
                  <a:lnTo>
                    <a:pt x="5806084" y="73075"/>
                  </a:lnTo>
                  <a:lnTo>
                    <a:pt x="5791030" y="28705"/>
                  </a:lnTo>
                  <a:lnTo>
                    <a:pt x="5752036" y="2428"/>
                  </a:lnTo>
                  <a:lnTo>
                    <a:pt x="5742635" y="607"/>
                  </a:lnTo>
                  <a:lnTo>
                    <a:pt x="57329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199" y="1188720"/>
              <a:ext cx="5806440" cy="1298575"/>
            </a:xfrm>
            <a:custGeom>
              <a:avLst/>
              <a:gdLst/>
              <a:ahLst/>
              <a:cxnLst/>
              <a:rect l="l" t="t" r="r" b="b"/>
              <a:pathLst>
                <a:path w="5806440" h="1298575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46"/>
                  </a:lnTo>
                  <a:lnTo>
                    <a:pt x="73075" y="0"/>
                  </a:lnTo>
                  <a:lnTo>
                    <a:pt x="5732995" y="0"/>
                  </a:lnTo>
                  <a:lnTo>
                    <a:pt x="5777678" y="15104"/>
                  </a:lnTo>
                  <a:lnTo>
                    <a:pt x="5803653" y="54357"/>
                  </a:lnTo>
                  <a:lnTo>
                    <a:pt x="5806084" y="73075"/>
                  </a:lnTo>
                  <a:lnTo>
                    <a:pt x="5806440" y="1225080"/>
                  </a:lnTo>
                  <a:lnTo>
                    <a:pt x="5805832" y="1234713"/>
                  </a:lnTo>
                  <a:lnTo>
                    <a:pt x="5804011" y="1244114"/>
                  </a:lnTo>
                  <a:lnTo>
                    <a:pt x="5777734" y="1283114"/>
                  </a:lnTo>
                  <a:lnTo>
                    <a:pt x="5733364" y="1298155"/>
                  </a:lnTo>
                  <a:lnTo>
                    <a:pt x="73075" y="1298524"/>
                  </a:lnTo>
                  <a:lnTo>
                    <a:pt x="28399" y="1283414"/>
                  </a:lnTo>
                  <a:lnTo>
                    <a:pt x="2428" y="1244158"/>
                  </a:lnTo>
                  <a:lnTo>
                    <a:pt x="0" y="1225435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444" y="140796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38"/>
                  </a:lnTo>
                  <a:lnTo>
                    <a:pt x="24472" y="91439"/>
                  </a:lnTo>
                  <a:lnTo>
                    <a:pt x="6164" y="135540"/>
                  </a:lnTo>
                  <a:lnTo>
                    <a:pt x="0" y="182879"/>
                  </a:lnTo>
                  <a:lnTo>
                    <a:pt x="1546" y="206786"/>
                  </a:lnTo>
                  <a:lnTo>
                    <a:pt x="13817" y="252842"/>
                  </a:lnTo>
                  <a:lnTo>
                    <a:pt x="37874" y="294200"/>
                  </a:lnTo>
                  <a:lnTo>
                    <a:pt x="71559" y="327880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80"/>
                  </a:lnTo>
                  <a:lnTo>
                    <a:pt x="327878" y="294200"/>
                  </a:lnTo>
                  <a:lnTo>
                    <a:pt x="351936" y="252842"/>
                  </a:lnTo>
                  <a:lnTo>
                    <a:pt x="364212" y="206786"/>
                  </a:lnTo>
                  <a:lnTo>
                    <a:pt x="365760" y="182879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59"/>
                  </a:lnTo>
                  <a:lnTo>
                    <a:pt x="294195" y="37879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444" y="140796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39"/>
                  </a:lnTo>
                  <a:lnTo>
                    <a:pt x="53636" y="53638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20" y="24485"/>
                  </a:lnTo>
                  <a:lnTo>
                    <a:pt x="312116" y="53638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60" y="182879"/>
                  </a:lnTo>
                  <a:lnTo>
                    <a:pt x="364212" y="206786"/>
                  </a:lnTo>
                  <a:lnTo>
                    <a:pt x="359594" y="230219"/>
                  </a:lnTo>
                  <a:lnTo>
                    <a:pt x="341274" y="274320"/>
                  </a:lnTo>
                  <a:lnTo>
                    <a:pt x="312116" y="312121"/>
                  </a:lnTo>
                  <a:lnTo>
                    <a:pt x="274320" y="341274"/>
                  </a:lnTo>
                  <a:lnTo>
                    <a:pt x="230214" y="359594"/>
                  </a:lnTo>
                  <a:lnTo>
                    <a:pt x="182879" y="365760"/>
                  </a:lnTo>
                  <a:lnTo>
                    <a:pt x="135535" y="359594"/>
                  </a:lnTo>
                  <a:lnTo>
                    <a:pt x="91439" y="341274"/>
                  </a:lnTo>
                  <a:lnTo>
                    <a:pt x="53636" y="312121"/>
                  </a:lnTo>
                  <a:lnTo>
                    <a:pt x="24472" y="274320"/>
                  </a:lnTo>
                  <a:lnTo>
                    <a:pt x="6164" y="230219"/>
                  </a:lnTo>
                  <a:lnTo>
                    <a:pt x="1546" y="206786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7105" y="1471218"/>
            <a:ext cx="21069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2425" algn="l"/>
              </a:tabLst>
            </a:pPr>
            <a:r>
              <a:rPr sz="1800" b="1" spc="-75" baseline="4629" dirty="0">
                <a:solidFill>
                  <a:srgbClr val="0D1625"/>
                </a:solidFill>
                <a:latin typeface="Calibri"/>
                <a:cs typeface="Calibri"/>
              </a:rPr>
              <a:t>1</a:t>
            </a:r>
            <a:r>
              <a:rPr sz="1800" b="1" baseline="4629" dirty="0">
                <a:solidFill>
                  <a:srgbClr val="0D1625"/>
                </a:solidFill>
                <a:latin typeface="Calibri"/>
                <a:cs typeface="Calibri"/>
              </a:rPr>
              <a:t>	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Ensemble</a:t>
            </a:r>
            <a:r>
              <a:rPr sz="1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100" y="1890696"/>
            <a:ext cx="51212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B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=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100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CART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decision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trees,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unbounded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depth,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Gini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impurity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split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criterion,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bootstrap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resampling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with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random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feature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subsets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at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every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node.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2520" y="2683795"/>
            <a:ext cx="5815965" cy="1308100"/>
            <a:chOff x="452520" y="2683795"/>
            <a:chExt cx="5815965" cy="1308100"/>
          </a:xfrm>
        </p:grpSpPr>
        <p:sp>
          <p:nvSpPr>
            <p:cNvPr id="12" name="object 12"/>
            <p:cNvSpPr/>
            <p:nvPr/>
          </p:nvSpPr>
          <p:spPr>
            <a:xfrm>
              <a:off x="457199" y="2688475"/>
              <a:ext cx="5806440" cy="1298575"/>
            </a:xfrm>
            <a:custGeom>
              <a:avLst/>
              <a:gdLst/>
              <a:ahLst/>
              <a:cxnLst/>
              <a:rect l="l" t="t" r="r" b="b"/>
              <a:pathLst>
                <a:path w="5806440" h="1298575">
                  <a:moveTo>
                    <a:pt x="57329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225448"/>
                  </a:lnTo>
                  <a:lnTo>
                    <a:pt x="15046" y="1269818"/>
                  </a:lnTo>
                  <a:lnTo>
                    <a:pt x="54046" y="1296095"/>
                  </a:lnTo>
                  <a:lnTo>
                    <a:pt x="73075" y="1298524"/>
                  </a:lnTo>
                  <a:lnTo>
                    <a:pt x="5733364" y="1298168"/>
                  </a:lnTo>
                  <a:lnTo>
                    <a:pt x="5777734" y="1283114"/>
                  </a:lnTo>
                  <a:lnTo>
                    <a:pt x="5803995" y="1244166"/>
                  </a:lnTo>
                  <a:lnTo>
                    <a:pt x="5806416" y="1225448"/>
                  </a:lnTo>
                  <a:lnTo>
                    <a:pt x="5806440" y="1225080"/>
                  </a:lnTo>
                  <a:lnTo>
                    <a:pt x="5806084" y="73088"/>
                  </a:lnTo>
                  <a:lnTo>
                    <a:pt x="5791030" y="28710"/>
                  </a:lnTo>
                  <a:lnTo>
                    <a:pt x="5752036" y="2430"/>
                  </a:lnTo>
                  <a:lnTo>
                    <a:pt x="5742635" y="607"/>
                  </a:lnTo>
                  <a:lnTo>
                    <a:pt x="57329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199" y="2688475"/>
              <a:ext cx="5806440" cy="1298575"/>
            </a:xfrm>
            <a:custGeom>
              <a:avLst/>
              <a:gdLst/>
              <a:ahLst/>
              <a:cxnLst/>
              <a:rect l="l" t="t" r="r" b="b"/>
              <a:pathLst>
                <a:path w="5806440" h="1298575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053"/>
                  </a:lnTo>
                  <a:lnTo>
                    <a:pt x="73075" y="0"/>
                  </a:lnTo>
                  <a:lnTo>
                    <a:pt x="5732995" y="0"/>
                  </a:lnTo>
                  <a:lnTo>
                    <a:pt x="5777678" y="15109"/>
                  </a:lnTo>
                  <a:lnTo>
                    <a:pt x="5803653" y="54365"/>
                  </a:lnTo>
                  <a:lnTo>
                    <a:pt x="5806084" y="73088"/>
                  </a:lnTo>
                  <a:lnTo>
                    <a:pt x="5806440" y="1225080"/>
                  </a:lnTo>
                  <a:lnTo>
                    <a:pt x="5805832" y="1234719"/>
                  </a:lnTo>
                  <a:lnTo>
                    <a:pt x="5804011" y="1244120"/>
                  </a:lnTo>
                  <a:lnTo>
                    <a:pt x="5777734" y="1283114"/>
                  </a:lnTo>
                  <a:lnTo>
                    <a:pt x="5733364" y="1298168"/>
                  </a:lnTo>
                  <a:lnTo>
                    <a:pt x="73075" y="1298524"/>
                  </a:lnTo>
                  <a:lnTo>
                    <a:pt x="28399" y="1283420"/>
                  </a:lnTo>
                  <a:lnTo>
                    <a:pt x="2428" y="1244166"/>
                  </a:lnTo>
                  <a:lnTo>
                    <a:pt x="0" y="1225448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444" y="290736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38"/>
                  </a:lnTo>
                  <a:lnTo>
                    <a:pt x="24472" y="91439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6"/>
                  </a:lnTo>
                  <a:lnTo>
                    <a:pt x="13817" y="252842"/>
                  </a:lnTo>
                  <a:lnTo>
                    <a:pt x="37874" y="294200"/>
                  </a:lnTo>
                  <a:lnTo>
                    <a:pt x="71559" y="327880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79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80"/>
                  </a:lnTo>
                  <a:lnTo>
                    <a:pt x="327878" y="294200"/>
                  </a:lnTo>
                  <a:lnTo>
                    <a:pt x="351936" y="252842"/>
                  </a:lnTo>
                  <a:lnTo>
                    <a:pt x="364212" y="206786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59"/>
                  </a:lnTo>
                  <a:lnTo>
                    <a:pt x="294195" y="37879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444" y="290736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39"/>
                  </a:lnTo>
                  <a:lnTo>
                    <a:pt x="53636" y="53638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20" y="24485"/>
                  </a:lnTo>
                  <a:lnTo>
                    <a:pt x="312116" y="53638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6"/>
                  </a:lnTo>
                  <a:lnTo>
                    <a:pt x="359594" y="230219"/>
                  </a:lnTo>
                  <a:lnTo>
                    <a:pt x="341274" y="274320"/>
                  </a:lnTo>
                  <a:lnTo>
                    <a:pt x="312116" y="312121"/>
                  </a:lnTo>
                  <a:lnTo>
                    <a:pt x="274320" y="341274"/>
                  </a:lnTo>
                  <a:lnTo>
                    <a:pt x="230214" y="359594"/>
                  </a:lnTo>
                  <a:lnTo>
                    <a:pt x="182879" y="365760"/>
                  </a:lnTo>
                  <a:lnTo>
                    <a:pt x="135535" y="359594"/>
                  </a:lnTo>
                  <a:lnTo>
                    <a:pt x="91439" y="341274"/>
                  </a:lnTo>
                  <a:lnTo>
                    <a:pt x="53636" y="312121"/>
                  </a:lnTo>
                  <a:lnTo>
                    <a:pt x="24472" y="274320"/>
                  </a:lnTo>
                  <a:lnTo>
                    <a:pt x="6164" y="230219"/>
                  </a:lnTo>
                  <a:lnTo>
                    <a:pt x="1546" y="206786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7105" y="2970618"/>
            <a:ext cx="18440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2425" algn="l"/>
              </a:tabLst>
            </a:pPr>
            <a:r>
              <a:rPr sz="1800" b="1" spc="-75" baseline="4629" dirty="0">
                <a:solidFill>
                  <a:srgbClr val="0D1625"/>
                </a:solidFill>
                <a:latin typeface="Calibri"/>
                <a:cs typeface="Calibri"/>
              </a:rPr>
              <a:t>2</a:t>
            </a:r>
            <a:r>
              <a:rPr sz="1800" b="1" baseline="4629" dirty="0">
                <a:solidFill>
                  <a:srgbClr val="0D1625"/>
                </a:solidFill>
                <a:latin typeface="Calibri"/>
                <a:cs typeface="Calibri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Dataset partitioning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0100" y="3390097"/>
            <a:ext cx="53092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Stratified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80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/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20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hold-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out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—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4,000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training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1,000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validation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utterances, exactly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400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99A9C3"/>
                </a:solidFill>
                <a:latin typeface="Calibri"/>
                <a:cs typeface="Calibri"/>
              </a:rPr>
              <a:t>/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100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per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speaker.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Fixed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seed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42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for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bit-for-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bit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reproducibility.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2520" y="4183195"/>
            <a:ext cx="5815965" cy="1490980"/>
            <a:chOff x="452520" y="4183195"/>
            <a:chExt cx="5815965" cy="1490980"/>
          </a:xfrm>
        </p:grpSpPr>
        <p:sp>
          <p:nvSpPr>
            <p:cNvPr id="19" name="object 19"/>
            <p:cNvSpPr/>
            <p:nvPr/>
          </p:nvSpPr>
          <p:spPr>
            <a:xfrm>
              <a:off x="457199" y="4187875"/>
              <a:ext cx="5806440" cy="1481455"/>
            </a:xfrm>
            <a:custGeom>
              <a:avLst/>
              <a:gdLst/>
              <a:ahLst/>
              <a:cxnLst/>
              <a:rect l="l" t="t" r="r" b="b"/>
              <a:pathLst>
                <a:path w="5806440" h="1481454">
                  <a:moveTo>
                    <a:pt x="5732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408328"/>
                  </a:lnTo>
                  <a:lnTo>
                    <a:pt x="594" y="1417599"/>
                  </a:lnTo>
                  <a:lnTo>
                    <a:pt x="607" y="1417804"/>
                  </a:lnTo>
                  <a:lnTo>
                    <a:pt x="2394" y="1427000"/>
                  </a:lnTo>
                  <a:lnTo>
                    <a:pt x="2428" y="1427179"/>
                  </a:lnTo>
                  <a:lnTo>
                    <a:pt x="5412" y="1436063"/>
                  </a:lnTo>
                  <a:lnTo>
                    <a:pt x="5464" y="1436219"/>
                  </a:lnTo>
                  <a:lnTo>
                    <a:pt x="36360" y="1471688"/>
                  </a:lnTo>
                  <a:lnTo>
                    <a:pt x="73075" y="1481404"/>
                  </a:lnTo>
                  <a:lnTo>
                    <a:pt x="5733364" y="1481048"/>
                  </a:lnTo>
                  <a:lnTo>
                    <a:pt x="5777734" y="1465944"/>
                  </a:lnTo>
                  <a:lnTo>
                    <a:pt x="5803951" y="1427179"/>
                  </a:lnTo>
                  <a:lnTo>
                    <a:pt x="5804011" y="1427000"/>
                  </a:lnTo>
                  <a:lnTo>
                    <a:pt x="5805792" y="1417804"/>
                  </a:lnTo>
                  <a:lnTo>
                    <a:pt x="5805832" y="1417599"/>
                  </a:lnTo>
                  <a:lnTo>
                    <a:pt x="5806416" y="1408328"/>
                  </a:lnTo>
                  <a:lnTo>
                    <a:pt x="5806440" y="1407960"/>
                  </a:lnTo>
                  <a:lnTo>
                    <a:pt x="5806084" y="73088"/>
                  </a:lnTo>
                  <a:lnTo>
                    <a:pt x="5790980" y="28710"/>
                  </a:lnTo>
                  <a:lnTo>
                    <a:pt x="5752036" y="2430"/>
                  </a:lnTo>
                  <a:lnTo>
                    <a:pt x="5742635" y="607"/>
                  </a:lnTo>
                  <a:lnTo>
                    <a:pt x="573299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" y="4187875"/>
              <a:ext cx="5806440" cy="1481455"/>
            </a:xfrm>
            <a:custGeom>
              <a:avLst/>
              <a:gdLst/>
              <a:ahLst/>
              <a:cxnLst/>
              <a:rect l="l" t="t" r="r" b="b"/>
              <a:pathLst>
                <a:path w="5806440" h="1481454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5732995" y="0"/>
                  </a:lnTo>
                  <a:lnTo>
                    <a:pt x="5777528" y="15109"/>
                  </a:lnTo>
                  <a:lnTo>
                    <a:pt x="5803653" y="54232"/>
                  </a:lnTo>
                  <a:lnTo>
                    <a:pt x="5806084" y="73088"/>
                  </a:lnTo>
                  <a:lnTo>
                    <a:pt x="5806440" y="1407960"/>
                  </a:lnTo>
                  <a:lnTo>
                    <a:pt x="5805832" y="1417599"/>
                  </a:lnTo>
                  <a:lnTo>
                    <a:pt x="5804011" y="1427000"/>
                  </a:lnTo>
                  <a:lnTo>
                    <a:pt x="5777734" y="1465944"/>
                  </a:lnTo>
                  <a:lnTo>
                    <a:pt x="5733364" y="1481048"/>
                  </a:lnTo>
                  <a:lnTo>
                    <a:pt x="73075" y="1481404"/>
                  </a:lnTo>
                  <a:lnTo>
                    <a:pt x="28555" y="1466300"/>
                  </a:lnTo>
                  <a:lnTo>
                    <a:pt x="2428" y="1427179"/>
                  </a:lnTo>
                  <a:lnTo>
                    <a:pt x="0" y="1408328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444" y="4407115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43"/>
                  </a:lnTo>
                  <a:lnTo>
                    <a:pt x="24472" y="91440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444" y="4407115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40"/>
                  </a:lnTo>
                  <a:lnTo>
                    <a:pt x="53636" y="53643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20" y="24485"/>
                  </a:lnTo>
                  <a:lnTo>
                    <a:pt x="312116" y="53643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19"/>
                  </a:lnTo>
                  <a:lnTo>
                    <a:pt x="312116" y="312123"/>
                  </a:lnTo>
                  <a:lnTo>
                    <a:pt x="274320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39" y="341287"/>
                  </a:lnTo>
                  <a:lnTo>
                    <a:pt x="53636" y="312123"/>
                  </a:lnTo>
                  <a:lnTo>
                    <a:pt x="24472" y="274319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42D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17105" y="448585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D1625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7300" y="4470387"/>
            <a:ext cx="1630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fits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0100" y="4885877"/>
            <a:ext cx="521525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Invariant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monotone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feature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scaling,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so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low-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high-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order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cepstral coefficients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need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no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standardisation. Constant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zero-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padded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columns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can</a:t>
            </a:r>
            <a:r>
              <a:rPr sz="11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never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reduce</a:t>
            </a:r>
            <a:r>
              <a:rPr sz="11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Gini</a:t>
            </a:r>
            <a:r>
              <a:rPr sz="11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impurity, </a:t>
            </a:r>
            <a:r>
              <a:rPr sz="1150" spc="-25" dirty="0">
                <a:solidFill>
                  <a:srgbClr val="99A9C3"/>
                </a:solidFill>
                <a:latin typeface="Calibri"/>
                <a:cs typeface="Calibri"/>
              </a:rPr>
              <a:t>so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they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are</a:t>
            </a:r>
            <a:r>
              <a:rPr sz="115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never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selected</a:t>
            </a:r>
            <a:r>
              <a:rPr sz="11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99A9C3"/>
                </a:solidFill>
                <a:latin typeface="Calibri"/>
                <a:cs typeface="Calibri"/>
              </a:rPr>
              <a:t>as</a:t>
            </a:r>
            <a:r>
              <a:rPr sz="11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99A9C3"/>
                </a:solidFill>
                <a:latin typeface="Calibri"/>
                <a:cs typeface="Calibri"/>
              </a:rPr>
              <a:t>splits.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33197" y="1183601"/>
            <a:ext cx="5203825" cy="4032885"/>
            <a:chOff x="6533197" y="1183601"/>
            <a:chExt cx="5203825" cy="4032885"/>
          </a:xfrm>
        </p:grpSpPr>
        <p:sp>
          <p:nvSpPr>
            <p:cNvPr id="27" name="object 27"/>
            <p:cNvSpPr/>
            <p:nvPr/>
          </p:nvSpPr>
          <p:spPr>
            <a:xfrm>
              <a:off x="6537959" y="1188364"/>
              <a:ext cx="5194300" cy="4023360"/>
            </a:xfrm>
            <a:custGeom>
              <a:avLst/>
              <a:gdLst/>
              <a:ahLst/>
              <a:cxnLst/>
              <a:rect l="l" t="t" r="r" b="b"/>
              <a:pathLst>
                <a:path w="5194300" h="4023360">
                  <a:moveTo>
                    <a:pt x="51202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950271"/>
                  </a:lnTo>
                  <a:lnTo>
                    <a:pt x="594" y="3959549"/>
                  </a:lnTo>
                  <a:lnTo>
                    <a:pt x="607" y="3959749"/>
                  </a:lnTo>
                  <a:lnTo>
                    <a:pt x="2394" y="3968950"/>
                  </a:lnTo>
                  <a:lnTo>
                    <a:pt x="2428" y="3969127"/>
                  </a:lnTo>
                  <a:lnTo>
                    <a:pt x="5412" y="3978012"/>
                  </a:lnTo>
                  <a:lnTo>
                    <a:pt x="5464" y="3978167"/>
                  </a:lnTo>
                  <a:lnTo>
                    <a:pt x="36360" y="4013631"/>
                  </a:lnTo>
                  <a:lnTo>
                    <a:pt x="73075" y="4023360"/>
                  </a:lnTo>
                  <a:lnTo>
                    <a:pt x="5120640" y="4022991"/>
                  </a:lnTo>
                  <a:lnTo>
                    <a:pt x="5165017" y="4007900"/>
                  </a:lnTo>
                  <a:lnTo>
                    <a:pt x="5191227" y="3969127"/>
                  </a:lnTo>
                  <a:lnTo>
                    <a:pt x="5193693" y="3950271"/>
                  </a:lnTo>
                  <a:lnTo>
                    <a:pt x="5193715" y="3949915"/>
                  </a:lnTo>
                  <a:lnTo>
                    <a:pt x="5193360" y="73075"/>
                  </a:lnTo>
                  <a:lnTo>
                    <a:pt x="5178261" y="28698"/>
                  </a:lnTo>
                  <a:lnTo>
                    <a:pt x="5139313" y="2428"/>
                  </a:lnTo>
                  <a:lnTo>
                    <a:pt x="5129916" y="607"/>
                  </a:lnTo>
                  <a:lnTo>
                    <a:pt x="5120284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37959" y="1188364"/>
              <a:ext cx="5194300" cy="4023360"/>
            </a:xfrm>
            <a:custGeom>
              <a:avLst/>
              <a:gdLst/>
              <a:ahLst/>
              <a:cxnLst/>
              <a:rect l="l" t="t" r="r" b="b"/>
              <a:pathLst>
                <a:path w="5194300" h="40233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5120284" y="0"/>
                  </a:lnTo>
                  <a:lnTo>
                    <a:pt x="5164804" y="15096"/>
                  </a:lnTo>
                  <a:lnTo>
                    <a:pt x="5190931" y="54219"/>
                  </a:lnTo>
                  <a:lnTo>
                    <a:pt x="5193360" y="73075"/>
                  </a:lnTo>
                  <a:lnTo>
                    <a:pt x="5193715" y="3949915"/>
                  </a:lnTo>
                  <a:lnTo>
                    <a:pt x="5193108" y="3959549"/>
                  </a:lnTo>
                  <a:lnTo>
                    <a:pt x="5191286" y="3968950"/>
                  </a:lnTo>
                  <a:lnTo>
                    <a:pt x="5165017" y="4007900"/>
                  </a:lnTo>
                  <a:lnTo>
                    <a:pt x="5120640" y="4022991"/>
                  </a:lnTo>
                  <a:lnTo>
                    <a:pt x="73075" y="4023360"/>
                  </a:lnTo>
                  <a:lnTo>
                    <a:pt x="28555" y="4008250"/>
                  </a:lnTo>
                  <a:lnTo>
                    <a:pt x="2428" y="3969127"/>
                  </a:lnTo>
                  <a:lnTo>
                    <a:pt x="0" y="395027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644" y="1389964"/>
              <a:ext cx="4572000" cy="384175"/>
            </a:xfrm>
            <a:custGeom>
              <a:avLst/>
              <a:gdLst/>
              <a:ahLst/>
              <a:cxnLst/>
              <a:rect l="l" t="t" r="r" b="b"/>
              <a:pathLst>
                <a:path w="4572000" h="384175">
                  <a:moveTo>
                    <a:pt x="4571631" y="0"/>
                  </a:moveTo>
                  <a:lnTo>
                    <a:pt x="0" y="0"/>
                  </a:lnTo>
                  <a:lnTo>
                    <a:pt x="0" y="383755"/>
                  </a:lnTo>
                  <a:lnTo>
                    <a:pt x="2286000" y="383755"/>
                  </a:lnTo>
                  <a:lnTo>
                    <a:pt x="4571631" y="383755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57644" y="1389964"/>
            <a:ext cx="4572000" cy="384175"/>
          </a:xfrm>
          <a:prstGeom prst="rect">
            <a:avLst/>
          </a:prstGeom>
          <a:ln w="12599">
            <a:solidFill>
              <a:srgbClr val="4BC8EF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250" b="1" dirty="0">
                <a:solidFill>
                  <a:srgbClr val="0D1625"/>
                </a:solidFill>
                <a:latin typeface="Calibri"/>
                <a:cs typeface="Calibri"/>
              </a:rPr>
              <a:t>v</a:t>
            </a:r>
            <a:r>
              <a:rPr sz="1250" b="1" spc="1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50" spc="215" dirty="0">
                <a:solidFill>
                  <a:srgbClr val="0D1625"/>
                </a:solidFill>
                <a:latin typeface="Segoe UI Symbol"/>
                <a:cs typeface="Segoe UI Symbol"/>
              </a:rPr>
              <a:t>∈</a:t>
            </a:r>
            <a:r>
              <a:rPr sz="1250" spc="-40" dirty="0">
                <a:solidFill>
                  <a:srgbClr val="0D1625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0D1625"/>
                </a:solidFill>
                <a:latin typeface="Segoe UI Symbol"/>
                <a:cs typeface="Segoe UI Symbol"/>
              </a:rPr>
              <a:t>ℝ</a:t>
            </a:r>
            <a:r>
              <a:rPr sz="1250" b="1" dirty="0">
                <a:solidFill>
                  <a:srgbClr val="0D1625"/>
                </a:solidFill>
                <a:latin typeface="Calibri"/>
                <a:cs typeface="Calibri"/>
              </a:rPr>
              <a:t>¹⁶⁰⁰</a:t>
            </a:r>
            <a:r>
              <a:rPr sz="1250" b="1" spc="175" dirty="0">
                <a:solidFill>
                  <a:srgbClr val="0D1625"/>
                </a:solidFill>
                <a:latin typeface="Calibri"/>
                <a:cs typeface="Calibri"/>
              </a:rPr>
              <a:t>  </a:t>
            </a:r>
            <a:r>
              <a:rPr sz="1250" b="1" spc="-10" dirty="0">
                <a:solidFill>
                  <a:srgbClr val="0D1625"/>
                </a:solidFill>
                <a:latin typeface="Calibri"/>
                <a:cs typeface="Calibri"/>
              </a:rPr>
              <a:t>feature</a:t>
            </a:r>
            <a:r>
              <a:rPr sz="1250" b="1" spc="2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D1625"/>
                </a:solidFill>
                <a:latin typeface="Calibri"/>
                <a:cs typeface="Calibri"/>
              </a:rPr>
              <a:t>vector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57644" y="1804135"/>
            <a:ext cx="4686935" cy="2484755"/>
            <a:chOff x="6857644" y="1804135"/>
            <a:chExt cx="4686935" cy="2484755"/>
          </a:xfrm>
        </p:grpSpPr>
        <p:sp>
          <p:nvSpPr>
            <p:cNvPr id="32" name="object 32"/>
            <p:cNvSpPr/>
            <p:nvPr/>
          </p:nvSpPr>
          <p:spPr>
            <a:xfrm>
              <a:off x="7351559" y="1810435"/>
              <a:ext cx="1783080" cy="384175"/>
            </a:xfrm>
            <a:custGeom>
              <a:avLst/>
              <a:gdLst/>
              <a:ahLst/>
              <a:cxnLst/>
              <a:rect l="l" t="t" r="r" b="b"/>
              <a:pathLst>
                <a:path w="1783079" h="384175">
                  <a:moveTo>
                    <a:pt x="0" y="0"/>
                  </a:moveTo>
                  <a:lnTo>
                    <a:pt x="1783079" y="384124"/>
                  </a:lnTo>
                </a:path>
              </a:pathLst>
            </a:custGeom>
            <a:ln w="1259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67435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384124" y="0"/>
                  </a:moveTo>
                  <a:lnTo>
                    <a:pt x="0" y="731520"/>
                  </a:lnTo>
                  <a:lnTo>
                    <a:pt x="768248" y="731520"/>
                  </a:lnTo>
                  <a:lnTo>
                    <a:pt x="384124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67435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0" y="731520"/>
                  </a:moveTo>
                  <a:lnTo>
                    <a:pt x="384124" y="0"/>
                  </a:lnTo>
                  <a:lnTo>
                    <a:pt x="768248" y="731520"/>
                  </a:lnTo>
                  <a:lnTo>
                    <a:pt x="0" y="731520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05839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91084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45720" y="182511"/>
                  </a:lnTo>
                  <a:lnTo>
                    <a:pt x="91084" y="182511"/>
                  </a:lnTo>
                  <a:lnTo>
                    <a:pt x="91084" y="0"/>
                  </a:lnTo>
                  <a:close/>
                </a:path>
              </a:pathLst>
            </a:custGeom>
            <a:solidFill>
              <a:srgbClr val="304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05839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45720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91084" y="0"/>
                  </a:lnTo>
                  <a:lnTo>
                    <a:pt x="91084" y="182511"/>
                  </a:lnTo>
                  <a:lnTo>
                    <a:pt x="45720" y="182511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51559" y="1810435"/>
              <a:ext cx="1783080" cy="2048510"/>
            </a:xfrm>
            <a:custGeom>
              <a:avLst/>
              <a:gdLst/>
              <a:ahLst/>
              <a:cxnLst/>
              <a:rect l="l" t="t" r="r" b="b"/>
              <a:pathLst>
                <a:path w="1783079" h="2048510">
                  <a:moveTo>
                    <a:pt x="0" y="1682280"/>
                  </a:moveTo>
                  <a:lnTo>
                    <a:pt x="1783079" y="2048040"/>
                  </a:lnTo>
                </a:path>
                <a:path w="1783079" h="2048510">
                  <a:moveTo>
                    <a:pt x="951115" y="0"/>
                  </a:moveTo>
                  <a:lnTo>
                    <a:pt x="1783079" y="384124"/>
                  </a:lnTo>
                </a:path>
              </a:pathLst>
            </a:custGeom>
            <a:ln w="1259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18195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384124" y="0"/>
                  </a:moveTo>
                  <a:lnTo>
                    <a:pt x="0" y="731520"/>
                  </a:lnTo>
                  <a:lnTo>
                    <a:pt x="768248" y="731520"/>
                  </a:lnTo>
                  <a:lnTo>
                    <a:pt x="384124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918195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0" y="731520"/>
                  </a:moveTo>
                  <a:lnTo>
                    <a:pt x="384124" y="0"/>
                  </a:lnTo>
                  <a:lnTo>
                    <a:pt x="768248" y="731520"/>
                  </a:lnTo>
                  <a:lnTo>
                    <a:pt x="0" y="731520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56599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91084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45720" y="182511"/>
                  </a:lnTo>
                  <a:lnTo>
                    <a:pt x="91084" y="182511"/>
                  </a:lnTo>
                  <a:lnTo>
                    <a:pt x="91084" y="0"/>
                  </a:lnTo>
                  <a:close/>
                </a:path>
              </a:pathLst>
            </a:custGeom>
            <a:solidFill>
              <a:srgbClr val="304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56599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45720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91084" y="0"/>
                  </a:lnTo>
                  <a:lnTo>
                    <a:pt x="91084" y="182511"/>
                  </a:lnTo>
                  <a:lnTo>
                    <a:pt x="45720" y="182511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02675" y="1810435"/>
              <a:ext cx="951230" cy="2048510"/>
            </a:xfrm>
            <a:custGeom>
              <a:avLst/>
              <a:gdLst/>
              <a:ahLst/>
              <a:cxnLst/>
              <a:rect l="l" t="t" r="r" b="b"/>
              <a:pathLst>
                <a:path w="951229" h="2048510">
                  <a:moveTo>
                    <a:pt x="0" y="1682280"/>
                  </a:moveTo>
                  <a:lnTo>
                    <a:pt x="831964" y="2048040"/>
                  </a:lnTo>
                </a:path>
                <a:path w="951229" h="2048510">
                  <a:moveTo>
                    <a:pt x="831964" y="0"/>
                  </a:moveTo>
                  <a:lnTo>
                    <a:pt x="950760" y="384124"/>
                  </a:lnTo>
                </a:path>
              </a:pathLst>
            </a:custGeom>
            <a:ln w="1259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869324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384111" y="0"/>
                  </a:moveTo>
                  <a:lnTo>
                    <a:pt x="0" y="731520"/>
                  </a:lnTo>
                  <a:lnTo>
                    <a:pt x="768235" y="731520"/>
                  </a:lnTo>
                  <a:lnTo>
                    <a:pt x="384111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869324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0" y="731520"/>
                  </a:moveTo>
                  <a:lnTo>
                    <a:pt x="384111" y="0"/>
                  </a:lnTo>
                  <a:lnTo>
                    <a:pt x="768235" y="731520"/>
                  </a:lnTo>
                  <a:lnTo>
                    <a:pt x="0" y="731520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207715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91084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45719" y="182511"/>
                  </a:lnTo>
                  <a:lnTo>
                    <a:pt x="91084" y="182511"/>
                  </a:lnTo>
                  <a:lnTo>
                    <a:pt x="91084" y="0"/>
                  </a:lnTo>
                  <a:close/>
                </a:path>
              </a:pathLst>
            </a:custGeom>
            <a:solidFill>
              <a:srgbClr val="304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207715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45719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91084" y="0"/>
                  </a:lnTo>
                  <a:lnTo>
                    <a:pt x="91084" y="182511"/>
                  </a:lnTo>
                  <a:lnTo>
                    <a:pt x="45719" y="182511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134639" y="1810435"/>
              <a:ext cx="2021205" cy="2048510"/>
            </a:xfrm>
            <a:custGeom>
              <a:avLst/>
              <a:gdLst/>
              <a:ahLst/>
              <a:cxnLst/>
              <a:rect l="l" t="t" r="r" b="b"/>
              <a:pathLst>
                <a:path w="2021204" h="2048510">
                  <a:moveTo>
                    <a:pt x="118795" y="1682280"/>
                  </a:moveTo>
                  <a:lnTo>
                    <a:pt x="0" y="2048040"/>
                  </a:lnTo>
                </a:path>
                <a:path w="2021204" h="2048510">
                  <a:moveTo>
                    <a:pt x="0" y="0"/>
                  </a:moveTo>
                  <a:lnTo>
                    <a:pt x="2021039" y="384124"/>
                  </a:lnTo>
                </a:path>
              </a:pathLst>
            </a:custGeom>
            <a:ln w="1259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771199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384124" y="0"/>
                  </a:moveTo>
                  <a:lnTo>
                    <a:pt x="0" y="731520"/>
                  </a:lnTo>
                  <a:lnTo>
                    <a:pt x="768235" y="731520"/>
                  </a:lnTo>
                  <a:lnTo>
                    <a:pt x="384124" y="0"/>
                  </a:lnTo>
                  <a:close/>
                </a:path>
              </a:pathLst>
            </a:custGeom>
            <a:solidFill>
              <a:srgbClr val="2D5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771199" y="2285644"/>
              <a:ext cx="768350" cy="731520"/>
            </a:xfrm>
            <a:custGeom>
              <a:avLst/>
              <a:gdLst/>
              <a:ahLst/>
              <a:cxnLst/>
              <a:rect l="l" t="t" r="r" b="b"/>
              <a:pathLst>
                <a:path w="768350" h="731519">
                  <a:moveTo>
                    <a:pt x="0" y="731520"/>
                  </a:moveTo>
                  <a:lnTo>
                    <a:pt x="384124" y="0"/>
                  </a:lnTo>
                  <a:lnTo>
                    <a:pt x="768235" y="731520"/>
                  </a:lnTo>
                  <a:lnTo>
                    <a:pt x="0" y="731520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109604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91071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45719" y="182511"/>
                  </a:lnTo>
                  <a:lnTo>
                    <a:pt x="91071" y="182511"/>
                  </a:lnTo>
                  <a:lnTo>
                    <a:pt x="91071" y="0"/>
                  </a:lnTo>
                  <a:close/>
                </a:path>
              </a:pathLst>
            </a:custGeom>
            <a:solidFill>
              <a:srgbClr val="304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109604" y="3017164"/>
              <a:ext cx="91440" cy="182880"/>
            </a:xfrm>
            <a:custGeom>
              <a:avLst/>
              <a:gdLst/>
              <a:ahLst/>
              <a:cxnLst/>
              <a:rect l="l" t="t" r="r" b="b"/>
              <a:pathLst>
                <a:path w="91440" h="182880">
                  <a:moveTo>
                    <a:pt x="45719" y="182511"/>
                  </a:moveTo>
                  <a:lnTo>
                    <a:pt x="0" y="182511"/>
                  </a:lnTo>
                  <a:lnTo>
                    <a:pt x="0" y="0"/>
                  </a:lnTo>
                  <a:lnTo>
                    <a:pt x="91071" y="0"/>
                  </a:lnTo>
                  <a:lnTo>
                    <a:pt x="91071" y="182511"/>
                  </a:lnTo>
                  <a:lnTo>
                    <a:pt x="45719" y="182511"/>
                  </a:lnTo>
                  <a:close/>
                </a:path>
              </a:pathLst>
            </a:custGeom>
            <a:ln w="125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134639" y="3492715"/>
              <a:ext cx="2021205" cy="365760"/>
            </a:xfrm>
            <a:custGeom>
              <a:avLst/>
              <a:gdLst/>
              <a:ahLst/>
              <a:cxnLst/>
              <a:rect l="l" t="t" r="r" b="b"/>
              <a:pathLst>
                <a:path w="2021204" h="365760">
                  <a:moveTo>
                    <a:pt x="2021039" y="0"/>
                  </a:moveTo>
                  <a:lnTo>
                    <a:pt x="0" y="365760"/>
                  </a:lnTo>
                </a:path>
              </a:pathLst>
            </a:custGeom>
            <a:ln w="1259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57644" y="3877195"/>
              <a:ext cx="4572000" cy="411480"/>
            </a:xfrm>
            <a:custGeom>
              <a:avLst/>
              <a:gdLst/>
              <a:ahLst/>
              <a:cxnLst/>
              <a:rect l="l" t="t" r="r" b="b"/>
              <a:pathLst>
                <a:path w="4572000" h="411479">
                  <a:moveTo>
                    <a:pt x="4571631" y="0"/>
                  </a:moveTo>
                  <a:lnTo>
                    <a:pt x="0" y="0"/>
                  </a:lnTo>
                  <a:lnTo>
                    <a:pt x="0" y="411124"/>
                  </a:lnTo>
                  <a:lnTo>
                    <a:pt x="2286000" y="411124"/>
                  </a:lnTo>
                  <a:lnTo>
                    <a:pt x="4571631" y="411124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273696" y="3248190"/>
            <a:ext cx="1555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h1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4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8224456" y="3248190"/>
            <a:ext cx="1555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h2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175584" y="3248190"/>
            <a:ext cx="1555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h3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100056" y="2501544"/>
            <a:ext cx="208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A9C3"/>
                </a:solidFill>
                <a:latin typeface="Calibri"/>
                <a:cs typeface="Calibri"/>
              </a:rPr>
              <a:t>···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075301" y="3248190"/>
            <a:ext cx="1606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hB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57644" y="3877195"/>
            <a:ext cx="4572000" cy="411480"/>
          </a:xfrm>
          <a:prstGeom prst="rect">
            <a:avLst/>
          </a:prstGeom>
          <a:ln w="12599">
            <a:solidFill>
              <a:srgbClr val="42D8AC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MAJORITY</a:t>
            </a: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VOTE</a:t>
            </a:r>
            <a:r>
              <a:rPr sz="1200" b="1" spc="47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ŷ(v)</a:t>
            </a:r>
            <a:r>
              <a:rPr sz="1200" b="1" spc="-2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=</a:t>
            </a:r>
            <a:r>
              <a:rPr sz="1200" b="1" spc="-3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arg</a:t>
            </a: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max</a:t>
            </a:r>
            <a:r>
              <a:rPr sz="1200" b="1" spc="-3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Σ</a:t>
            </a:r>
            <a:r>
              <a:rPr sz="1200" b="1" spc="5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D1625"/>
                </a:solidFill>
                <a:latin typeface="Segoe UI Symbol"/>
                <a:cs typeface="Segoe UI Symbol"/>
              </a:rPr>
              <a:t>𝕀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[hb(v)</a:t>
            </a: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D1625"/>
                </a:solidFill>
                <a:latin typeface="Calibri"/>
                <a:cs typeface="Calibri"/>
              </a:rPr>
              <a:t>=</a:t>
            </a:r>
            <a:r>
              <a:rPr sz="1200" b="1" spc="-30" dirty="0">
                <a:solidFill>
                  <a:srgbClr val="0D1625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D1625"/>
                </a:solidFill>
                <a:latin typeface="Calibri"/>
                <a:cs typeface="Calibri"/>
              </a:rPr>
              <a:t>c]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857644" y="4525924"/>
            <a:ext cx="4572000" cy="365760"/>
          </a:xfrm>
          <a:prstGeom prst="rect">
            <a:avLst/>
          </a:prstGeom>
          <a:ln w="12599">
            <a:solidFill>
              <a:srgbClr val="4BC8EF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Predicted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speaker</a:t>
            </a:r>
            <a:r>
              <a:rPr sz="12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∈</a:t>
            </a:r>
            <a:r>
              <a:rPr sz="12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Speaker_01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…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Speaker_10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Experimental</a:t>
            </a:r>
            <a:r>
              <a:rPr spc="-60" dirty="0"/>
              <a:t> </a:t>
            </a:r>
            <a:r>
              <a:rPr spc="70" dirty="0"/>
              <a:t>Results</a:t>
            </a:r>
            <a:r>
              <a:rPr spc="-55" dirty="0"/>
              <a:t> </a:t>
            </a:r>
            <a:r>
              <a:rPr lang="en-US" dirty="0"/>
              <a:t>&amp;</a:t>
            </a:r>
            <a:r>
              <a:rPr spc="-60" dirty="0"/>
              <a:t> </a:t>
            </a:r>
            <a:r>
              <a:rPr dirty="0"/>
              <a:t>Accuracy</a:t>
            </a:r>
            <a:r>
              <a:rPr spc="-60" dirty="0"/>
              <a:t> </a:t>
            </a:r>
            <a:r>
              <a:rPr spc="35" dirty="0"/>
              <a:t>Analysis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2520" y="1165675"/>
            <a:ext cx="2679700" cy="1179830"/>
            <a:chOff x="452520" y="1165675"/>
            <a:chExt cx="2679700" cy="1179830"/>
          </a:xfrm>
        </p:grpSpPr>
        <p:sp>
          <p:nvSpPr>
            <p:cNvPr id="5" name="object 5"/>
            <p:cNvSpPr/>
            <p:nvPr/>
          </p:nvSpPr>
          <p:spPr>
            <a:xfrm>
              <a:off x="457199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259668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97279"/>
                  </a:lnTo>
                  <a:lnTo>
                    <a:pt x="594" y="1106558"/>
                  </a:lnTo>
                  <a:lnTo>
                    <a:pt x="607" y="1106758"/>
                  </a:lnTo>
                  <a:lnTo>
                    <a:pt x="2394" y="1115958"/>
                  </a:lnTo>
                  <a:lnTo>
                    <a:pt x="2428" y="1116136"/>
                  </a:lnTo>
                  <a:lnTo>
                    <a:pt x="28555" y="1155258"/>
                  </a:lnTo>
                  <a:lnTo>
                    <a:pt x="73075" y="1170368"/>
                  </a:lnTo>
                  <a:lnTo>
                    <a:pt x="2597035" y="1170000"/>
                  </a:lnTo>
                  <a:lnTo>
                    <a:pt x="2641413" y="1154908"/>
                  </a:lnTo>
                  <a:lnTo>
                    <a:pt x="2667634" y="1116136"/>
                  </a:lnTo>
                  <a:lnTo>
                    <a:pt x="2667693" y="1115958"/>
                  </a:lnTo>
                  <a:lnTo>
                    <a:pt x="2669477" y="1106758"/>
                  </a:lnTo>
                  <a:lnTo>
                    <a:pt x="2669516" y="1106558"/>
                  </a:lnTo>
                  <a:lnTo>
                    <a:pt x="2670101" y="1097279"/>
                  </a:lnTo>
                  <a:lnTo>
                    <a:pt x="2670124" y="1096924"/>
                  </a:lnTo>
                  <a:lnTo>
                    <a:pt x="2669755" y="73088"/>
                  </a:lnTo>
                  <a:lnTo>
                    <a:pt x="2654664" y="28710"/>
                  </a:lnTo>
                  <a:lnTo>
                    <a:pt x="2615714" y="2430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199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596680" y="0"/>
                  </a:lnTo>
                  <a:lnTo>
                    <a:pt x="2641207" y="15109"/>
                  </a:lnTo>
                  <a:lnTo>
                    <a:pt x="2667327" y="54232"/>
                  </a:lnTo>
                  <a:lnTo>
                    <a:pt x="2669755" y="73088"/>
                  </a:lnTo>
                  <a:lnTo>
                    <a:pt x="2670124" y="1096924"/>
                  </a:lnTo>
                  <a:lnTo>
                    <a:pt x="2669516" y="1106558"/>
                  </a:lnTo>
                  <a:lnTo>
                    <a:pt x="2667693" y="1115958"/>
                  </a:lnTo>
                  <a:lnTo>
                    <a:pt x="2641413" y="1154908"/>
                  </a:lnTo>
                  <a:lnTo>
                    <a:pt x="2597035" y="1170000"/>
                  </a:lnTo>
                  <a:lnTo>
                    <a:pt x="73075" y="1170368"/>
                  </a:lnTo>
                  <a:lnTo>
                    <a:pt x="28555" y="1155258"/>
                  </a:lnTo>
                  <a:lnTo>
                    <a:pt x="2428" y="1116136"/>
                  </a:lnTo>
                  <a:lnTo>
                    <a:pt x="0" y="109727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7380" y="1353858"/>
            <a:ext cx="132651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4BC8EF"/>
                </a:solidFill>
                <a:latin typeface="Times New Roman"/>
                <a:cs typeface="Times New Roman"/>
              </a:rPr>
              <a:t>100.00%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Training</a:t>
            </a:r>
            <a:r>
              <a:rPr sz="110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accuracy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32880" y="1165675"/>
            <a:ext cx="2679700" cy="1179830"/>
            <a:chOff x="3332880" y="1165675"/>
            <a:chExt cx="2679700" cy="1179830"/>
          </a:xfrm>
        </p:grpSpPr>
        <p:sp>
          <p:nvSpPr>
            <p:cNvPr id="9" name="object 9"/>
            <p:cNvSpPr/>
            <p:nvPr/>
          </p:nvSpPr>
          <p:spPr>
            <a:xfrm>
              <a:off x="3337560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259668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97279"/>
                  </a:lnTo>
                  <a:lnTo>
                    <a:pt x="15098" y="1141657"/>
                  </a:lnTo>
                  <a:lnTo>
                    <a:pt x="54046" y="1167938"/>
                  </a:lnTo>
                  <a:lnTo>
                    <a:pt x="73075" y="1170368"/>
                  </a:lnTo>
                  <a:lnTo>
                    <a:pt x="2597035" y="1170000"/>
                  </a:lnTo>
                  <a:lnTo>
                    <a:pt x="2641413" y="1154908"/>
                  </a:lnTo>
                  <a:lnTo>
                    <a:pt x="2664577" y="1125176"/>
                  </a:lnTo>
                  <a:lnTo>
                    <a:pt x="2664653" y="1125020"/>
                  </a:lnTo>
                  <a:lnTo>
                    <a:pt x="2667634" y="1116136"/>
                  </a:lnTo>
                  <a:lnTo>
                    <a:pt x="2667693" y="1115958"/>
                  </a:lnTo>
                  <a:lnTo>
                    <a:pt x="2669477" y="1106758"/>
                  </a:lnTo>
                  <a:lnTo>
                    <a:pt x="2669516" y="1106558"/>
                  </a:lnTo>
                  <a:lnTo>
                    <a:pt x="2670101" y="1097279"/>
                  </a:lnTo>
                  <a:lnTo>
                    <a:pt x="2670124" y="1096924"/>
                  </a:lnTo>
                  <a:lnTo>
                    <a:pt x="2669755" y="73088"/>
                  </a:lnTo>
                  <a:lnTo>
                    <a:pt x="2654664" y="28710"/>
                  </a:lnTo>
                  <a:lnTo>
                    <a:pt x="2615714" y="2430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37560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596680" y="0"/>
                  </a:lnTo>
                  <a:lnTo>
                    <a:pt x="2641207" y="15109"/>
                  </a:lnTo>
                  <a:lnTo>
                    <a:pt x="2667327" y="54232"/>
                  </a:lnTo>
                  <a:lnTo>
                    <a:pt x="2669755" y="73088"/>
                  </a:lnTo>
                  <a:lnTo>
                    <a:pt x="2670124" y="1096924"/>
                  </a:lnTo>
                  <a:lnTo>
                    <a:pt x="2669516" y="1106558"/>
                  </a:lnTo>
                  <a:lnTo>
                    <a:pt x="2667693" y="1115958"/>
                  </a:lnTo>
                  <a:lnTo>
                    <a:pt x="2641413" y="1154908"/>
                  </a:lnTo>
                  <a:lnTo>
                    <a:pt x="2597035" y="1170000"/>
                  </a:lnTo>
                  <a:lnTo>
                    <a:pt x="73075" y="1170368"/>
                  </a:lnTo>
                  <a:lnTo>
                    <a:pt x="28555" y="1155258"/>
                  </a:lnTo>
                  <a:lnTo>
                    <a:pt x="2428" y="1116136"/>
                  </a:lnTo>
                  <a:lnTo>
                    <a:pt x="0" y="109727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07740" y="1353858"/>
            <a:ext cx="116522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42D8AC"/>
                </a:solidFill>
                <a:latin typeface="Times New Roman"/>
                <a:cs typeface="Times New Roman"/>
              </a:rPr>
              <a:t>99.50%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Validation accuracy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13240" y="1165675"/>
            <a:ext cx="2679700" cy="1179830"/>
            <a:chOff x="6213240" y="1165675"/>
            <a:chExt cx="2679700" cy="1179830"/>
          </a:xfrm>
        </p:grpSpPr>
        <p:sp>
          <p:nvSpPr>
            <p:cNvPr id="13" name="object 13"/>
            <p:cNvSpPr/>
            <p:nvPr/>
          </p:nvSpPr>
          <p:spPr>
            <a:xfrm>
              <a:off x="6217920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259668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97279"/>
                  </a:lnTo>
                  <a:lnTo>
                    <a:pt x="15098" y="1141657"/>
                  </a:lnTo>
                  <a:lnTo>
                    <a:pt x="54046" y="1167938"/>
                  </a:lnTo>
                  <a:lnTo>
                    <a:pt x="73075" y="1170368"/>
                  </a:lnTo>
                  <a:lnTo>
                    <a:pt x="2597035" y="1170000"/>
                  </a:lnTo>
                  <a:lnTo>
                    <a:pt x="2641413" y="1154908"/>
                  </a:lnTo>
                  <a:lnTo>
                    <a:pt x="2667634" y="1116136"/>
                  </a:lnTo>
                  <a:lnTo>
                    <a:pt x="2669477" y="1106758"/>
                  </a:lnTo>
                  <a:lnTo>
                    <a:pt x="2669516" y="1106558"/>
                  </a:lnTo>
                  <a:lnTo>
                    <a:pt x="2670101" y="1097279"/>
                  </a:lnTo>
                  <a:lnTo>
                    <a:pt x="2670124" y="1096924"/>
                  </a:lnTo>
                  <a:lnTo>
                    <a:pt x="2669755" y="73088"/>
                  </a:lnTo>
                  <a:lnTo>
                    <a:pt x="2654664" y="28710"/>
                  </a:lnTo>
                  <a:lnTo>
                    <a:pt x="2615714" y="2430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7920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596680" y="0"/>
                  </a:lnTo>
                  <a:lnTo>
                    <a:pt x="2641207" y="15109"/>
                  </a:lnTo>
                  <a:lnTo>
                    <a:pt x="2667327" y="54232"/>
                  </a:lnTo>
                  <a:lnTo>
                    <a:pt x="2669755" y="73088"/>
                  </a:lnTo>
                  <a:lnTo>
                    <a:pt x="2670124" y="1096924"/>
                  </a:lnTo>
                  <a:lnTo>
                    <a:pt x="2669516" y="1106558"/>
                  </a:lnTo>
                  <a:lnTo>
                    <a:pt x="2667693" y="1115958"/>
                  </a:lnTo>
                  <a:lnTo>
                    <a:pt x="2641413" y="1154908"/>
                  </a:lnTo>
                  <a:lnTo>
                    <a:pt x="2597035" y="1170000"/>
                  </a:lnTo>
                  <a:lnTo>
                    <a:pt x="73075" y="1170368"/>
                  </a:lnTo>
                  <a:lnTo>
                    <a:pt x="28555" y="1155258"/>
                  </a:lnTo>
                  <a:lnTo>
                    <a:pt x="2428" y="1116136"/>
                  </a:lnTo>
                  <a:lnTo>
                    <a:pt x="0" y="109727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88100" y="1353858"/>
            <a:ext cx="1678939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995</a:t>
            </a:r>
            <a:r>
              <a:rPr sz="27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b="1" spc="605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7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1,000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Correctly</a:t>
            </a:r>
            <a:r>
              <a:rPr sz="1100" spc="-6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classified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093599" y="1165675"/>
            <a:ext cx="2679700" cy="1179830"/>
            <a:chOff x="9093599" y="1165675"/>
            <a:chExt cx="2679700" cy="1179830"/>
          </a:xfrm>
        </p:grpSpPr>
        <p:sp>
          <p:nvSpPr>
            <p:cNvPr id="17" name="object 17"/>
            <p:cNvSpPr/>
            <p:nvPr/>
          </p:nvSpPr>
          <p:spPr>
            <a:xfrm>
              <a:off x="9098279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2596680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097279"/>
                  </a:lnTo>
                  <a:lnTo>
                    <a:pt x="594" y="1106558"/>
                  </a:lnTo>
                  <a:lnTo>
                    <a:pt x="607" y="1106758"/>
                  </a:lnTo>
                  <a:lnTo>
                    <a:pt x="2394" y="1115958"/>
                  </a:lnTo>
                  <a:lnTo>
                    <a:pt x="2428" y="1116136"/>
                  </a:lnTo>
                  <a:lnTo>
                    <a:pt x="5412" y="1125020"/>
                  </a:lnTo>
                  <a:lnTo>
                    <a:pt x="5464" y="1125176"/>
                  </a:lnTo>
                  <a:lnTo>
                    <a:pt x="36360" y="1160640"/>
                  </a:lnTo>
                  <a:lnTo>
                    <a:pt x="73075" y="1170368"/>
                  </a:lnTo>
                  <a:lnTo>
                    <a:pt x="2597035" y="1170000"/>
                  </a:lnTo>
                  <a:lnTo>
                    <a:pt x="2641413" y="1154908"/>
                  </a:lnTo>
                  <a:lnTo>
                    <a:pt x="2667634" y="1116136"/>
                  </a:lnTo>
                  <a:lnTo>
                    <a:pt x="2669477" y="1106758"/>
                  </a:lnTo>
                  <a:lnTo>
                    <a:pt x="2669516" y="1106558"/>
                  </a:lnTo>
                  <a:lnTo>
                    <a:pt x="2670101" y="1097279"/>
                  </a:lnTo>
                  <a:lnTo>
                    <a:pt x="2670124" y="1096924"/>
                  </a:lnTo>
                  <a:lnTo>
                    <a:pt x="2669755" y="73088"/>
                  </a:lnTo>
                  <a:lnTo>
                    <a:pt x="2654664" y="28710"/>
                  </a:lnTo>
                  <a:lnTo>
                    <a:pt x="2615714" y="2430"/>
                  </a:lnTo>
                  <a:lnTo>
                    <a:pt x="2606313" y="607"/>
                  </a:lnTo>
                  <a:lnTo>
                    <a:pt x="2596680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98279" y="1170355"/>
              <a:ext cx="2670175" cy="1170940"/>
            </a:xfrm>
            <a:custGeom>
              <a:avLst/>
              <a:gdLst/>
              <a:ahLst/>
              <a:cxnLst/>
              <a:rect l="l" t="t" r="r" b="b"/>
              <a:pathLst>
                <a:path w="2670175" h="117093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2596680" y="0"/>
                  </a:lnTo>
                  <a:lnTo>
                    <a:pt x="2641207" y="15109"/>
                  </a:lnTo>
                  <a:lnTo>
                    <a:pt x="2667327" y="54232"/>
                  </a:lnTo>
                  <a:lnTo>
                    <a:pt x="2669755" y="73088"/>
                  </a:lnTo>
                  <a:lnTo>
                    <a:pt x="2670124" y="1096924"/>
                  </a:lnTo>
                  <a:lnTo>
                    <a:pt x="2669516" y="1106558"/>
                  </a:lnTo>
                  <a:lnTo>
                    <a:pt x="2667693" y="1115958"/>
                  </a:lnTo>
                  <a:lnTo>
                    <a:pt x="2641413" y="1154908"/>
                  </a:lnTo>
                  <a:lnTo>
                    <a:pt x="2597035" y="1170000"/>
                  </a:lnTo>
                  <a:lnTo>
                    <a:pt x="73075" y="1170368"/>
                  </a:lnTo>
                  <a:lnTo>
                    <a:pt x="28555" y="1155258"/>
                  </a:lnTo>
                  <a:lnTo>
                    <a:pt x="2428" y="1116136"/>
                  </a:lnTo>
                  <a:lnTo>
                    <a:pt x="0" y="109727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268459" y="1353858"/>
            <a:ext cx="982344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F1B340"/>
                </a:solidFill>
                <a:latin typeface="Times New Roman"/>
                <a:cs typeface="Times New Roman"/>
              </a:rPr>
              <a:t>0.50%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Error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rate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7200" y="2560320"/>
            <a:ext cx="5806440" cy="2606040"/>
            <a:chOff x="457200" y="2560320"/>
            <a:chExt cx="5806440" cy="2606040"/>
          </a:xfrm>
        </p:grpSpPr>
        <p:sp>
          <p:nvSpPr>
            <p:cNvPr id="21" name="object 21"/>
            <p:cNvSpPr/>
            <p:nvPr/>
          </p:nvSpPr>
          <p:spPr>
            <a:xfrm>
              <a:off x="457200" y="2560319"/>
              <a:ext cx="5806440" cy="2606040"/>
            </a:xfrm>
            <a:custGeom>
              <a:avLst/>
              <a:gdLst/>
              <a:ahLst/>
              <a:cxnLst/>
              <a:rect l="l" t="t" r="r" b="b"/>
              <a:pathLst>
                <a:path w="5806440" h="2606040">
                  <a:moveTo>
                    <a:pt x="5806084" y="0"/>
                  </a:moveTo>
                  <a:lnTo>
                    <a:pt x="0" y="0"/>
                  </a:lnTo>
                  <a:lnTo>
                    <a:pt x="0" y="2605684"/>
                  </a:lnTo>
                  <a:lnTo>
                    <a:pt x="2903042" y="2605684"/>
                  </a:lnTo>
                  <a:lnTo>
                    <a:pt x="5806084" y="2605684"/>
                  </a:lnTo>
                  <a:lnTo>
                    <a:pt x="5806084" y="0"/>
                  </a:lnTo>
                  <a:close/>
                </a:path>
              </a:pathLst>
            </a:custGeom>
            <a:solidFill>
              <a:srgbClr val="0D1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1445" y="4699800"/>
              <a:ext cx="5246370" cy="0"/>
            </a:xfrm>
            <a:custGeom>
              <a:avLst/>
              <a:gdLst/>
              <a:ahLst/>
              <a:cxnLst/>
              <a:rect l="l" t="t" r="r" b="b"/>
              <a:pathLst>
                <a:path w="5246370">
                  <a:moveTo>
                    <a:pt x="5245912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1445" y="3691077"/>
              <a:ext cx="5246370" cy="504190"/>
            </a:xfrm>
            <a:custGeom>
              <a:avLst/>
              <a:gdLst/>
              <a:ahLst/>
              <a:cxnLst/>
              <a:rect l="l" t="t" r="r" b="b"/>
              <a:pathLst>
                <a:path w="5246370" h="504189">
                  <a:moveTo>
                    <a:pt x="0" y="503999"/>
                  </a:moveTo>
                  <a:lnTo>
                    <a:pt x="764997" y="503999"/>
                  </a:lnTo>
                </a:path>
                <a:path w="5246370" h="504189">
                  <a:moveTo>
                    <a:pt x="1857959" y="503999"/>
                  </a:moveTo>
                  <a:lnTo>
                    <a:pt x="3387598" y="503999"/>
                  </a:lnTo>
                </a:path>
                <a:path w="5246370" h="504189">
                  <a:moveTo>
                    <a:pt x="4480559" y="503999"/>
                  </a:moveTo>
                  <a:lnTo>
                    <a:pt x="5245912" y="503999"/>
                  </a:lnTo>
                </a:path>
                <a:path w="5246370" h="504189">
                  <a:moveTo>
                    <a:pt x="0" y="0"/>
                  </a:moveTo>
                  <a:lnTo>
                    <a:pt x="764997" y="0"/>
                  </a:lnTo>
                </a:path>
                <a:path w="5246370" h="504189">
                  <a:moveTo>
                    <a:pt x="1857959" y="0"/>
                  </a:moveTo>
                  <a:lnTo>
                    <a:pt x="5245912" y="0"/>
                  </a:lnTo>
                </a:path>
              </a:pathLst>
            </a:custGeom>
            <a:ln w="647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1445" y="3186722"/>
              <a:ext cx="5246370" cy="0"/>
            </a:xfrm>
            <a:custGeom>
              <a:avLst/>
              <a:gdLst/>
              <a:ahLst/>
              <a:cxnLst/>
              <a:rect l="l" t="t" r="r" b="b"/>
              <a:pathLst>
                <a:path w="5246370">
                  <a:moveTo>
                    <a:pt x="5245912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7445" y="2985122"/>
              <a:ext cx="5300345" cy="1769110"/>
            </a:xfrm>
            <a:custGeom>
              <a:avLst/>
              <a:gdLst/>
              <a:ahLst/>
              <a:cxnLst/>
              <a:rect l="l" t="t" r="r" b="b"/>
              <a:pathLst>
                <a:path w="5300345" h="1769110">
                  <a:moveTo>
                    <a:pt x="54000" y="1768678"/>
                  </a:moveTo>
                  <a:lnTo>
                    <a:pt x="54000" y="1714677"/>
                  </a:lnTo>
                </a:path>
                <a:path w="5300345" h="1769110">
                  <a:moveTo>
                    <a:pt x="2676588" y="1768678"/>
                  </a:moveTo>
                  <a:lnTo>
                    <a:pt x="2676588" y="1714677"/>
                  </a:lnTo>
                </a:path>
                <a:path w="5300345" h="1769110">
                  <a:moveTo>
                    <a:pt x="5299913" y="1768678"/>
                  </a:moveTo>
                  <a:lnTo>
                    <a:pt x="5299913" y="1714677"/>
                  </a:lnTo>
                </a:path>
                <a:path w="5300345" h="1769110">
                  <a:moveTo>
                    <a:pt x="54000" y="1714677"/>
                  </a:moveTo>
                  <a:lnTo>
                    <a:pt x="5299913" y="1714677"/>
                  </a:lnTo>
                </a:path>
                <a:path w="5300345" h="1769110">
                  <a:moveTo>
                    <a:pt x="0" y="1714677"/>
                  </a:moveTo>
                  <a:lnTo>
                    <a:pt x="54000" y="1714677"/>
                  </a:lnTo>
                </a:path>
                <a:path w="5300345" h="1769110">
                  <a:moveTo>
                    <a:pt x="0" y="1209954"/>
                  </a:moveTo>
                  <a:lnTo>
                    <a:pt x="54000" y="1209954"/>
                  </a:lnTo>
                </a:path>
                <a:path w="5300345" h="1769110">
                  <a:moveTo>
                    <a:pt x="0" y="705954"/>
                  </a:moveTo>
                  <a:lnTo>
                    <a:pt x="54000" y="705954"/>
                  </a:lnTo>
                </a:path>
                <a:path w="5300345" h="1769110">
                  <a:moveTo>
                    <a:pt x="0" y="201599"/>
                  </a:moveTo>
                  <a:lnTo>
                    <a:pt x="54000" y="201599"/>
                  </a:lnTo>
                </a:path>
                <a:path w="5300345" h="1769110">
                  <a:moveTo>
                    <a:pt x="54000" y="1714677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6443" y="3186722"/>
              <a:ext cx="1093470" cy="1513205"/>
            </a:xfrm>
            <a:custGeom>
              <a:avLst/>
              <a:gdLst/>
              <a:ahLst/>
              <a:cxnLst/>
              <a:rect l="l" t="t" r="r" b="b"/>
              <a:pathLst>
                <a:path w="1093470" h="1513204">
                  <a:moveTo>
                    <a:pt x="1092962" y="0"/>
                  </a:moveTo>
                  <a:lnTo>
                    <a:pt x="0" y="0"/>
                  </a:lnTo>
                  <a:lnTo>
                    <a:pt x="0" y="1513077"/>
                  </a:lnTo>
                  <a:lnTo>
                    <a:pt x="1092962" y="1513077"/>
                  </a:lnTo>
                  <a:lnTo>
                    <a:pt x="1092962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89044" y="3691077"/>
              <a:ext cx="1093470" cy="1009015"/>
            </a:xfrm>
            <a:custGeom>
              <a:avLst/>
              <a:gdLst/>
              <a:ahLst/>
              <a:cxnLst/>
              <a:rect l="l" t="t" r="r" b="b"/>
              <a:pathLst>
                <a:path w="1093470" h="1009014">
                  <a:moveTo>
                    <a:pt x="1092961" y="0"/>
                  </a:moveTo>
                  <a:lnTo>
                    <a:pt x="0" y="0"/>
                  </a:lnTo>
                  <a:lnTo>
                    <a:pt x="0" y="1008722"/>
                  </a:lnTo>
                  <a:lnTo>
                    <a:pt x="1092961" y="1008722"/>
                  </a:lnTo>
                  <a:lnTo>
                    <a:pt x="1092961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828584" y="4770678"/>
            <a:ext cx="768350" cy="354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60020" marR="5080" indent="-147955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99A9C3"/>
                </a:solidFill>
                <a:latin typeface="Arial MT"/>
                <a:cs typeface="Arial MT"/>
              </a:rPr>
              <a:t>Training</a:t>
            </a:r>
            <a:r>
              <a:rPr sz="1100" spc="5" dirty="0">
                <a:solidFill>
                  <a:srgbClr val="99A9C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Arial MT"/>
                <a:cs typeface="Arial MT"/>
              </a:rPr>
              <a:t>set </a:t>
            </a:r>
            <a:r>
              <a:rPr sz="1100" spc="-10" dirty="0">
                <a:solidFill>
                  <a:srgbClr val="99A9C3"/>
                </a:solidFill>
                <a:latin typeface="Arial MT"/>
                <a:cs typeface="Arial MT"/>
              </a:rPr>
              <a:t>(4,000)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94149" y="4770678"/>
            <a:ext cx="873125" cy="3549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17170" marR="5080" indent="-205104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99A9C3"/>
                </a:solidFill>
                <a:latin typeface="Arial MT"/>
                <a:cs typeface="Arial MT"/>
              </a:rPr>
              <a:t>Validation</a:t>
            </a:r>
            <a:r>
              <a:rPr sz="1100" spc="20" dirty="0">
                <a:solidFill>
                  <a:srgbClr val="99A9C3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Arial MT"/>
                <a:cs typeface="Arial MT"/>
              </a:rPr>
              <a:t>set </a:t>
            </a:r>
            <a:r>
              <a:rPr sz="1100" spc="-10" dirty="0">
                <a:solidFill>
                  <a:srgbClr val="99A9C3"/>
                </a:solidFill>
                <a:latin typeface="Arial MT"/>
                <a:cs typeface="Arial MT"/>
              </a:rPr>
              <a:t>(1,000)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0743" y="4603305"/>
            <a:ext cx="2673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9A9C3"/>
                </a:solidFill>
                <a:latin typeface="Arial MT"/>
                <a:cs typeface="Arial MT"/>
              </a:rPr>
              <a:t>98.5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5492" y="4098658"/>
            <a:ext cx="1631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9A9C3"/>
                </a:solidFill>
                <a:latin typeface="Arial MT"/>
                <a:cs typeface="Arial MT"/>
              </a:rPr>
              <a:t>99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0743" y="3594366"/>
            <a:ext cx="2673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9A9C3"/>
                </a:solidFill>
                <a:latin typeface="Arial MT"/>
                <a:cs typeface="Arial MT"/>
              </a:rPr>
              <a:t>99.5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8538" y="3090074"/>
            <a:ext cx="2298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9A9C3"/>
                </a:solidFill>
                <a:latin typeface="Arial MT"/>
                <a:cs typeface="Arial MT"/>
              </a:rPr>
              <a:t>100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08334" y="3464775"/>
            <a:ext cx="4508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99.50%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52421" y="2583373"/>
            <a:ext cx="2371090" cy="5702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894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vs.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100.00%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4500" y="5254815"/>
            <a:ext cx="41192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i="1" spc="-10" dirty="0">
                <a:solidFill>
                  <a:srgbClr val="99A9C3"/>
                </a:solidFill>
                <a:latin typeface="Calibri"/>
                <a:cs typeface="Calibri"/>
              </a:rPr>
              <a:t>Value</a:t>
            </a:r>
            <a:r>
              <a:rPr sz="9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axis</a:t>
            </a:r>
            <a:r>
              <a:rPr sz="9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truncated</a:t>
            </a:r>
            <a:r>
              <a:rPr sz="95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9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9A9C3"/>
                </a:solidFill>
                <a:latin typeface="Calibri"/>
                <a:cs typeface="Calibri"/>
              </a:rPr>
              <a:t>98.5–100.2</a:t>
            </a:r>
            <a:r>
              <a:rPr sz="9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%</a:t>
            </a:r>
            <a:r>
              <a:rPr sz="9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9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9A9C3"/>
                </a:solidFill>
                <a:latin typeface="Calibri"/>
                <a:cs typeface="Calibri"/>
              </a:rPr>
              <a:t>make</a:t>
            </a:r>
            <a:r>
              <a:rPr sz="9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95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0.50</a:t>
            </a:r>
            <a:r>
              <a:rPr sz="9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pp</a:t>
            </a:r>
            <a:r>
              <a:rPr sz="9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generalisation</a:t>
            </a:r>
            <a:r>
              <a:rPr sz="95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99A9C3"/>
                </a:solidFill>
                <a:latin typeface="Calibri"/>
                <a:cs typeface="Calibri"/>
              </a:rPr>
              <a:t>gap</a:t>
            </a:r>
            <a:r>
              <a:rPr sz="9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950" i="1" spc="-10" dirty="0">
                <a:solidFill>
                  <a:srgbClr val="99A9C3"/>
                </a:solidFill>
                <a:latin typeface="Calibri"/>
                <a:cs typeface="Calibri"/>
              </a:rPr>
              <a:t>visible.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533197" y="2555557"/>
            <a:ext cx="5203825" cy="2615565"/>
            <a:chOff x="6533197" y="2555557"/>
            <a:chExt cx="5203825" cy="2615565"/>
          </a:xfrm>
        </p:grpSpPr>
        <p:sp>
          <p:nvSpPr>
            <p:cNvPr id="38" name="object 38"/>
            <p:cNvSpPr/>
            <p:nvPr/>
          </p:nvSpPr>
          <p:spPr>
            <a:xfrm>
              <a:off x="6537959" y="2560320"/>
              <a:ext cx="5194300" cy="2606040"/>
            </a:xfrm>
            <a:custGeom>
              <a:avLst/>
              <a:gdLst/>
              <a:ahLst/>
              <a:cxnLst/>
              <a:rect l="l" t="t" r="r" b="b"/>
              <a:pathLst>
                <a:path w="5194300" h="2606040">
                  <a:moveTo>
                    <a:pt x="51202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532964"/>
                  </a:lnTo>
                  <a:lnTo>
                    <a:pt x="594" y="2542235"/>
                  </a:lnTo>
                  <a:lnTo>
                    <a:pt x="607" y="2542440"/>
                  </a:lnTo>
                  <a:lnTo>
                    <a:pt x="2394" y="2551636"/>
                  </a:lnTo>
                  <a:lnTo>
                    <a:pt x="2428" y="2551815"/>
                  </a:lnTo>
                  <a:lnTo>
                    <a:pt x="5412" y="2560699"/>
                  </a:lnTo>
                  <a:lnTo>
                    <a:pt x="36360" y="2596324"/>
                  </a:lnTo>
                  <a:lnTo>
                    <a:pt x="73075" y="2606040"/>
                  </a:lnTo>
                  <a:lnTo>
                    <a:pt x="5120640" y="2605684"/>
                  </a:lnTo>
                  <a:lnTo>
                    <a:pt x="5165017" y="2590580"/>
                  </a:lnTo>
                  <a:lnTo>
                    <a:pt x="5191226" y="2551815"/>
                  </a:lnTo>
                  <a:lnTo>
                    <a:pt x="5191286" y="2551636"/>
                  </a:lnTo>
                  <a:lnTo>
                    <a:pt x="5193068" y="2542440"/>
                  </a:lnTo>
                  <a:lnTo>
                    <a:pt x="5193108" y="2542235"/>
                  </a:lnTo>
                  <a:lnTo>
                    <a:pt x="5193692" y="2532964"/>
                  </a:lnTo>
                  <a:lnTo>
                    <a:pt x="5193715" y="2532595"/>
                  </a:lnTo>
                  <a:lnTo>
                    <a:pt x="5193360" y="73075"/>
                  </a:lnTo>
                  <a:lnTo>
                    <a:pt x="5178261" y="28705"/>
                  </a:lnTo>
                  <a:lnTo>
                    <a:pt x="5139313" y="2428"/>
                  </a:lnTo>
                  <a:lnTo>
                    <a:pt x="5129916" y="607"/>
                  </a:lnTo>
                  <a:lnTo>
                    <a:pt x="5120284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37959" y="2560320"/>
              <a:ext cx="5194300" cy="2606040"/>
            </a:xfrm>
            <a:custGeom>
              <a:avLst/>
              <a:gdLst/>
              <a:ahLst/>
              <a:cxnLst/>
              <a:rect l="l" t="t" r="r" b="b"/>
              <a:pathLst>
                <a:path w="5194300" h="26060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5120284" y="0"/>
                  </a:lnTo>
                  <a:lnTo>
                    <a:pt x="5164804" y="15104"/>
                  </a:lnTo>
                  <a:lnTo>
                    <a:pt x="5190931" y="54224"/>
                  </a:lnTo>
                  <a:lnTo>
                    <a:pt x="5193360" y="73075"/>
                  </a:lnTo>
                  <a:lnTo>
                    <a:pt x="5193715" y="2532595"/>
                  </a:lnTo>
                  <a:lnTo>
                    <a:pt x="5193108" y="2542235"/>
                  </a:lnTo>
                  <a:lnTo>
                    <a:pt x="5191286" y="2551636"/>
                  </a:lnTo>
                  <a:lnTo>
                    <a:pt x="5165017" y="2590580"/>
                  </a:lnTo>
                  <a:lnTo>
                    <a:pt x="5120640" y="2605684"/>
                  </a:lnTo>
                  <a:lnTo>
                    <a:pt x="73075" y="2606040"/>
                  </a:lnTo>
                  <a:lnTo>
                    <a:pt x="28555" y="2590935"/>
                  </a:lnTo>
                  <a:lnTo>
                    <a:pt x="2428" y="2551815"/>
                  </a:lnTo>
                  <a:lnTo>
                    <a:pt x="0" y="25329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799224" y="2746705"/>
            <a:ext cx="16960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75" dirty="0">
                <a:solidFill>
                  <a:srgbClr val="4BC8EF"/>
                </a:solidFill>
                <a:latin typeface="Calibri"/>
                <a:cs typeface="Calibri"/>
              </a:rPr>
              <a:t>Macro-</a:t>
            </a:r>
            <a:r>
              <a:rPr sz="1100" b="1" spc="-15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spc="75" dirty="0">
                <a:solidFill>
                  <a:srgbClr val="4BC8EF"/>
                </a:solidFill>
                <a:latin typeface="Calibri"/>
                <a:cs typeface="Calibri"/>
              </a:rPr>
              <a:t>averaged</a:t>
            </a:r>
            <a:r>
              <a:rPr sz="1100" b="1" spc="22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spc="65" dirty="0">
                <a:solidFill>
                  <a:srgbClr val="4BC8EF"/>
                </a:solidFill>
                <a:latin typeface="Calibri"/>
                <a:cs typeface="Calibri"/>
              </a:rPr>
              <a:t>metrics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07517" y="3030753"/>
            <a:ext cx="1426845" cy="923925"/>
            <a:chOff x="6807517" y="3030753"/>
            <a:chExt cx="1426845" cy="923925"/>
          </a:xfrm>
        </p:grpSpPr>
        <p:sp>
          <p:nvSpPr>
            <p:cNvPr id="42" name="object 42"/>
            <p:cNvSpPr/>
            <p:nvPr/>
          </p:nvSpPr>
          <p:spPr>
            <a:xfrm>
              <a:off x="6812280" y="3035515"/>
              <a:ext cx="1417320" cy="914400"/>
            </a:xfrm>
            <a:custGeom>
              <a:avLst/>
              <a:gdLst/>
              <a:ahLst/>
              <a:cxnLst/>
              <a:rect l="l" t="t" r="r" b="b"/>
              <a:pathLst>
                <a:path w="1417320" h="914400">
                  <a:moveTo>
                    <a:pt x="134387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841324"/>
                  </a:lnTo>
                  <a:lnTo>
                    <a:pt x="594" y="850600"/>
                  </a:lnTo>
                  <a:lnTo>
                    <a:pt x="607" y="850802"/>
                  </a:lnTo>
                  <a:lnTo>
                    <a:pt x="2393" y="859997"/>
                  </a:lnTo>
                  <a:lnTo>
                    <a:pt x="2428" y="860180"/>
                  </a:lnTo>
                  <a:lnTo>
                    <a:pt x="5410" y="869059"/>
                  </a:lnTo>
                  <a:lnTo>
                    <a:pt x="36360" y="904684"/>
                  </a:lnTo>
                  <a:lnTo>
                    <a:pt x="73075" y="914400"/>
                  </a:lnTo>
                  <a:lnTo>
                    <a:pt x="1344244" y="914044"/>
                  </a:lnTo>
                  <a:lnTo>
                    <a:pt x="1388614" y="898945"/>
                  </a:lnTo>
                  <a:lnTo>
                    <a:pt x="1414829" y="860180"/>
                  </a:lnTo>
                  <a:lnTo>
                    <a:pt x="1414891" y="859997"/>
                  </a:lnTo>
                  <a:lnTo>
                    <a:pt x="1416673" y="850802"/>
                  </a:lnTo>
                  <a:lnTo>
                    <a:pt x="1416712" y="850600"/>
                  </a:lnTo>
                  <a:lnTo>
                    <a:pt x="1417297" y="841324"/>
                  </a:lnTo>
                  <a:lnTo>
                    <a:pt x="1416964" y="73088"/>
                  </a:lnTo>
                  <a:lnTo>
                    <a:pt x="1401860" y="28710"/>
                  </a:lnTo>
                  <a:lnTo>
                    <a:pt x="1362916" y="2430"/>
                  </a:lnTo>
                  <a:lnTo>
                    <a:pt x="1353515" y="607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12280" y="3035515"/>
              <a:ext cx="1417320" cy="914400"/>
            </a:xfrm>
            <a:custGeom>
              <a:avLst/>
              <a:gdLst/>
              <a:ahLst/>
              <a:cxnLst/>
              <a:rect l="l" t="t" r="r" b="b"/>
              <a:pathLst>
                <a:path w="1417320" h="9144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1343875" y="0"/>
                  </a:lnTo>
                  <a:lnTo>
                    <a:pt x="1388408" y="15109"/>
                  </a:lnTo>
                  <a:lnTo>
                    <a:pt x="1414533" y="54232"/>
                  </a:lnTo>
                  <a:lnTo>
                    <a:pt x="1416964" y="73088"/>
                  </a:lnTo>
                  <a:lnTo>
                    <a:pt x="1417320" y="840968"/>
                  </a:lnTo>
                  <a:lnTo>
                    <a:pt x="1416712" y="850600"/>
                  </a:lnTo>
                  <a:lnTo>
                    <a:pt x="1414891" y="859997"/>
                  </a:lnTo>
                  <a:lnTo>
                    <a:pt x="1388614" y="898945"/>
                  </a:lnTo>
                  <a:lnTo>
                    <a:pt x="1344244" y="914044"/>
                  </a:lnTo>
                  <a:lnTo>
                    <a:pt x="73075" y="914400"/>
                  </a:lnTo>
                  <a:lnTo>
                    <a:pt x="28555" y="899303"/>
                  </a:lnTo>
                  <a:lnTo>
                    <a:pt x="2428" y="860180"/>
                  </a:lnTo>
                  <a:lnTo>
                    <a:pt x="0" y="841324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229055" y="2984972"/>
            <a:ext cx="582930" cy="82931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b="1" spc="-20" dirty="0">
                <a:solidFill>
                  <a:srgbClr val="42D8AC"/>
                </a:solidFill>
                <a:latin typeface="Times New Roman"/>
                <a:cs typeface="Times New Roman"/>
              </a:rPr>
              <a:t>0.99</a:t>
            </a:r>
            <a:endParaRPr sz="24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665"/>
              </a:spcBef>
            </a:pP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Precision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380361" y="3030753"/>
            <a:ext cx="1426845" cy="923925"/>
            <a:chOff x="8380361" y="3030753"/>
            <a:chExt cx="1426845" cy="923925"/>
          </a:xfrm>
        </p:grpSpPr>
        <p:sp>
          <p:nvSpPr>
            <p:cNvPr id="46" name="object 46"/>
            <p:cNvSpPr/>
            <p:nvPr/>
          </p:nvSpPr>
          <p:spPr>
            <a:xfrm>
              <a:off x="8385123" y="3035515"/>
              <a:ext cx="1417320" cy="914400"/>
            </a:xfrm>
            <a:custGeom>
              <a:avLst/>
              <a:gdLst/>
              <a:ahLst/>
              <a:cxnLst/>
              <a:rect l="l" t="t" r="r" b="b"/>
              <a:pathLst>
                <a:path w="1417320" h="914400">
                  <a:moveTo>
                    <a:pt x="13438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841324"/>
                  </a:lnTo>
                  <a:lnTo>
                    <a:pt x="594" y="850600"/>
                  </a:lnTo>
                  <a:lnTo>
                    <a:pt x="607" y="850802"/>
                  </a:lnTo>
                  <a:lnTo>
                    <a:pt x="2393" y="859997"/>
                  </a:lnTo>
                  <a:lnTo>
                    <a:pt x="2428" y="860180"/>
                  </a:lnTo>
                  <a:lnTo>
                    <a:pt x="5410" y="869059"/>
                  </a:lnTo>
                  <a:lnTo>
                    <a:pt x="36360" y="904684"/>
                  </a:lnTo>
                  <a:lnTo>
                    <a:pt x="73075" y="914400"/>
                  </a:lnTo>
                  <a:lnTo>
                    <a:pt x="1344231" y="914044"/>
                  </a:lnTo>
                  <a:lnTo>
                    <a:pt x="1388609" y="898945"/>
                  </a:lnTo>
                  <a:lnTo>
                    <a:pt x="1411770" y="869220"/>
                  </a:lnTo>
                  <a:lnTo>
                    <a:pt x="1411849" y="869059"/>
                  </a:lnTo>
                  <a:lnTo>
                    <a:pt x="1414828" y="860180"/>
                  </a:lnTo>
                  <a:lnTo>
                    <a:pt x="1414889" y="859997"/>
                  </a:lnTo>
                  <a:lnTo>
                    <a:pt x="1416673" y="850802"/>
                  </a:lnTo>
                  <a:lnTo>
                    <a:pt x="1416712" y="850600"/>
                  </a:lnTo>
                  <a:lnTo>
                    <a:pt x="1417297" y="841324"/>
                  </a:lnTo>
                  <a:lnTo>
                    <a:pt x="1417320" y="840968"/>
                  </a:lnTo>
                  <a:lnTo>
                    <a:pt x="1416951" y="73088"/>
                  </a:lnTo>
                  <a:lnTo>
                    <a:pt x="1401860" y="28710"/>
                  </a:lnTo>
                  <a:lnTo>
                    <a:pt x="1362910" y="2430"/>
                  </a:lnTo>
                  <a:lnTo>
                    <a:pt x="1353509" y="607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85123" y="3035515"/>
              <a:ext cx="1417320" cy="914400"/>
            </a:xfrm>
            <a:custGeom>
              <a:avLst/>
              <a:gdLst/>
              <a:ahLst/>
              <a:cxnLst/>
              <a:rect l="l" t="t" r="r" b="b"/>
              <a:pathLst>
                <a:path w="1417320" h="9144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1343875" y="0"/>
                  </a:lnTo>
                  <a:lnTo>
                    <a:pt x="1388403" y="15109"/>
                  </a:lnTo>
                  <a:lnTo>
                    <a:pt x="1414522" y="54232"/>
                  </a:lnTo>
                  <a:lnTo>
                    <a:pt x="1416951" y="73088"/>
                  </a:lnTo>
                  <a:lnTo>
                    <a:pt x="1417320" y="840968"/>
                  </a:lnTo>
                  <a:lnTo>
                    <a:pt x="1416712" y="850600"/>
                  </a:lnTo>
                  <a:lnTo>
                    <a:pt x="1414889" y="859997"/>
                  </a:lnTo>
                  <a:lnTo>
                    <a:pt x="1388609" y="898945"/>
                  </a:lnTo>
                  <a:lnTo>
                    <a:pt x="1344231" y="914044"/>
                  </a:lnTo>
                  <a:lnTo>
                    <a:pt x="73075" y="914400"/>
                  </a:lnTo>
                  <a:lnTo>
                    <a:pt x="28548" y="899303"/>
                  </a:lnTo>
                  <a:lnTo>
                    <a:pt x="2428" y="860180"/>
                  </a:lnTo>
                  <a:lnTo>
                    <a:pt x="0" y="841324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801899" y="2984972"/>
            <a:ext cx="582930" cy="82931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sz="2400" b="1" spc="-20" dirty="0">
                <a:solidFill>
                  <a:srgbClr val="42D8AC"/>
                </a:solidFill>
                <a:latin typeface="Times New Roman"/>
                <a:cs typeface="Times New Roman"/>
              </a:rPr>
              <a:t>0.99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Recall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953276" y="3030835"/>
            <a:ext cx="1426845" cy="923925"/>
            <a:chOff x="9953276" y="3030835"/>
            <a:chExt cx="1426845" cy="923925"/>
          </a:xfrm>
        </p:grpSpPr>
        <p:sp>
          <p:nvSpPr>
            <p:cNvPr id="50" name="object 50"/>
            <p:cNvSpPr/>
            <p:nvPr/>
          </p:nvSpPr>
          <p:spPr>
            <a:xfrm>
              <a:off x="9957956" y="3035515"/>
              <a:ext cx="1417320" cy="914400"/>
            </a:xfrm>
            <a:custGeom>
              <a:avLst/>
              <a:gdLst/>
              <a:ahLst/>
              <a:cxnLst/>
              <a:rect l="l" t="t" r="r" b="b"/>
              <a:pathLst>
                <a:path w="1417320" h="914400">
                  <a:moveTo>
                    <a:pt x="134388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841324"/>
                  </a:lnTo>
                  <a:lnTo>
                    <a:pt x="594" y="850600"/>
                  </a:lnTo>
                  <a:lnTo>
                    <a:pt x="607" y="850802"/>
                  </a:lnTo>
                  <a:lnTo>
                    <a:pt x="2394" y="859997"/>
                  </a:lnTo>
                  <a:lnTo>
                    <a:pt x="2430" y="860180"/>
                  </a:lnTo>
                  <a:lnTo>
                    <a:pt x="5416" y="869059"/>
                  </a:lnTo>
                  <a:lnTo>
                    <a:pt x="5470" y="869220"/>
                  </a:lnTo>
                  <a:lnTo>
                    <a:pt x="36360" y="904684"/>
                  </a:lnTo>
                  <a:lnTo>
                    <a:pt x="73088" y="914400"/>
                  </a:lnTo>
                  <a:lnTo>
                    <a:pt x="1344244" y="914044"/>
                  </a:lnTo>
                  <a:lnTo>
                    <a:pt x="1388621" y="898945"/>
                  </a:lnTo>
                  <a:lnTo>
                    <a:pt x="1414829" y="860180"/>
                  </a:lnTo>
                  <a:lnTo>
                    <a:pt x="1414891" y="859997"/>
                  </a:lnTo>
                  <a:lnTo>
                    <a:pt x="1416673" y="850802"/>
                  </a:lnTo>
                  <a:lnTo>
                    <a:pt x="1416712" y="850600"/>
                  </a:lnTo>
                  <a:lnTo>
                    <a:pt x="1417297" y="841324"/>
                  </a:lnTo>
                  <a:lnTo>
                    <a:pt x="1416964" y="73088"/>
                  </a:lnTo>
                  <a:lnTo>
                    <a:pt x="1401865" y="28710"/>
                  </a:lnTo>
                  <a:lnTo>
                    <a:pt x="1362917" y="2430"/>
                  </a:lnTo>
                  <a:lnTo>
                    <a:pt x="1353520" y="607"/>
                  </a:lnTo>
                  <a:lnTo>
                    <a:pt x="1343888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957956" y="3035515"/>
              <a:ext cx="1417320" cy="914400"/>
            </a:xfrm>
            <a:custGeom>
              <a:avLst/>
              <a:gdLst/>
              <a:ahLst/>
              <a:cxnLst/>
              <a:rect l="l" t="t" r="r" b="b"/>
              <a:pathLst>
                <a:path w="1417320" h="914400">
                  <a:moveTo>
                    <a:pt x="0" y="73088"/>
                  </a:moveTo>
                  <a:lnTo>
                    <a:pt x="607" y="63449"/>
                  </a:lnTo>
                  <a:lnTo>
                    <a:pt x="2430" y="54048"/>
                  </a:lnTo>
                  <a:lnTo>
                    <a:pt x="28710" y="15103"/>
                  </a:lnTo>
                  <a:lnTo>
                    <a:pt x="73088" y="0"/>
                  </a:lnTo>
                  <a:lnTo>
                    <a:pt x="1343888" y="0"/>
                  </a:lnTo>
                  <a:lnTo>
                    <a:pt x="1388409" y="15109"/>
                  </a:lnTo>
                  <a:lnTo>
                    <a:pt x="1414535" y="54232"/>
                  </a:lnTo>
                  <a:lnTo>
                    <a:pt x="1416964" y="73088"/>
                  </a:lnTo>
                  <a:lnTo>
                    <a:pt x="1417320" y="840968"/>
                  </a:lnTo>
                  <a:lnTo>
                    <a:pt x="1416712" y="850600"/>
                  </a:lnTo>
                  <a:lnTo>
                    <a:pt x="1414891" y="859997"/>
                  </a:lnTo>
                  <a:lnTo>
                    <a:pt x="1388621" y="898945"/>
                  </a:lnTo>
                  <a:lnTo>
                    <a:pt x="1344244" y="914044"/>
                  </a:lnTo>
                  <a:lnTo>
                    <a:pt x="73088" y="914400"/>
                  </a:lnTo>
                  <a:lnTo>
                    <a:pt x="28555" y="899303"/>
                  </a:lnTo>
                  <a:lnTo>
                    <a:pt x="2430" y="860180"/>
                  </a:lnTo>
                  <a:lnTo>
                    <a:pt x="0" y="841324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374744" y="2984972"/>
            <a:ext cx="582930" cy="829310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400" b="1" spc="-20" dirty="0">
                <a:solidFill>
                  <a:srgbClr val="42D8AC"/>
                </a:solidFill>
                <a:latin typeface="Times New Roman"/>
                <a:cs typeface="Times New Roman"/>
              </a:rPr>
              <a:t>0.99</a:t>
            </a:r>
            <a:endParaRPr sz="24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65"/>
              </a:spcBef>
            </a:pP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F1-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score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5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6799224" y="4189221"/>
            <a:ext cx="191960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Perfectly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recognised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speakers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863974" y="4130903"/>
            <a:ext cx="6242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b="1" spc="95" dirty="0">
                <a:solidFill>
                  <a:srgbClr val="F1B340"/>
                </a:solidFill>
                <a:latin typeface="Times New Roman"/>
                <a:cs typeface="Times New Roman"/>
              </a:rPr>
              <a:t>4</a:t>
            </a:r>
            <a:r>
              <a:rPr sz="1900" b="1" spc="-65" dirty="0">
                <a:solidFill>
                  <a:srgbClr val="F1B340"/>
                </a:solidFill>
                <a:latin typeface="Times New Roman"/>
                <a:cs typeface="Times New Roman"/>
              </a:rPr>
              <a:t> </a:t>
            </a:r>
            <a:r>
              <a:rPr sz="1900" b="1" spc="430" dirty="0">
                <a:solidFill>
                  <a:srgbClr val="F1B340"/>
                </a:solidFill>
                <a:latin typeface="Times New Roman"/>
                <a:cs typeface="Times New Roman"/>
              </a:rPr>
              <a:t>/</a:t>
            </a:r>
            <a:r>
              <a:rPr sz="1900" b="1" spc="-70" dirty="0">
                <a:solidFill>
                  <a:srgbClr val="F1B340"/>
                </a:solidFill>
                <a:latin typeface="Times New Roman"/>
                <a:cs typeface="Times New Roman"/>
              </a:rPr>
              <a:t> </a:t>
            </a:r>
            <a:r>
              <a:rPr sz="1900" b="1" spc="-25" dirty="0">
                <a:solidFill>
                  <a:srgbClr val="F1B340"/>
                </a:solidFill>
                <a:latin typeface="Times New Roman"/>
                <a:cs typeface="Times New Roman"/>
              </a:rPr>
              <a:t>10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99224" y="4502639"/>
            <a:ext cx="444563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6100"/>
              </a:lnSpc>
              <a:spcBef>
                <a:spcPts val="100"/>
              </a:spcBef>
            </a:pP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Speakers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01–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04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achieve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precision,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recall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F1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equal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1.00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—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no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error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in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either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direction.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exact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class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balance</a:t>
            </a:r>
            <a:r>
              <a:rPr sz="110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means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macro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weighted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averages coincide.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8" name="object 3">
            <a:extLst>
              <a:ext uri="{FF2B5EF4-FFF2-40B4-BE49-F238E27FC236}">
                <a16:creationId xmlns:a16="http://schemas.microsoft.com/office/drawing/2014/main" id="{EA7BBAE8-3B7C-4F66-AB1F-5A8FF5AC53BD}"/>
              </a:ext>
            </a:extLst>
          </p:cNvPr>
          <p:cNvSpPr txBox="1"/>
          <p:nvPr/>
        </p:nvSpPr>
        <p:spPr>
          <a:xfrm>
            <a:off x="10610545" y="278961"/>
            <a:ext cx="1133475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Md.</a:t>
            </a:r>
            <a:r>
              <a:rPr sz="1250" b="1" spc="-5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Arebi</a:t>
            </a:r>
            <a:r>
              <a:rPr sz="1250" b="1" spc="-4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Sarker</a:t>
            </a:r>
            <a:endParaRPr sz="1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spc="45" dirty="0"/>
              <a:t> </a:t>
            </a:r>
            <a:r>
              <a:rPr dirty="0"/>
              <a:t>Matrix</a:t>
            </a:r>
            <a:r>
              <a:rPr spc="65" dirty="0"/>
              <a:t> </a:t>
            </a:r>
            <a:r>
              <a:rPr lang="en-US" dirty="0"/>
              <a:t>&amp;</a:t>
            </a:r>
            <a:r>
              <a:rPr spc="55" dirty="0"/>
              <a:t> </a:t>
            </a:r>
            <a:r>
              <a:rPr dirty="0"/>
              <a:t>Acoustic</a:t>
            </a:r>
            <a:r>
              <a:rPr spc="55" dirty="0"/>
              <a:t> </a:t>
            </a:r>
            <a:r>
              <a:rPr dirty="0"/>
              <a:t>Attractor</a:t>
            </a:r>
            <a:r>
              <a:rPr spc="65" dirty="0"/>
              <a:t> </a:t>
            </a:r>
            <a:r>
              <a:rPr spc="3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8462" y="278961"/>
            <a:ext cx="1485900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92329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Ashfaq</a:t>
            </a:r>
            <a:r>
              <a:rPr sz="1250" b="1" spc="-2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Mahee</a:t>
            </a:r>
            <a:r>
              <a:rPr sz="1250" b="1" spc="-3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Siddiky</a:t>
            </a:r>
            <a:endParaRPr sz="12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1801" y="1183321"/>
          <a:ext cx="6765284" cy="3359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8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800" b="1" spc="-10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800" b="1" spc="-1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320" dirty="0">
                          <a:solidFill>
                            <a:srgbClr val="4BC8EF"/>
                          </a:solidFill>
                          <a:latin typeface="Segoe UI Symbol"/>
                          <a:cs typeface="Segoe UI Symbol"/>
                        </a:rPr>
                        <a:t>╲</a:t>
                      </a:r>
                      <a:r>
                        <a:rPr sz="800" spc="-45" dirty="0">
                          <a:solidFill>
                            <a:srgbClr val="4BC8EF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Pred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BC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BC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BC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BC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99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2D8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50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EE6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99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2D8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50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EE63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BC8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S08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50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EE63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99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2D8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S09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50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EE63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99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2D8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4BC8EF"/>
                          </a:solidFill>
                          <a:latin typeface="Calibri"/>
                          <a:cs typeface="Calibri"/>
                        </a:rPr>
                        <a:t>S10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213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50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EE63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spc="-50" dirty="0">
                          <a:solidFill>
                            <a:srgbClr val="455C8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19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900" b="1" spc="-25" dirty="0">
                          <a:solidFill>
                            <a:srgbClr val="0D1625"/>
                          </a:solidFill>
                          <a:latin typeface="Calibri"/>
                          <a:cs typeface="Calibri"/>
                        </a:rPr>
                        <a:t>99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D1625"/>
                      </a:solidFill>
                      <a:prstDash val="solid"/>
                    </a:lnL>
                    <a:lnR w="12700">
                      <a:solidFill>
                        <a:srgbClr val="0D1625"/>
                      </a:solidFill>
                      <a:prstDash val="solid"/>
                    </a:lnR>
                    <a:lnT w="12700">
                      <a:solidFill>
                        <a:srgbClr val="0D1625"/>
                      </a:solidFill>
                      <a:prstDash val="solid"/>
                    </a:lnT>
                    <a:lnB w="12700">
                      <a:solidFill>
                        <a:srgbClr val="0D1625"/>
                      </a:solidFill>
                      <a:prstDash val="solid"/>
                    </a:lnB>
                    <a:solidFill>
                      <a:srgbClr val="42D8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900" y="4821656"/>
            <a:ext cx="213843" cy="2138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8464" y="4839385"/>
            <a:ext cx="7029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9A9C3"/>
                </a:solidFill>
                <a:latin typeface="Calibri"/>
                <a:cs typeface="Calibri"/>
              </a:rPr>
              <a:t>Correct</a:t>
            </a:r>
            <a:r>
              <a:rPr sz="10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9A9C3"/>
                </a:solidFill>
                <a:latin typeface="Calibri"/>
                <a:cs typeface="Calibri"/>
              </a:rPr>
              <a:t>(100)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6900" y="4821656"/>
            <a:ext cx="213843" cy="2138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04464" y="4839385"/>
            <a:ext cx="6381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9A9C3"/>
                </a:solidFill>
                <a:latin typeface="Calibri"/>
                <a:cs typeface="Calibri"/>
              </a:rPr>
              <a:t>Correct</a:t>
            </a:r>
            <a:r>
              <a:rPr sz="10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9A9C3"/>
                </a:solidFill>
                <a:latin typeface="Calibri"/>
                <a:cs typeface="Calibri"/>
              </a:rPr>
              <a:t>(99)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2899" y="4821656"/>
            <a:ext cx="213843" cy="21384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90464" y="4839385"/>
            <a:ext cx="8655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9A9C3"/>
                </a:solidFill>
                <a:latin typeface="Calibri"/>
                <a:cs typeface="Calibri"/>
              </a:rPr>
              <a:t>Misclassification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47597" y="1183957"/>
            <a:ext cx="4289425" cy="3987165"/>
            <a:chOff x="7447597" y="1183957"/>
            <a:chExt cx="4289425" cy="3987165"/>
          </a:xfrm>
        </p:grpSpPr>
        <p:sp>
          <p:nvSpPr>
            <p:cNvPr id="12" name="object 12"/>
            <p:cNvSpPr/>
            <p:nvPr/>
          </p:nvSpPr>
          <p:spPr>
            <a:xfrm>
              <a:off x="7452359" y="1188719"/>
              <a:ext cx="4279900" cy="3977640"/>
            </a:xfrm>
            <a:custGeom>
              <a:avLst/>
              <a:gdLst/>
              <a:ahLst/>
              <a:cxnLst/>
              <a:rect l="l" t="t" r="r" b="b"/>
              <a:pathLst>
                <a:path w="4279900" h="3977640">
                  <a:moveTo>
                    <a:pt x="420588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904564"/>
                  </a:lnTo>
                  <a:lnTo>
                    <a:pt x="594" y="3913835"/>
                  </a:lnTo>
                  <a:lnTo>
                    <a:pt x="607" y="3914040"/>
                  </a:lnTo>
                  <a:lnTo>
                    <a:pt x="2394" y="3923236"/>
                  </a:lnTo>
                  <a:lnTo>
                    <a:pt x="2428" y="3923415"/>
                  </a:lnTo>
                  <a:lnTo>
                    <a:pt x="5412" y="3932299"/>
                  </a:lnTo>
                  <a:lnTo>
                    <a:pt x="36360" y="3967924"/>
                  </a:lnTo>
                  <a:lnTo>
                    <a:pt x="73075" y="3977640"/>
                  </a:lnTo>
                  <a:lnTo>
                    <a:pt x="4206240" y="3977284"/>
                  </a:lnTo>
                  <a:lnTo>
                    <a:pt x="4250617" y="3962180"/>
                  </a:lnTo>
                  <a:lnTo>
                    <a:pt x="4276826" y="3923415"/>
                  </a:lnTo>
                  <a:lnTo>
                    <a:pt x="4276886" y="3923236"/>
                  </a:lnTo>
                  <a:lnTo>
                    <a:pt x="4278668" y="3914040"/>
                  </a:lnTo>
                  <a:lnTo>
                    <a:pt x="4278708" y="3913835"/>
                  </a:lnTo>
                  <a:lnTo>
                    <a:pt x="4279292" y="3904564"/>
                  </a:lnTo>
                  <a:lnTo>
                    <a:pt x="4279315" y="3904195"/>
                  </a:lnTo>
                  <a:lnTo>
                    <a:pt x="4278960" y="73075"/>
                  </a:lnTo>
                  <a:lnTo>
                    <a:pt x="4263861" y="28705"/>
                  </a:lnTo>
                  <a:lnTo>
                    <a:pt x="4224913" y="2428"/>
                  </a:lnTo>
                  <a:lnTo>
                    <a:pt x="4215516" y="607"/>
                  </a:lnTo>
                  <a:lnTo>
                    <a:pt x="4205884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52359" y="1188719"/>
              <a:ext cx="4279900" cy="3977640"/>
            </a:xfrm>
            <a:custGeom>
              <a:avLst/>
              <a:gdLst/>
              <a:ahLst/>
              <a:cxnLst/>
              <a:rect l="l" t="t" r="r" b="b"/>
              <a:pathLst>
                <a:path w="4279900" h="39776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4205884" y="0"/>
                  </a:lnTo>
                  <a:lnTo>
                    <a:pt x="4250404" y="15104"/>
                  </a:lnTo>
                  <a:lnTo>
                    <a:pt x="4276531" y="54224"/>
                  </a:lnTo>
                  <a:lnTo>
                    <a:pt x="4278960" y="73075"/>
                  </a:lnTo>
                  <a:lnTo>
                    <a:pt x="4279315" y="3904195"/>
                  </a:lnTo>
                  <a:lnTo>
                    <a:pt x="4278708" y="3913835"/>
                  </a:lnTo>
                  <a:lnTo>
                    <a:pt x="4276886" y="3923236"/>
                  </a:lnTo>
                  <a:lnTo>
                    <a:pt x="4250617" y="3962180"/>
                  </a:lnTo>
                  <a:lnTo>
                    <a:pt x="4206240" y="3977284"/>
                  </a:lnTo>
                  <a:lnTo>
                    <a:pt x="73075" y="3977640"/>
                  </a:lnTo>
                  <a:lnTo>
                    <a:pt x="28555" y="3962535"/>
                  </a:lnTo>
                  <a:lnTo>
                    <a:pt x="2428" y="3923415"/>
                  </a:lnTo>
                  <a:lnTo>
                    <a:pt x="0" y="39045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13624" y="1310309"/>
            <a:ext cx="2501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dirty="0">
                <a:solidFill>
                  <a:srgbClr val="EE6360"/>
                </a:solidFill>
                <a:latin typeface="Times New Roman"/>
                <a:cs typeface="Times New Roman"/>
              </a:rPr>
              <a:t>5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36584" y="1391152"/>
            <a:ext cx="200342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errors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1,000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held-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out</a:t>
            </a:r>
            <a:r>
              <a:rPr sz="1100" spc="50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utterances,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each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magnitude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one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20024" y="1968296"/>
            <a:ext cx="195580" cy="2426970"/>
            <a:chOff x="7720024" y="1968296"/>
            <a:chExt cx="195580" cy="242697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0024" y="1968296"/>
              <a:ext cx="195479" cy="1954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0024" y="3212095"/>
              <a:ext cx="195479" cy="1954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0024" y="4199584"/>
              <a:ext cx="195479" cy="19547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988300" y="1962251"/>
            <a:ext cx="3528060" cy="19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Speaker_08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acoustic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attractor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Absorbs</a:t>
            </a:r>
            <a:r>
              <a:rPr sz="1050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3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0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5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false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assignments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—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from</a:t>
            </a:r>
            <a:r>
              <a:rPr sz="10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Speakers</a:t>
            </a:r>
            <a:r>
              <a:rPr sz="10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06,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09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and</a:t>
            </a:r>
            <a:endParaRPr sz="1050" dirty="0">
              <a:latin typeface="Calibri"/>
              <a:cs typeface="Calibri"/>
            </a:endParaRPr>
          </a:p>
          <a:p>
            <a:pPr marL="12700" marR="175895">
              <a:lnSpc>
                <a:spcPct val="103299"/>
              </a:lnSpc>
            </a:pP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10.</a:t>
            </a:r>
            <a:r>
              <a:rPr sz="10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Lowest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precision</a:t>
            </a:r>
            <a:r>
              <a:rPr sz="105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in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system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(0.97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=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99/102)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while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recall 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stays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at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 0.99: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model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is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not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 failing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find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Speaker_08,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it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is over-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assigning</a:t>
            </a:r>
            <a:r>
              <a:rPr sz="1050" spc="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050" spc="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it.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Errors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almost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never</a:t>
            </a:r>
            <a:r>
              <a:rPr sz="1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bidirectional</a:t>
            </a:r>
            <a:endParaRPr sz="1200" dirty="0">
              <a:latin typeface="Calibri"/>
              <a:cs typeface="Calibri"/>
            </a:endParaRPr>
          </a:p>
          <a:p>
            <a:pPr marL="12700" marR="5080">
              <a:lnSpc>
                <a:spcPct val="103299"/>
              </a:lnSpc>
              <a:spcBef>
                <a:spcPts val="1075"/>
              </a:spcBef>
            </a:pPr>
            <a:r>
              <a:rPr lang="en-US" sz="1050" spc="-10" dirty="0">
                <a:solidFill>
                  <a:srgbClr val="99A9C3"/>
                </a:solidFill>
                <a:latin typeface="Calibri"/>
                <a:cs typeface="Calibri"/>
              </a:rPr>
              <a:t>Errors are strictly unidirectional. For instance, one utterance of S08 was misclassified as S07, but not vice versa.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6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988300" y="4193171"/>
            <a:ext cx="3403600" cy="84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Confusion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confined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S05–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S10</a:t>
            </a:r>
            <a:endParaRPr sz="1200" dirty="0">
              <a:latin typeface="Calibri"/>
              <a:cs typeface="Calibri"/>
            </a:endParaRPr>
          </a:p>
          <a:p>
            <a:pPr marL="12700" marR="5080">
              <a:lnSpc>
                <a:spcPct val="103299"/>
              </a:lnSpc>
              <a:spcBef>
                <a:spcPts val="1075"/>
              </a:spcBef>
            </a:pP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Speakers</a:t>
            </a:r>
            <a:r>
              <a:rPr sz="10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01–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04</a:t>
            </a:r>
            <a:r>
              <a:rPr sz="10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are</a:t>
            </a:r>
            <a:r>
              <a:rPr sz="10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entirely</a:t>
            </a:r>
            <a:r>
              <a:rPr sz="105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error-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free,</a:t>
            </a:r>
            <a:r>
              <a:rPr sz="1050" spc="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suggesting</a:t>
            </a:r>
            <a:r>
              <a:rPr sz="1050" spc="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 shared recording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characteristic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within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one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contiguous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subgroup</a:t>
            </a:r>
            <a:r>
              <a:rPr sz="105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rather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than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9A9C3"/>
                </a:solidFill>
                <a:latin typeface="Calibri"/>
                <a:cs typeface="Calibri"/>
              </a:rPr>
              <a:t>ten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independent</a:t>
            </a:r>
            <a:r>
              <a:rPr sz="105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failure</a:t>
            </a:r>
            <a:r>
              <a:rPr sz="105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9A9C3"/>
                </a:solidFill>
                <a:latin typeface="Calibri"/>
                <a:cs typeface="Calibri"/>
              </a:rPr>
              <a:t>modes.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Critical</a:t>
            </a:r>
            <a:r>
              <a:rPr spc="-75" dirty="0"/>
              <a:t> </a:t>
            </a:r>
            <a:r>
              <a:rPr spc="50" dirty="0"/>
              <a:t>Limitations</a:t>
            </a:r>
            <a:r>
              <a:rPr spc="-75" dirty="0"/>
              <a:t> </a:t>
            </a:r>
            <a:r>
              <a:rPr lang="en-US" dirty="0"/>
              <a:t>&amp;</a:t>
            </a:r>
            <a:r>
              <a:rPr spc="-70" dirty="0"/>
              <a:t> </a:t>
            </a:r>
            <a:r>
              <a:rPr spc="45" dirty="0"/>
              <a:t>Methodological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8462" y="278961"/>
            <a:ext cx="1485900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92329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Ashfaq</a:t>
            </a:r>
            <a:r>
              <a:rPr sz="1250" b="1" spc="-2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Mahee</a:t>
            </a:r>
            <a:r>
              <a:rPr sz="1250" b="1" spc="-3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Siddiky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144" y="1107617"/>
            <a:ext cx="829183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i="1" spc="-10" dirty="0">
                <a:solidFill>
                  <a:srgbClr val="99A9C3"/>
                </a:solidFill>
                <a:latin typeface="Calibri"/>
                <a:cs typeface="Calibri"/>
              </a:rPr>
              <a:t>Intellectual</a:t>
            </a:r>
            <a:r>
              <a:rPr sz="12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honesty</a:t>
            </a:r>
            <a:r>
              <a:rPr sz="1250" i="1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requires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2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99.50%</a:t>
            </a:r>
            <a:r>
              <a:rPr sz="1250" i="1" spc="-3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figure</a:t>
            </a:r>
            <a:r>
              <a:rPr sz="12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be</a:t>
            </a:r>
            <a:r>
              <a:rPr sz="12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qualified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rather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than</a:t>
            </a:r>
            <a:r>
              <a:rPr sz="12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99A9C3"/>
                </a:solidFill>
                <a:latin typeface="Calibri"/>
                <a:cs typeface="Calibri"/>
              </a:rPr>
              <a:t>presented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as</a:t>
            </a:r>
            <a:r>
              <a:rPr sz="1250" i="1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2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general</a:t>
            </a:r>
            <a:r>
              <a:rPr sz="1250" i="1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claim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99A9C3"/>
                </a:solidFill>
                <a:latin typeface="Calibri"/>
                <a:cs typeface="Calibri"/>
              </a:rPr>
              <a:t>about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99A9C3"/>
                </a:solidFill>
                <a:latin typeface="Calibri"/>
                <a:cs typeface="Calibri"/>
              </a:rPr>
              <a:t>speaker</a:t>
            </a:r>
            <a:r>
              <a:rPr sz="1250" i="1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99A9C3"/>
                </a:solidFill>
                <a:latin typeface="Calibri"/>
                <a:cs typeface="Calibri"/>
              </a:rPr>
              <a:t>identification.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2164" y="1531435"/>
            <a:ext cx="5495925" cy="1728470"/>
            <a:chOff x="452164" y="1531435"/>
            <a:chExt cx="5495925" cy="1728470"/>
          </a:xfrm>
        </p:grpSpPr>
        <p:sp>
          <p:nvSpPr>
            <p:cNvPr id="6" name="object 6"/>
            <p:cNvSpPr/>
            <p:nvPr/>
          </p:nvSpPr>
          <p:spPr>
            <a:xfrm>
              <a:off x="456844" y="153611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54129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645919"/>
                  </a:lnTo>
                  <a:lnTo>
                    <a:pt x="594" y="1655198"/>
                  </a:lnTo>
                  <a:lnTo>
                    <a:pt x="607" y="1655398"/>
                  </a:lnTo>
                  <a:lnTo>
                    <a:pt x="2394" y="1664598"/>
                  </a:lnTo>
                  <a:lnTo>
                    <a:pt x="2428" y="1664776"/>
                  </a:lnTo>
                  <a:lnTo>
                    <a:pt x="28548" y="1703898"/>
                  </a:lnTo>
                  <a:lnTo>
                    <a:pt x="73075" y="1719008"/>
                  </a:lnTo>
                  <a:lnTo>
                    <a:pt x="5413311" y="1718640"/>
                  </a:lnTo>
                  <a:lnTo>
                    <a:pt x="5457689" y="1703548"/>
                  </a:lnTo>
                  <a:lnTo>
                    <a:pt x="5480852" y="1673816"/>
                  </a:lnTo>
                  <a:lnTo>
                    <a:pt x="5480929" y="1673660"/>
                  </a:lnTo>
                  <a:lnTo>
                    <a:pt x="5483909" y="1664776"/>
                  </a:lnTo>
                  <a:lnTo>
                    <a:pt x="5483969" y="1664598"/>
                  </a:lnTo>
                  <a:lnTo>
                    <a:pt x="5485753" y="1655398"/>
                  </a:lnTo>
                  <a:lnTo>
                    <a:pt x="5485792" y="1655198"/>
                  </a:lnTo>
                  <a:lnTo>
                    <a:pt x="5486377" y="1645919"/>
                  </a:lnTo>
                  <a:lnTo>
                    <a:pt x="5486400" y="1645564"/>
                  </a:lnTo>
                  <a:lnTo>
                    <a:pt x="5486031" y="73088"/>
                  </a:lnTo>
                  <a:lnTo>
                    <a:pt x="5470940" y="28710"/>
                  </a:lnTo>
                  <a:lnTo>
                    <a:pt x="5431990" y="2430"/>
                  </a:lnTo>
                  <a:lnTo>
                    <a:pt x="5422589" y="607"/>
                  </a:lnTo>
                  <a:lnTo>
                    <a:pt x="541295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6844" y="153611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412955" y="0"/>
                  </a:lnTo>
                  <a:lnTo>
                    <a:pt x="5457483" y="15109"/>
                  </a:lnTo>
                  <a:lnTo>
                    <a:pt x="5483602" y="54232"/>
                  </a:lnTo>
                  <a:lnTo>
                    <a:pt x="5486031" y="73088"/>
                  </a:lnTo>
                  <a:lnTo>
                    <a:pt x="5486400" y="1645564"/>
                  </a:lnTo>
                  <a:lnTo>
                    <a:pt x="5485792" y="1655198"/>
                  </a:lnTo>
                  <a:lnTo>
                    <a:pt x="5483969" y="1664598"/>
                  </a:lnTo>
                  <a:lnTo>
                    <a:pt x="5457689" y="1703548"/>
                  </a:lnTo>
                  <a:lnTo>
                    <a:pt x="5413311" y="1718640"/>
                  </a:lnTo>
                  <a:lnTo>
                    <a:pt x="73075" y="1719008"/>
                  </a:lnTo>
                  <a:lnTo>
                    <a:pt x="28548" y="1703898"/>
                  </a:lnTo>
                  <a:lnTo>
                    <a:pt x="2428" y="1664776"/>
                  </a:lnTo>
                  <a:lnTo>
                    <a:pt x="0" y="164591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8464" y="1686127"/>
            <a:ext cx="1962785" cy="5549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b="1" dirty="0">
                <a:solidFill>
                  <a:srgbClr val="EE6360"/>
                </a:solidFill>
                <a:latin typeface="Calibri"/>
                <a:cs typeface="Calibri"/>
              </a:rPr>
              <a:t>H</a:t>
            </a:r>
            <a:r>
              <a:rPr sz="900" b="1" spc="-80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E6360"/>
                </a:solidFill>
                <a:latin typeface="Calibri"/>
                <a:cs typeface="Calibri"/>
              </a:rPr>
              <a:t>I</a:t>
            </a:r>
            <a:r>
              <a:rPr sz="900" b="1" spc="-75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EE6360"/>
                </a:solidFill>
                <a:latin typeface="Calibri"/>
                <a:cs typeface="Calibri"/>
              </a:rPr>
              <a:t>G</a:t>
            </a:r>
            <a:r>
              <a:rPr sz="900" b="1" spc="-75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E6360"/>
                </a:solidFill>
                <a:latin typeface="Calibri"/>
                <a:cs typeface="Calibri"/>
              </a:rPr>
              <a:t>H</a:t>
            </a:r>
            <a:r>
              <a:rPr sz="900" b="1" spc="-80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spc="65" dirty="0">
                <a:solidFill>
                  <a:srgbClr val="EE6360"/>
                </a:solidFill>
                <a:latin typeface="Calibri"/>
                <a:cs typeface="Calibri"/>
              </a:rPr>
              <a:t>EST</a:t>
            </a:r>
            <a:r>
              <a:rPr sz="900" b="1" spc="280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spc="50" dirty="0">
                <a:solidFill>
                  <a:srgbClr val="EE6360"/>
                </a:solidFill>
                <a:latin typeface="Calibri"/>
                <a:cs typeface="Calibri"/>
              </a:rPr>
              <a:t>PR</a:t>
            </a:r>
            <a:r>
              <a:rPr sz="900" b="1" spc="-70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E6360"/>
                </a:solidFill>
                <a:latin typeface="Calibri"/>
                <a:cs typeface="Calibri"/>
              </a:rPr>
              <a:t>I</a:t>
            </a:r>
            <a:r>
              <a:rPr sz="900" b="1" spc="-75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E6360"/>
                </a:solidFill>
                <a:latin typeface="Calibri"/>
                <a:cs typeface="Calibri"/>
              </a:rPr>
              <a:t>OR</a:t>
            </a:r>
            <a:r>
              <a:rPr sz="900" b="1" spc="-65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EE6360"/>
                </a:solidFill>
                <a:latin typeface="Calibri"/>
                <a:cs typeface="Calibri"/>
              </a:rPr>
              <a:t>I</a:t>
            </a:r>
            <a:r>
              <a:rPr sz="900" b="1" spc="-75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EE6360"/>
                </a:solidFill>
                <a:latin typeface="Calibri"/>
                <a:cs typeface="Calibri"/>
              </a:rPr>
              <a:t>T</a:t>
            </a:r>
            <a:r>
              <a:rPr sz="900" b="1" spc="-80" dirty="0">
                <a:solidFill>
                  <a:srgbClr val="EE6360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EE6360"/>
                </a:solidFill>
                <a:latin typeface="Calibri"/>
                <a:cs typeface="Calibri"/>
              </a:rPr>
              <a:t>Y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overlap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464" y="2445240"/>
            <a:ext cx="489902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split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at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utterance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 level,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not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session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level.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All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500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recordings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speaker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most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plausibly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share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microphone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room,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so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model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may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be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partly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identifying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the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recording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condition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rather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than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voice.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40240" y="1531435"/>
            <a:ext cx="5495925" cy="1728470"/>
            <a:chOff x="6240240" y="1531435"/>
            <a:chExt cx="5495925" cy="1728470"/>
          </a:xfrm>
        </p:grpSpPr>
        <p:sp>
          <p:nvSpPr>
            <p:cNvPr id="11" name="object 11"/>
            <p:cNvSpPr/>
            <p:nvPr/>
          </p:nvSpPr>
          <p:spPr>
            <a:xfrm>
              <a:off x="6244920" y="153611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54129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645919"/>
                  </a:lnTo>
                  <a:lnTo>
                    <a:pt x="15098" y="1690297"/>
                  </a:lnTo>
                  <a:lnTo>
                    <a:pt x="54046" y="1716578"/>
                  </a:lnTo>
                  <a:lnTo>
                    <a:pt x="73075" y="1719008"/>
                  </a:lnTo>
                  <a:lnTo>
                    <a:pt x="5413324" y="1718640"/>
                  </a:lnTo>
                  <a:lnTo>
                    <a:pt x="5457694" y="1703548"/>
                  </a:lnTo>
                  <a:lnTo>
                    <a:pt x="5483911" y="1664776"/>
                  </a:lnTo>
                  <a:lnTo>
                    <a:pt x="5485754" y="1655398"/>
                  </a:lnTo>
                  <a:lnTo>
                    <a:pt x="5485792" y="1655198"/>
                  </a:lnTo>
                  <a:lnTo>
                    <a:pt x="5486377" y="1645919"/>
                  </a:lnTo>
                  <a:lnTo>
                    <a:pt x="5486400" y="1645564"/>
                  </a:lnTo>
                  <a:lnTo>
                    <a:pt x="5486044" y="73088"/>
                  </a:lnTo>
                  <a:lnTo>
                    <a:pt x="5470940" y="28710"/>
                  </a:lnTo>
                  <a:lnTo>
                    <a:pt x="5431996" y="2430"/>
                  </a:lnTo>
                  <a:lnTo>
                    <a:pt x="5422595" y="607"/>
                  </a:lnTo>
                  <a:lnTo>
                    <a:pt x="541295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44920" y="153611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5412955" y="0"/>
                  </a:lnTo>
                  <a:lnTo>
                    <a:pt x="5457488" y="15109"/>
                  </a:lnTo>
                  <a:lnTo>
                    <a:pt x="5483613" y="54232"/>
                  </a:lnTo>
                  <a:lnTo>
                    <a:pt x="5486044" y="73088"/>
                  </a:lnTo>
                  <a:lnTo>
                    <a:pt x="5486400" y="1645564"/>
                  </a:lnTo>
                  <a:lnTo>
                    <a:pt x="5485792" y="1655198"/>
                  </a:lnTo>
                  <a:lnTo>
                    <a:pt x="5483971" y="1664598"/>
                  </a:lnTo>
                  <a:lnTo>
                    <a:pt x="5457694" y="1703548"/>
                  </a:lnTo>
                  <a:lnTo>
                    <a:pt x="5413324" y="1718640"/>
                  </a:lnTo>
                  <a:lnTo>
                    <a:pt x="73075" y="1719008"/>
                  </a:lnTo>
                  <a:lnTo>
                    <a:pt x="28555" y="1703898"/>
                  </a:lnTo>
                  <a:lnTo>
                    <a:pt x="2428" y="1664776"/>
                  </a:lnTo>
                  <a:lnTo>
                    <a:pt x="0" y="1645919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06540" y="1686127"/>
            <a:ext cx="2757805" cy="5549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b="1" spc="55" dirty="0">
                <a:solidFill>
                  <a:srgbClr val="F1B340"/>
                </a:solidFill>
                <a:latin typeface="Calibri"/>
                <a:cs typeface="Calibri"/>
              </a:rPr>
              <a:t>EF</a:t>
            </a:r>
            <a:r>
              <a:rPr sz="900" b="1" spc="-80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1B340"/>
                </a:solidFill>
                <a:latin typeface="Calibri"/>
                <a:cs typeface="Calibri"/>
              </a:rPr>
              <a:t>F</a:t>
            </a:r>
            <a:r>
              <a:rPr sz="900" b="1" spc="-90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1B340"/>
                </a:solidFill>
                <a:latin typeface="Calibri"/>
                <a:cs typeface="Calibri"/>
              </a:rPr>
              <a:t>I</a:t>
            </a:r>
            <a:r>
              <a:rPr sz="900" b="1" spc="-90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1B340"/>
                </a:solidFill>
                <a:latin typeface="Calibri"/>
                <a:cs typeface="Calibri"/>
              </a:rPr>
              <a:t>C</a:t>
            </a:r>
            <a:r>
              <a:rPr sz="900" b="1" spc="-75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1B340"/>
                </a:solidFill>
                <a:latin typeface="Calibri"/>
                <a:cs typeface="Calibri"/>
              </a:rPr>
              <a:t>I</a:t>
            </a:r>
            <a:r>
              <a:rPr sz="900" b="1" spc="-90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1B340"/>
                </a:solidFill>
                <a:latin typeface="Calibri"/>
                <a:cs typeface="Calibri"/>
              </a:rPr>
              <a:t>E</a:t>
            </a:r>
            <a:r>
              <a:rPr sz="900" b="1" spc="-95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1B340"/>
                </a:solidFill>
                <a:latin typeface="Calibri"/>
                <a:cs typeface="Calibri"/>
              </a:rPr>
              <a:t>N</a:t>
            </a:r>
            <a:r>
              <a:rPr sz="900" b="1" spc="-75" dirty="0">
                <a:solidFill>
                  <a:srgbClr val="F1B340"/>
                </a:solidFill>
                <a:latin typeface="Calibri"/>
                <a:cs typeface="Calibri"/>
              </a:rPr>
              <a:t> </a:t>
            </a:r>
            <a:r>
              <a:rPr sz="900" b="1" spc="25" dirty="0">
                <a:solidFill>
                  <a:srgbClr val="F1B340"/>
                </a:solidFill>
                <a:latin typeface="Calibri"/>
                <a:cs typeface="Calibri"/>
              </a:rPr>
              <a:t>CY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representational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overhead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06540" y="2445240"/>
            <a:ext cx="475107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Only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32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40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time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columns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carry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signal,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so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320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1,600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dimensions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are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structurally zero.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Aligning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with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true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frame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count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would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cut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dimensionality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by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20%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at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no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cost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accuracy.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2164" y="3451675"/>
            <a:ext cx="5495925" cy="1728470"/>
            <a:chOff x="452164" y="3451675"/>
            <a:chExt cx="5495925" cy="1728470"/>
          </a:xfrm>
        </p:grpSpPr>
        <p:sp>
          <p:nvSpPr>
            <p:cNvPr id="16" name="object 16"/>
            <p:cNvSpPr/>
            <p:nvPr/>
          </p:nvSpPr>
          <p:spPr>
            <a:xfrm>
              <a:off x="456844" y="345635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54129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645920"/>
                  </a:lnTo>
                  <a:lnTo>
                    <a:pt x="15091" y="1690297"/>
                  </a:lnTo>
                  <a:lnTo>
                    <a:pt x="54041" y="1716578"/>
                  </a:lnTo>
                  <a:lnTo>
                    <a:pt x="73075" y="1719008"/>
                  </a:lnTo>
                  <a:lnTo>
                    <a:pt x="5413311" y="1718640"/>
                  </a:lnTo>
                  <a:lnTo>
                    <a:pt x="5457689" y="1703548"/>
                  </a:lnTo>
                  <a:lnTo>
                    <a:pt x="5483909" y="1664776"/>
                  </a:lnTo>
                  <a:lnTo>
                    <a:pt x="5485753" y="1655398"/>
                  </a:lnTo>
                  <a:lnTo>
                    <a:pt x="5485792" y="1655198"/>
                  </a:lnTo>
                  <a:lnTo>
                    <a:pt x="5486377" y="1645920"/>
                  </a:lnTo>
                  <a:lnTo>
                    <a:pt x="5486400" y="1645564"/>
                  </a:lnTo>
                  <a:lnTo>
                    <a:pt x="5486031" y="73088"/>
                  </a:lnTo>
                  <a:lnTo>
                    <a:pt x="5470940" y="28710"/>
                  </a:lnTo>
                  <a:lnTo>
                    <a:pt x="5431990" y="2430"/>
                  </a:lnTo>
                  <a:lnTo>
                    <a:pt x="5422589" y="607"/>
                  </a:lnTo>
                  <a:lnTo>
                    <a:pt x="541295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6844" y="345635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5412955" y="0"/>
                  </a:lnTo>
                  <a:lnTo>
                    <a:pt x="5457483" y="15109"/>
                  </a:lnTo>
                  <a:lnTo>
                    <a:pt x="5483602" y="54232"/>
                  </a:lnTo>
                  <a:lnTo>
                    <a:pt x="5486031" y="73088"/>
                  </a:lnTo>
                  <a:lnTo>
                    <a:pt x="5486400" y="1645564"/>
                  </a:lnTo>
                  <a:lnTo>
                    <a:pt x="5485792" y="1655198"/>
                  </a:lnTo>
                  <a:lnTo>
                    <a:pt x="5483969" y="1664598"/>
                  </a:lnTo>
                  <a:lnTo>
                    <a:pt x="5457689" y="1703548"/>
                  </a:lnTo>
                  <a:lnTo>
                    <a:pt x="5413311" y="1718640"/>
                  </a:lnTo>
                  <a:lnTo>
                    <a:pt x="73075" y="1719008"/>
                  </a:lnTo>
                  <a:lnTo>
                    <a:pt x="28548" y="1703898"/>
                  </a:lnTo>
                  <a:lnTo>
                    <a:pt x="2428" y="1664776"/>
                  </a:lnTo>
                  <a:lnTo>
                    <a:pt x="0" y="164592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8464" y="3606367"/>
            <a:ext cx="1572895" cy="5549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b="1" dirty="0">
                <a:solidFill>
                  <a:srgbClr val="4BC8EF"/>
                </a:solidFill>
                <a:latin typeface="Calibri"/>
                <a:cs typeface="Calibri"/>
              </a:rPr>
              <a:t>D</a:t>
            </a:r>
            <a:r>
              <a:rPr sz="9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900" b="1" spc="55" dirty="0">
                <a:solidFill>
                  <a:srgbClr val="4BC8EF"/>
                </a:solidFill>
                <a:latin typeface="Calibri"/>
                <a:cs typeface="Calibri"/>
              </a:rPr>
              <a:t>EP</a:t>
            </a:r>
            <a:r>
              <a:rPr sz="9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900" b="1" spc="60" dirty="0">
                <a:solidFill>
                  <a:srgbClr val="4BC8EF"/>
                </a:solidFill>
                <a:latin typeface="Calibri"/>
                <a:cs typeface="Calibri"/>
              </a:rPr>
              <a:t>LOY</a:t>
            </a:r>
            <a:r>
              <a:rPr sz="9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BC8EF"/>
                </a:solidFill>
                <a:latin typeface="Calibri"/>
                <a:cs typeface="Calibri"/>
              </a:rPr>
              <a:t>M</a:t>
            </a:r>
            <a:r>
              <a:rPr sz="9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900" b="1" spc="55" dirty="0">
                <a:solidFill>
                  <a:srgbClr val="4BC8EF"/>
                </a:solidFill>
                <a:latin typeface="Calibri"/>
                <a:cs typeface="Calibri"/>
              </a:rPr>
              <a:t>EN</a:t>
            </a:r>
            <a:r>
              <a:rPr sz="900" b="1" spc="-7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4BC8EF"/>
                </a:solidFill>
                <a:latin typeface="Calibri"/>
                <a:cs typeface="Calibri"/>
              </a:rPr>
              <a:t>T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Closed-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set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constraint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464" y="4365480"/>
            <a:ext cx="469646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system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always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emits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ten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labels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has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no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rejection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mechanism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for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unenrolled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speakers.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Deployment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needs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open-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set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formulation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with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calibrated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score</a:t>
            </a:r>
            <a:r>
              <a:rPr sz="1100" spc="-4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threshold.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40240" y="3451675"/>
            <a:ext cx="5495925" cy="1728470"/>
            <a:chOff x="6240240" y="3451675"/>
            <a:chExt cx="5495925" cy="1728470"/>
          </a:xfrm>
        </p:grpSpPr>
        <p:sp>
          <p:nvSpPr>
            <p:cNvPr id="21" name="object 21"/>
            <p:cNvSpPr/>
            <p:nvPr/>
          </p:nvSpPr>
          <p:spPr>
            <a:xfrm>
              <a:off x="6244920" y="345635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54129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6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1645920"/>
                  </a:lnTo>
                  <a:lnTo>
                    <a:pt x="5412" y="1673660"/>
                  </a:lnTo>
                  <a:lnTo>
                    <a:pt x="5464" y="1673816"/>
                  </a:lnTo>
                  <a:lnTo>
                    <a:pt x="36360" y="1709280"/>
                  </a:lnTo>
                  <a:lnTo>
                    <a:pt x="73075" y="1719008"/>
                  </a:lnTo>
                  <a:lnTo>
                    <a:pt x="5413324" y="1718640"/>
                  </a:lnTo>
                  <a:lnTo>
                    <a:pt x="5457694" y="1703548"/>
                  </a:lnTo>
                  <a:lnTo>
                    <a:pt x="5483911" y="1664776"/>
                  </a:lnTo>
                  <a:lnTo>
                    <a:pt x="5485754" y="1655398"/>
                  </a:lnTo>
                  <a:lnTo>
                    <a:pt x="5485792" y="1655198"/>
                  </a:lnTo>
                  <a:lnTo>
                    <a:pt x="5486377" y="1645920"/>
                  </a:lnTo>
                  <a:lnTo>
                    <a:pt x="5486400" y="1645564"/>
                  </a:lnTo>
                  <a:lnTo>
                    <a:pt x="5486044" y="73088"/>
                  </a:lnTo>
                  <a:lnTo>
                    <a:pt x="5470940" y="28710"/>
                  </a:lnTo>
                  <a:lnTo>
                    <a:pt x="5431996" y="2430"/>
                  </a:lnTo>
                  <a:lnTo>
                    <a:pt x="5422595" y="607"/>
                  </a:lnTo>
                  <a:lnTo>
                    <a:pt x="541295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44920" y="3456355"/>
              <a:ext cx="5486400" cy="1719580"/>
            </a:xfrm>
            <a:custGeom>
              <a:avLst/>
              <a:gdLst/>
              <a:ahLst/>
              <a:cxnLst/>
              <a:rect l="l" t="t" r="r" b="b"/>
              <a:pathLst>
                <a:path w="5486400" h="171957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705" y="15103"/>
                  </a:lnTo>
                  <a:lnTo>
                    <a:pt x="73075" y="0"/>
                  </a:lnTo>
                  <a:lnTo>
                    <a:pt x="5412955" y="0"/>
                  </a:lnTo>
                  <a:lnTo>
                    <a:pt x="5457488" y="15109"/>
                  </a:lnTo>
                  <a:lnTo>
                    <a:pt x="5483613" y="54232"/>
                  </a:lnTo>
                  <a:lnTo>
                    <a:pt x="5486044" y="73088"/>
                  </a:lnTo>
                  <a:lnTo>
                    <a:pt x="5486400" y="1645564"/>
                  </a:lnTo>
                  <a:lnTo>
                    <a:pt x="5485792" y="1655198"/>
                  </a:lnTo>
                  <a:lnTo>
                    <a:pt x="5483971" y="1664598"/>
                  </a:lnTo>
                  <a:lnTo>
                    <a:pt x="5457694" y="1703548"/>
                  </a:lnTo>
                  <a:lnTo>
                    <a:pt x="5413324" y="1718640"/>
                  </a:lnTo>
                  <a:lnTo>
                    <a:pt x="73075" y="1719008"/>
                  </a:lnTo>
                  <a:lnTo>
                    <a:pt x="28555" y="1703898"/>
                  </a:lnTo>
                  <a:lnTo>
                    <a:pt x="2428" y="1664776"/>
                  </a:lnTo>
                  <a:lnTo>
                    <a:pt x="0" y="164592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06540" y="3606367"/>
            <a:ext cx="1656714" cy="5549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00" b="1" dirty="0">
                <a:solidFill>
                  <a:srgbClr val="42D8AC"/>
                </a:solidFill>
                <a:latin typeface="Calibri"/>
                <a:cs typeface="Calibri"/>
              </a:rPr>
              <a:t>STAT</a:t>
            </a:r>
            <a:r>
              <a:rPr sz="900" b="1" spc="-55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2D8AC"/>
                </a:solidFill>
                <a:latin typeface="Calibri"/>
                <a:cs typeface="Calibri"/>
              </a:rPr>
              <a:t>I</a:t>
            </a:r>
            <a:r>
              <a:rPr sz="900" b="1" spc="-45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900" b="1" spc="50" dirty="0">
                <a:solidFill>
                  <a:srgbClr val="42D8AC"/>
                </a:solidFill>
                <a:latin typeface="Calibri"/>
                <a:cs typeface="Calibri"/>
              </a:rPr>
              <a:t>ST</a:t>
            </a:r>
            <a:r>
              <a:rPr sz="900" b="1" spc="-55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2D8AC"/>
                </a:solidFill>
                <a:latin typeface="Calibri"/>
                <a:cs typeface="Calibri"/>
              </a:rPr>
              <a:t>I</a:t>
            </a:r>
            <a:r>
              <a:rPr sz="900" b="1" spc="-50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42D8AC"/>
                </a:solidFill>
                <a:latin typeface="Calibri"/>
                <a:cs typeface="Calibri"/>
              </a:rPr>
              <a:t>C</a:t>
            </a:r>
            <a:r>
              <a:rPr sz="900" b="1" spc="-40" dirty="0">
                <a:solidFill>
                  <a:srgbClr val="42D8AC"/>
                </a:solidFill>
                <a:latin typeface="Calibri"/>
                <a:cs typeface="Calibri"/>
              </a:rPr>
              <a:t> </a:t>
            </a:r>
            <a:r>
              <a:rPr sz="900" b="1" spc="25" dirty="0">
                <a:solidFill>
                  <a:srgbClr val="42D8AC"/>
                </a:solidFill>
                <a:latin typeface="Calibri"/>
                <a:cs typeface="Calibri"/>
              </a:rPr>
              <a:t>AL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Single-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evaluation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7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06540" y="4365480"/>
            <a:ext cx="461327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stratified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hold-out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under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fixed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seed.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With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only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five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errors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confidence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interval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error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rate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wide;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99A9C3"/>
                </a:solidFill>
                <a:latin typeface="Calibri"/>
                <a:cs typeface="Calibri"/>
              </a:rPr>
              <a:t>k-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fold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cross-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validation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with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reported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variance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is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needed.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4144" y="5505953"/>
            <a:ext cx="1094994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Additional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constraints: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constrained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lexical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domain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(isolated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digits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only)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clean-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condition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evaluation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with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no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noise,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reverberation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or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codec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mismatch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temporal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dynamics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discarded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by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flattening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99A9C3"/>
                </a:solidFill>
                <a:latin typeface="Calibri"/>
                <a:cs typeface="Calibri"/>
              </a:rPr>
              <a:t>·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 population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scale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only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ten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enrolled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identities.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125" dirty="0"/>
              <a:t> </a:t>
            </a:r>
            <a:r>
              <a:rPr lang="en-US" dirty="0"/>
              <a:t>&amp;</a:t>
            </a:r>
            <a:r>
              <a:rPr spc="135" dirty="0"/>
              <a:t> </a:t>
            </a:r>
            <a:r>
              <a:rPr dirty="0"/>
              <a:t>Future</a:t>
            </a:r>
            <a:r>
              <a:rPr spc="13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8462" y="278961"/>
            <a:ext cx="1485900" cy="49720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923290">
              <a:lnSpc>
                <a:spcPct val="100000"/>
              </a:lnSpc>
              <a:spcBef>
                <a:spcPts val="575"/>
              </a:spcBef>
            </a:pPr>
            <a:r>
              <a:rPr sz="900" spc="70" dirty="0">
                <a:solidFill>
                  <a:srgbClr val="99A9C3"/>
                </a:solidFill>
                <a:latin typeface="Calibri"/>
                <a:cs typeface="Calibri"/>
              </a:rPr>
              <a:t>Presenter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Ashfaq</a:t>
            </a:r>
            <a:r>
              <a:rPr sz="1250" b="1" spc="-2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BC8EF"/>
                </a:solidFill>
                <a:latin typeface="Calibri"/>
                <a:cs typeface="Calibri"/>
              </a:rPr>
              <a:t>Mahee</a:t>
            </a:r>
            <a:r>
              <a:rPr sz="1250" b="1" spc="-3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BC8EF"/>
                </a:solidFill>
                <a:latin typeface="Calibri"/>
                <a:cs typeface="Calibri"/>
              </a:rPr>
              <a:t>Siddiky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2164" y="1165320"/>
            <a:ext cx="5404485" cy="2844165"/>
            <a:chOff x="452164" y="1165320"/>
            <a:chExt cx="5404485" cy="2844165"/>
          </a:xfrm>
        </p:grpSpPr>
        <p:sp>
          <p:nvSpPr>
            <p:cNvPr id="5" name="object 5"/>
            <p:cNvSpPr/>
            <p:nvPr/>
          </p:nvSpPr>
          <p:spPr>
            <a:xfrm>
              <a:off x="456844" y="1170000"/>
              <a:ext cx="5394960" cy="2834640"/>
            </a:xfrm>
            <a:custGeom>
              <a:avLst/>
              <a:gdLst/>
              <a:ahLst/>
              <a:cxnLst/>
              <a:rect l="l" t="t" r="r" b="b"/>
              <a:pathLst>
                <a:path w="5394960" h="2834640">
                  <a:moveTo>
                    <a:pt x="53215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761564"/>
                  </a:lnTo>
                  <a:lnTo>
                    <a:pt x="15041" y="2805934"/>
                  </a:lnTo>
                  <a:lnTo>
                    <a:pt x="54041" y="2832211"/>
                  </a:lnTo>
                  <a:lnTo>
                    <a:pt x="73075" y="2834640"/>
                  </a:lnTo>
                  <a:lnTo>
                    <a:pt x="5321871" y="2834284"/>
                  </a:lnTo>
                  <a:lnTo>
                    <a:pt x="5366249" y="2819230"/>
                  </a:lnTo>
                  <a:lnTo>
                    <a:pt x="5392514" y="2780282"/>
                  </a:lnTo>
                  <a:lnTo>
                    <a:pt x="5394960" y="2761195"/>
                  </a:lnTo>
                  <a:lnTo>
                    <a:pt x="5394591" y="73075"/>
                  </a:lnTo>
                  <a:lnTo>
                    <a:pt x="5379550" y="28705"/>
                  </a:lnTo>
                  <a:lnTo>
                    <a:pt x="5340550" y="2428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92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844" y="1170000"/>
              <a:ext cx="5394960" cy="2834640"/>
            </a:xfrm>
            <a:custGeom>
              <a:avLst/>
              <a:gdLst/>
              <a:ahLst/>
              <a:cxnLst/>
              <a:rect l="l" t="t" r="r" b="b"/>
              <a:pathLst>
                <a:path w="5394960" h="28346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193" y="15104"/>
                  </a:lnTo>
                  <a:lnTo>
                    <a:pt x="5392162" y="54357"/>
                  </a:lnTo>
                  <a:lnTo>
                    <a:pt x="5394591" y="73075"/>
                  </a:lnTo>
                  <a:lnTo>
                    <a:pt x="5394960" y="2761195"/>
                  </a:lnTo>
                  <a:lnTo>
                    <a:pt x="5394352" y="2770835"/>
                  </a:lnTo>
                  <a:lnTo>
                    <a:pt x="5392529" y="2780236"/>
                  </a:lnTo>
                  <a:lnTo>
                    <a:pt x="5366249" y="2819230"/>
                  </a:lnTo>
                  <a:lnTo>
                    <a:pt x="5321871" y="2834284"/>
                  </a:lnTo>
                  <a:lnTo>
                    <a:pt x="73075" y="2834640"/>
                  </a:lnTo>
                  <a:lnTo>
                    <a:pt x="28398" y="2819535"/>
                  </a:lnTo>
                  <a:lnTo>
                    <a:pt x="2428" y="2780282"/>
                  </a:lnTo>
                  <a:lnTo>
                    <a:pt x="0" y="2761564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8464" y="1384464"/>
            <a:ext cx="4850765" cy="1137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4BC8EF"/>
                </a:solidFill>
                <a:latin typeface="Calibri"/>
                <a:cs typeface="Calibri"/>
              </a:rPr>
              <a:t>C</a:t>
            </a:r>
            <a:r>
              <a:rPr sz="1100" b="1" spc="-11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10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BC8EF"/>
                </a:solidFill>
                <a:latin typeface="Calibri"/>
                <a:cs typeface="Calibri"/>
              </a:rPr>
              <a:t>n</a:t>
            </a:r>
            <a:r>
              <a:rPr sz="1100" b="1" spc="-10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4BC8EF"/>
                </a:solidFill>
                <a:latin typeface="Calibri"/>
                <a:cs typeface="Calibri"/>
              </a:rPr>
              <a:t>c</a:t>
            </a:r>
            <a:r>
              <a:rPr sz="1100" b="1" spc="-9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4BC8EF"/>
                </a:solidFill>
                <a:latin typeface="Calibri"/>
                <a:cs typeface="Calibri"/>
              </a:rPr>
              <a:t>l</a:t>
            </a:r>
            <a:r>
              <a:rPr sz="1100" b="1" spc="-10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BC8EF"/>
                </a:solidFill>
                <a:latin typeface="Calibri"/>
                <a:cs typeface="Calibri"/>
              </a:rPr>
              <a:t>u</a:t>
            </a:r>
            <a:r>
              <a:rPr sz="1100" b="1" spc="-10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BC8EF"/>
                </a:solidFill>
                <a:latin typeface="Calibri"/>
                <a:cs typeface="Calibri"/>
              </a:rPr>
              <a:t>s</a:t>
            </a:r>
            <a:r>
              <a:rPr sz="1100" b="1" spc="-9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4BC8EF"/>
                </a:solidFill>
                <a:latin typeface="Calibri"/>
                <a:cs typeface="Calibri"/>
              </a:rPr>
              <a:t>i</a:t>
            </a:r>
            <a:r>
              <a:rPr sz="110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100" b="1" spc="-10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4BC8EF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  <a:p>
            <a:pPr marL="12700" marR="5080" algn="just">
              <a:lnSpc>
                <a:spcPct val="106600"/>
              </a:lnSpc>
              <a:spcBef>
                <a:spcPts val="103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classical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MFCC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paired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shallow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100-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ensemble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delivers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state-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of-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the-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art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closed-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set accuracy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2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ten-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speaker</a:t>
            </a:r>
            <a:r>
              <a:rPr sz="12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population</a:t>
            </a:r>
            <a:r>
              <a:rPr sz="12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training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seconds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commodity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CPU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hardware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deploying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portable artifact.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464" y="2611146"/>
            <a:ext cx="3202305" cy="124015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04800" indent="-292100">
              <a:lnSpc>
                <a:spcPct val="100000"/>
              </a:lnSpc>
              <a:spcBef>
                <a:spcPts val="910"/>
              </a:spcBef>
              <a:buClr>
                <a:srgbClr val="42D8AC"/>
              </a:buClr>
              <a:buSzPct val="113043"/>
              <a:buFont typeface="Segoe UI Symbol"/>
              <a:buChar char="✓"/>
              <a:tabLst>
                <a:tab pos="304800" algn="l"/>
              </a:tabLst>
            </a:pP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99.50%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validation</a:t>
            </a:r>
            <a:r>
              <a:rPr sz="1725" spc="-3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accuracy,</a:t>
            </a:r>
            <a:r>
              <a:rPr sz="1725" spc="-44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macro</a:t>
            </a:r>
            <a:r>
              <a:rPr sz="1725" spc="-3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F1</a:t>
            </a:r>
            <a:r>
              <a:rPr sz="1725" spc="-44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0.99</a:t>
            </a:r>
            <a:endParaRPr sz="1725" baseline="2415" dirty="0">
              <a:latin typeface="Calibri"/>
              <a:cs typeface="Calibri"/>
            </a:endParaRPr>
          </a:p>
          <a:p>
            <a:pPr marL="304800" indent="-292100">
              <a:lnSpc>
                <a:spcPct val="100000"/>
              </a:lnSpc>
              <a:spcBef>
                <a:spcPts val="1065"/>
              </a:spcBef>
              <a:buClr>
                <a:srgbClr val="42D8AC"/>
              </a:buClr>
              <a:buSzPct val="113043"/>
              <a:buFont typeface="Segoe UI Symbol"/>
              <a:buChar char="✓"/>
              <a:tabLst>
                <a:tab pos="304800" algn="l"/>
              </a:tabLst>
            </a:pPr>
            <a:r>
              <a:rPr lang="en-US" sz="1725" baseline="2415" dirty="0">
                <a:solidFill>
                  <a:srgbClr val="99A9C3"/>
                </a:solidFill>
                <a:latin typeface="Calibri"/>
                <a:cs typeface="Calibri"/>
              </a:rPr>
              <a:t>4</a:t>
            </a:r>
            <a:r>
              <a:rPr sz="1725" spc="-3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725" spc="-22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10</a:t>
            </a:r>
            <a:r>
              <a:rPr sz="1725" spc="-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speakers</a:t>
            </a:r>
            <a:r>
              <a:rPr sz="1725" spc="-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recognised</a:t>
            </a:r>
            <a:r>
              <a:rPr sz="1725" spc="-22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without</a:t>
            </a:r>
            <a:r>
              <a:rPr sz="1725" spc="-22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error</a:t>
            </a:r>
            <a:endParaRPr sz="1725" baseline="2415" dirty="0">
              <a:latin typeface="Calibri"/>
              <a:cs typeface="Calibri"/>
            </a:endParaRPr>
          </a:p>
          <a:p>
            <a:pPr marL="304800" indent="-292100">
              <a:lnSpc>
                <a:spcPct val="100000"/>
              </a:lnSpc>
              <a:spcBef>
                <a:spcPts val="1070"/>
              </a:spcBef>
              <a:buClr>
                <a:srgbClr val="42D8AC"/>
              </a:buClr>
              <a:buSzPct val="113043"/>
              <a:buFont typeface="Segoe UI Symbol"/>
              <a:buChar char="✓"/>
              <a:tabLst>
                <a:tab pos="304800" algn="l"/>
              </a:tabLst>
            </a:pP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Errors</a:t>
            </a:r>
            <a:r>
              <a:rPr sz="1725" spc="-44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traced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to</a:t>
            </a:r>
            <a:r>
              <a:rPr sz="1725" spc="-44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725" spc="-3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single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attractor</a:t>
            </a:r>
            <a:r>
              <a:rPr sz="1725" spc="-22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class</a:t>
            </a:r>
            <a:endParaRPr sz="1725" baseline="2415" dirty="0">
              <a:latin typeface="Calibri"/>
              <a:cs typeface="Calibri"/>
            </a:endParaRPr>
          </a:p>
          <a:p>
            <a:pPr marL="304800" indent="-292100">
              <a:lnSpc>
                <a:spcPct val="100000"/>
              </a:lnSpc>
              <a:spcBef>
                <a:spcPts val="1070"/>
              </a:spcBef>
              <a:buClr>
                <a:srgbClr val="42D8AC"/>
              </a:buClr>
              <a:buSzPct val="113043"/>
              <a:buFont typeface="Segoe UI Symbol"/>
              <a:buChar char="✓"/>
              <a:tabLst>
                <a:tab pos="304800" algn="l"/>
              </a:tabLst>
            </a:pP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Fully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reproducible:</a:t>
            </a:r>
            <a:r>
              <a:rPr sz="1725" spc="-3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fixed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seed,</a:t>
            </a:r>
            <a:r>
              <a:rPr sz="1725" spc="-37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open-</a:t>
            </a:r>
            <a:r>
              <a:rPr sz="1725" baseline="2415" dirty="0">
                <a:solidFill>
                  <a:srgbClr val="99A9C3"/>
                </a:solidFill>
                <a:latin typeface="Calibri"/>
                <a:cs typeface="Calibri"/>
              </a:rPr>
              <a:t>source</a:t>
            </a:r>
            <a:r>
              <a:rPr sz="1725" spc="-15" baseline="24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725" spc="-30" baseline="2415" dirty="0">
                <a:solidFill>
                  <a:srgbClr val="99A9C3"/>
                </a:solidFill>
                <a:latin typeface="Calibri"/>
                <a:cs typeface="Calibri"/>
              </a:rPr>
              <a:t>stack</a:t>
            </a:r>
            <a:endParaRPr sz="1725" baseline="2415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0584" y="1227505"/>
            <a:ext cx="12833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F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U</a:t>
            </a:r>
            <a:r>
              <a:rPr sz="10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T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U</a:t>
            </a:r>
            <a:r>
              <a:rPr sz="10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R</a:t>
            </a:r>
            <a:r>
              <a:rPr sz="1000" b="1" spc="-8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E</a:t>
            </a:r>
            <a:r>
              <a:rPr sz="1000" b="1" spc="2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R</a:t>
            </a:r>
            <a:r>
              <a:rPr sz="100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O</a:t>
            </a:r>
            <a:r>
              <a:rPr sz="1000" b="1" spc="-9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A</a:t>
            </a:r>
            <a:r>
              <a:rPr sz="10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D</a:t>
            </a:r>
            <a:r>
              <a:rPr sz="1000" b="1" spc="-7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BC8EF"/>
                </a:solidFill>
                <a:latin typeface="Calibri"/>
                <a:cs typeface="Calibri"/>
              </a:rPr>
              <a:t>M</a:t>
            </a:r>
            <a:r>
              <a:rPr sz="1000" b="1" spc="-9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BC8EF"/>
                </a:solidFill>
                <a:latin typeface="Calibri"/>
                <a:cs typeface="Calibri"/>
              </a:rPr>
              <a:t>A</a:t>
            </a:r>
            <a:r>
              <a:rPr sz="1000" b="1" spc="-8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4BC8EF"/>
                </a:solidFill>
                <a:latin typeface="Calibri"/>
                <a:cs typeface="Calibri"/>
              </a:rPr>
              <a:t>P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56934" y="1566125"/>
            <a:ext cx="415290" cy="415290"/>
            <a:chOff x="6256934" y="1566125"/>
            <a:chExt cx="415290" cy="415290"/>
          </a:xfrm>
        </p:grpSpPr>
        <p:sp>
          <p:nvSpPr>
            <p:cNvPr id="11" name="object 11"/>
            <p:cNvSpPr/>
            <p:nvPr/>
          </p:nvSpPr>
          <p:spPr>
            <a:xfrm>
              <a:off x="6263284" y="157247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69" y="323796"/>
                  </a:lnTo>
                  <a:lnTo>
                    <a:pt x="78837" y="360822"/>
                  </a:lnTo>
                  <a:lnTo>
                    <a:pt x="124287" y="387148"/>
                  </a:lnTo>
                  <a:lnTo>
                    <a:pt x="174907" y="400750"/>
                  </a:lnTo>
                  <a:lnTo>
                    <a:pt x="201231" y="402488"/>
                  </a:lnTo>
                  <a:lnTo>
                    <a:pt x="227563" y="400750"/>
                  </a:lnTo>
                  <a:lnTo>
                    <a:pt x="278335" y="387148"/>
                  </a:lnTo>
                  <a:lnTo>
                    <a:pt x="323783" y="360822"/>
                  </a:lnTo>
                  <a:lnTo>
                    <a:pt x="360810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63284" y="1572475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0" y="201244"/>
                  </a:moveTo>
                  <a:lnTo>
                    <a:pt x="1738" y="174918"/>
                  </a:lnTo>
                  <a:lnTo>
                    <a:pt x="6884" y="149131"/>
                  </a:lnTo>
                  <a:lnTo>
                    <a:pt x="27000" y="100799"/>
                  </a:lnTo>
                  <a:lnTo>
                    <a:pt x="59037" y="59042"/>
                  </a:lnTo>
                  <a:lnTo>
                    <a:pt x="100799" y="27000"/>
                  </a:lnTo>
                  <a:lnTo>
                    <a:pt x="149124" y="6884"/>
                  </a:lnTo>
                  <a:lnTo>
                    <a:pt x="201231" y="0"/>
                  </a:lnTo>
                  <a:lnTo>
                    <a:pt x="253388" y="6884"/>
                  </a:lnTo>
                  <a:lnTo>
                    <a:pt x="302031" y="27000"/>
                  </a:lnTo>
                  <a:lnTo>
                    <a:pt x="343477" y="59042"/>
                  </a:lnTo>
                  <a:lnTo>
                    <a:pt x="375475" y="100799"/>
                  </a:lnTo>
                  <a:lnTo>
                    <a:pt x="395590" y="149131"/>
                  </a:lnTo>
                  <a:lnTo>
                    <a:pt x="402475" y="201244"/>
                  </a:lnTo>
                  <a:lnTo>
                    <a:pt x="400737" y="227575"/>
                  </a:lnTo>
                  <a:lnTo>
                    <a:pt x="395590" y="253401"/>
                  </a:lnTo>
                  <a:lnTo>
                    <a:pt x="375475" y="302044"/>
                  </a:lnTo>
                  <a:lnTo>
                    <a:pt x="343477" y="343490"/>
                  </a:lnTo>
                  <a:lnTo>
                    <a:pt x="302031" y="375488"/>
                  </a:lnTo>
                  <a:lnTo>
                    <a:pt x="253388" y="395603"/>
                  </a:lnTo>
                  <a:lnTo>
                    <a:pt x="201231" y="402488"/>
                  </a:lnTo>
                  <a:lnTo>
                    <a:pt x="149124" y="395603"/>
                  </a:lnTo>
                  <a:lnTo>
                    <a:pt x="100799" y="375488"/>
                  </a:lnTo>
                  <a:lnTo>
                    <a:pt x="59037" y="343490"/>
                  </a:lnTo>
                  <a:lnTo>
                    <a:pt x="27000" y="302044"/>
                  </a:lnTo>
                  <a:lnTo>
                    <a:pt x="6884" y="253401"/>
                  </a:lnTo>
                  <a:lnTo>
                    <a:pt x="1738" y="227575"/>
                  </a:lnTo>
                  <a:lnTo>
                    <a:pt x="0" y="201244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13296" y="166958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D1625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56934" y="2021738"/>
            <a:ext cx="415290" cy="801370"/>
            <a:chOff x="6256934" y="2021738"/>
            <a:chExt cx="415290" cy="801370"/>
          </a:xfrm>
        </p:grpSpPr>
        <p:sp>
          <p:nvSpPr>
            <p:cNvPr id="15" name="object 15"/>
            <p:cNvSpPr/>
            <p:nvPr/>
          </p:nvSpPr>
          <p:spPr>
            <a:xfrm>
              <a:off x="6464515" y="2029675"/>
              <a:ext cx="635" cy="384175"/>
            </a:xfrm>
            <a:custGeom>
              <a:avLst/>
              <a:gdLst/>
              <a:ahLst/>
              <a:cxnLst/>
              <a:rect l="l" t="t" r="r" b="b"/>
              <a:pathLst>
                <a:path w="635" h="384175">
                  <a:moveTo>
                    <a:pt x="0" y="0"/>
                  </a:moveTo>
                  <a:lnTo>
                    <a:pt x="368" y="384124"/>
                  </a:lnTo>
                </a:path>
              </a:pathLst>
            </a:custGeom>
            <a:ln w="1583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63284" y="241380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4"/>
                  </a:lnTo>
                  <a:lnTo>
                    <a:pt x="15339" y="278343"/>
                  </a:lnTo>
                  <a:lnTo>
                    <a:pt x="41669" y="323794"/>
                  </a:lnTo>
                  <a:lnTo>
                    <a:pt x="78837" y="360812"/>
                  </a:lnTo>
                  <a:lnTo>
                    <a:pt x="124287" y="387136"/>
                  </a:lnTo>
                  <a:lnTo>
                    <a:pt x="174907" y="400737"/>
                  </a:lnTo>
                  <a:lnTo>
                    <a:pt x="201231" y="402475"/>
                  </a:lnTo>
                  <a:lnTo>
                    <a:pt x="227563" y="400737"/>
                  </a:lnTo>
                  <a:lnTo>
                    <a:pt x="278335" y="387136"/>
                  </a:lnTo>
                  <a:lnTo>
                    <a:pt x="323783" y="360812"/>
                  </a:lnTo>
                  <a:lnTo>
                    <a:pt x="360810" y="323794"/>
                  </a:lnTo>
                  <a:lnTo>
                    <a:pt x="387136" y="278343"/>
                  </a:lnTo>
                  <a:lnTo>
                    <a:pt x="400737" y="227574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4BC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63284" y="241380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0" y="201244"/>
                  </a:moveTo>
                  <a:lnTo>
                    <a:pt x="1738" y="174918"/>
                  </a:lnTo>
                  <a:lnTo>
                    <a:pt x="6884" y="149131"/>
                  </a:lnTo>
                  <a:lnTo>
                    <a:pt x="27000" y="100799"/>
                  </a:lnTo>
                  <a:lnTo>
                    <a:pt x="59037" y="59042"/>
                  </a:lnTo>
                  <a:lnTo>
                    <a:pt x="100799" y="27000"/>
                  </a:lnTo>
                  <a:lnTo>
                    <a:pt x="149124" y="6884"/>
                  </a:lnTo>
                  <a:lnTo>
                    <a:pt x="201231" y="0"/>
                  </a:lnTo>
                  <a:lnTo>
                    <a:pt x="253388" y="6884"/>
                  </a:lnTo>
                  <a:lnTo>
                    <a:pt x="302031" y="27000"/>
                  </a:lnTo>
                  <a:lnTo>
                    <a:pt x="343477" y="59042"/>
                  </a:lnTo>
                  <a:lnTo>
                    <a:pt x="375475" y="100799"/>
                  </a:lnTo>
                  <a:lnTo>
                    <a:pt x="395590" y="149131"/>
                  </a:lnTo>
                  <a:lnTo>
                    <a:pt x="402475" y="201244"/>
                  </a:lnTo>
                  <a:lnTo>
                    <a:pt x="400737" y="227574"/>
                  </a:lnTo>
                  <a:lnTo>
                    <a:pt x="395590" y="253396"/>
                  </a:lnTo>
                  <a:lnTo>
                    <a:pt x="375475" y="302044"/>
                  </a:lnTo>
                  <a:lnTo>
                    <a:pt x="343477" y="343484"/>
                  </a:lnTo>
                  <a:lnTo>
                    <a:pt x="302031" y="375475"/>
                  </a:lnTo>
                  <a:lnTo>
                    <a:pt x="253388" y="395590"/>
                  </a:lnTo>
                  <a:lnTo>
                    <a:pt x="201231" y="402475"/>
                  </a:lnTo>
                  <a:lnTo>
                    <a:pt x="149124" y="395590"/>
                  </a:lnTo>
                  <a:lnTo>
                    <a:pt x="100799" y="375475"/>
                  </a:lnTo>
                  <a:lnTo>
                    <a:pt x="59037" y="343484"/>
                  </a:lnTo>
                  <a:lnTo>
                    <a:pt x="27000" y="302044"/>
                  </a:lnTo>
                  <a:lnTo>
                    <a:pt x="6884" y="253396"/>
                  </a:lnTo>
                  <a:lnTo>
                    <a:pt x="1738" y="227574"/>
                  </a:lnTo>
                  <a:lnTo>
                    <a:pt x="0" y="201244"/>
                  </a:lnTo>
                  <a:close/>
                </a:path>
              </a:pathLst>
            </a:custGeom>
            <a:ln w="12599">
              <a:solidFill>
                <a:srgbClr val="4BC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13296" y="251089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D1625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56984" y="2863080"/>
            <a:ext cx="415290" cy="800735"/>
            <a:chOff x="6256984" y="2863080"/>
            <a:chExt cx="415290" cy="800735"/>
          </a:xfrm>
        </p:grpSpPr>
        <p:sp>
          <p:nvSpPr>
            <p:cNvPr id="20" name="object 20"/>
            <p:cNvSpPr/>
            <p:nvPr/>
          </p:nvSpPr>
          <p:spPr>
            <a:xfrm>
              <a:off x="6464515" y="2871000"/>
              <a:ext cx="635" cy="384175"/>
            </a:xfrm>
            <a:custGeom>
              <a:avLst/>
              <a:gdLst/>
              <a:ahLst/>
              <a:cxnLst/>
              <a:rect l="l" t="t" r="r" b="b"/>
              <a:pathLst>
                <a:path w="635" h="384175">
                  <a:moveTo>
                    <a:pt x="0" y="0"/>
                  </a:moveTo>
                  <a:lnTo>
                    <a:pt x="368" y="384124"/>
                  </a:lnTo>
                </a:path>
              </a:pathLst>
            </a:custGeom>
            <a:ln w="1583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63284" y="3254756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31" y="0"/>
                  </a:moveTo>
                  <a:lnTo>
                    <a:pt x="149124" y="6884"/>
                  </a:lnTo>
                  <a:lnTo>
                    <a:pt x="100799" y="27000"/>
                  </a:lnTo>
                  <a:lnTo>
                    <a:pt x="59037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5"/>
                  </a:lnTo>
                  <a:lnTo>
                    <a:pt x="15339" y="278348"/>
                  </a:lnTo>
                  <a:lnTo>
                    <a:pt x="41669" y="323796"/>
                  </a:lnTo>
                  <a:lnTo>
                    <a:pt x="78837" y="360822"/>
                  </a:lnTo>
                  <a:lnTo>
                    <a:pt x="124287" y="387148"/>
                  </a:lnTo>
                  <a:lnTo>
                    <a:pt x="174907" y="400750"/>
                  </a:lnTo>
                  <a:lnTo>
                    <a:pt x="201231" y="402488"/>
                  </a:lnTo>
                  <a:lnTo>
                    <a:pt x="227563" y="400750"/>
                  </a:lnTo>
                  <a:lnTo>
                    <a:pt x="278335" y="387148"/>
                  </a:lnTo>
                  <a:lnTo>
                    <a:pt x="323783" y="360822"/>
                  </a:lnTo>
                  <a:lnTo>
                    <a:pt x="360810" y="323796"/>
                  </a:lnTo>
                  <a:lnTo>
                    <a:pt x="387136" y="278348"/>
                  </a:lnTo>
                  <a:lnTo>
                    <a:pt x="400737" y="227575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0" y="78842"/>
                  </a:lnTo>
                  <a:lnTo>
                    <a:pt x="323783" y="41671"/>
                  </a:lnTo>
                  <a:lnTo>
                    <a:pt x="278335" y="15339"/>
                  </a:lnTo>
                  <a:lnTo>
                    <a:pt x="227563" y="1738"/>
                  </a:lnTo>
                  <a:lnTo>
                    <a:pt x="201231" y="0"/>
                  </a:lnTo>
                  <a:close/>
                </a:path>
              </a:pathLst>
            </a:custGeom>
            <a:solidFill>
              <a:srgbClr val="42D8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3284" y="3254756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0" y="201244"/>
                  </a:moveTo>
                  <a:lnTo>
                    <a:pt x="1738" y="174918"/>
                  </a:lnTo>
                  <a:lnTo>
                    <a:pt x="6884" y="149131"/>
                  </a:lnTo>
                  <a:lnTo>
                    <a:pt x="27000" y="100799"/>
                  </a:lnTo>
                  <a:lnTo>
                    <a:pt x="59037" y="59042"/>
                  </a:lnTo>
                  <a:lnTo>
                    <a:pt x="100799" y="27000"/>
                  </a:lnTo>
                  <a:lnTo>
                    <a:pt x="149124" y="6884"/>
                  </a:lnTo>
                  <a:lnTo>
                    <a:pt x="201231" y="0"/>
                  </a:lnTo>
                  <a:lnTo>
                    <a:pt x="253388" y="6884"/>
                  </a:lnTo>
                  <a:lnTo>
                    <a:pt x="302031" y="27000"/>
                  </a:lnTo>
                  <a:lnTo>
                    <a:pt x="343477" y="59042"/>
                  </a:lnTo>
                  <a:lnTo>
                    <a:pt x="375475" y="100799"/>
                  </a:lnTo>
                  <a:lnTo>
                    <a:pt x="395590" y="149131"/>
                  </a:lnTo>
                  <a:lnTo>
                    <a:pt x="402475" y="201244"/>
                  </a:lnTo>
                  <a:lnTo>
                    <a:pt x="400737" y="227575"/>
                  </a:lnTo>
                  <a:lnTo>
                    <a:pt x="395590" y="253401"/>
                  </a:lnTo>
                  <a:lnTo>
                    <a:pt x="375475" y="302044"/>
                  </a:lnTo>
                  <a:lnTo>
                    <a:pt x="343477" y="343490"/>
                  </a:lnTo>
                  <a:lnTo>
                    <a:pt x="302031" y="375488"/>
                  </a:lnTo>
                  <a:lnTo>
                    <a:pt x="253388" y="395603"/>
                  </a:lnTo>
                  <a:lnTo>
                    <a:pt x="201231" y="402488"/>
                  </a:lnTo>
                  <a:lnTo>
                    <a:pt x="149124" y="395603"/>
                  </a:lnTo>
                  <a:lnTo>
                    <a:pt x="100799" y="375488"/>
                  </a:lnTo>
                  <a:lnTo>
                    <a:pt x="59037" y="343490"/>
                  </a:lnTo>
                  <a:lnTo>
                    <a:pt x="27000" y="302044"/>
                  </a:lnTo>
                  <a:lnTo>
                    <a:pt x="6884" y="253401"/>
                  </a:lnTo>
                  <a:lnTo>
                    <a:pt x="1738" y="227575"/>
                  </a:lnTo>
                  <a:lnTo>
                    <a:pt x="0" y="201244"/>
                  </a:lnTo>
                  <a:close/>
                </a:path>
              </a:pathLst>
            </a:custGeom>
            <a:ln w="12599">
              <a:solidFill>
                <a:srgbClr val="42D8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844944" y="1593976"/>
            <a:ext cx="4362450" cy="107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Delta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delta-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delta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06100"/>
              </a:lnSpc>
              <a:spcBef>
                <a:spcPts val="1030"/>
              </a:spcBef>
            </a:pP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Restore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velocity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acceleration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of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spectral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envelope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that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flattening currently</a:t>
            </a:r>
            <a:r>
              <a:rPr sz="1100" spc="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discards.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Open-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44944" y="2870542"/>
            <a:ext cx="4813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Add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 calibrated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distance-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rejection threshold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so</a:t>
            </a:r>
            <a:r>
              <a:rPr sz="1100" spc="-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unenrolled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speakers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can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be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refused.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13296" y="335186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D1625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4944" y="3276256"/>
            <a:ext cx="4270375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interface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106100"/>
              </a:lnSpc>
              <a:spcBef>
                <a:spcPts val="1030"/>
              </a:spcBef>
            </a:pP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Deploy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serialised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model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behind</a:t>
            </a:r>
            <a:r>
              <a:rPr sz="1100" spc="-25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live</a:t>
            </a:r>
            <a:r>
              <a:rPr sz="1100" spc="-3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microphone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capture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A9C3"/>
                </a:solidFill>
                <a:latin typeface="Calibri"/>
                <a:cs typeface="Calibri"/>
              </a:rPr>
              <a:t>on</a:t>
            </a:r>
            <a:r>
              <a:rPr sz="1100" spc="-20" dirty="0">
                <a:solidFill>
                  <a:srgbClr val="99A9C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9A9C3"/>
                </a:solidFill>
                <a:latin typeface="Calibri"/>
                <a:cs typeface="Calibri"/>
              </a:rPr>
              <a:t>embedded hardware.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29000" y="4823562"/>
            <a:ext cx="5477510" cy="923925"/>
            <a:chOff x="6258960" y="4201204"/>
            <a:chExt cx="5477510" cy="923925"/>
          </a:xfrm>
        </p:grpSpPr>
        <p:sp>
          <p:nvSpPr>
            <p:cNvPr id="28" name="object 28"/>
            <p:cNvSpPr/>
            <p:nvPr/>
          </p:nvSpPr>
          <p:spPr>
            <a:xfrm>
              <a:off x="6263640" y="4205884"/>
              <a:ext cx="5468620" cy="914400"/>
            </a:xfrm>
            <a:custGeom>
              <a:avLst/>
              <a:gdLst/>
              <a:ahLst/>
              <a:cxnLst/>
              <a:rect l="l" t="t" r="r" b="b"/>
              <a:pathLst>
                <a:path w="5468620" h="914400">
                  <a:moveTo>
                    <a:pt x="539460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841311"/>
                  </a:lnTo>
                  <a:lnTo>
                    <a:pt x="5412" y="869052"/>
                  </a:lnTo>
                  <a:lnTo>
                    <a:pt x="5464" y="869207"/>
                  </a:lnTo>
                  <a:lnTo>
                    <a:pt x="36360" y="904671"/>
                  </a:lnTo>
                  <a:lnTo>
                    <a:pt x="73075" y="914399"/>
                  </a:lnTo>
                  <a:lnTo>
                    <a:pt x="5394960" y="914031"/>
                  </a:lnTo>
                  <a:lnTo>
                    <a:pt x="5439337" y="898940"/>
                  </a:lnTo>
                  <a:lnTo>
                    <a:pt x="5465547" y="860167"/>
                  </a:lnTo>
                  <a:lnTo>
                    <a:pt x="5468013" y="841311"/>
                  </a:lnTo>
                  <a:lnTo>
                    <a:pt x="5468035" y="840955"/>
                  </a:lnTo>
                  <a:lnTo>
                    <a:pt x="5467680" y="73075"/>
                  </a:lnTo>
                  <a:lnTo>
                    <a:pt x="5452581" y="28698"/>
                  </a:lnTo>
                  <a:lnTo>
                    <a:pt x="5413633" y="2428"/>
                  </a:lnTo>
                  <a:lnTo>
                    <a:pt x="5404236" y="607"/>
                  </a:lnTo>
                  <a:lnTo>
                    <a:pt x="5394604" y="0"/>
                  </a:lnTo>
                  <a:close/>
                </a:path>
              </a:pathLst>
            </a:custGeom>
            <a:solidFill>
              <a:srgbClr val="2130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3640" y="4205884"/>
              <a:ext cx="5468620" cy="914400"/>
            </a:xfrm>
            <a:custGeom>
              <a:avLst/>
              <a:gdLst/>
              <a:ahLst/>
              <a:cxnLst/>
              <a:rect l="l" t="t" r="r" b="b"/>
              <a:pathLst>
                <a:path w="5468620" h="9144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5394604" y="0"/>
                  </a:lnTo>
                  <a:lnTo>
                    <a:pt x="5439124" y="15096"/>
                  </a:lnTo>
                  <a:lnTo>
                    <a:pt x="5465251" y="54219"/>
                  </a:lnTo>
                  <a:lnTo>
                    <a:pt x="5467680" y="73075"/>
                  </a:lnTo>
                  <a:lnTo>
                    <a:pt x="5468035" y="840955"/>
                  </a:lnTo>
                  <a:lnTo>
                    <a:pt x="5467428" y="850589"/>
                  </a:lnTo>
                  <a:lnTo>
                    <a:pt x="5465606" y="859990"/>
                  </a:lnTo>
                  <a:lnTo>
                    <a:pt x="5439337" y="898940"/>
                  </a:lnTo>
                  <a:lnTo>
                    <a:pt x="5394960" y="914031"/>
                  </a:lnTo>
                  <a:lnTo>
                    <a:pt x="73075" y="914399"/>
                  </a:lnTo>
                  <a:lnTo>
                    <a:pt x="28555" y="899290"/>
                  </a:lnTo>
                  <a:lnTo>
                    <a:pt x="2428" y="860167"/>
                  </a:lnTo>
                  <a:lnTo>
                    <a:pt x="0" y="84131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304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94944" y="4991945"/>
            <a:ext cx="4312285" cy="454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Code</a:t>
            </a:r>
            <a:r>
              <a:rPr sz="1050" b="1" spc="-3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&amp;</a:t>
            </a:r>
            <a:r>
              <a:rPr sz="1050" b="1" spc="-25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BC8EF"/>
                </a:solidFill>
                <a:latin typeface="Calibri"/>
                <a:cs typeface="Calibri"/>
              </a:rPr>
              <a:t>data</a:t>
            </a:r>
            <a:r>
              <a:rPr sz="1050" b="1" spc="-30" dirty="0">
                <a:solidFill>
                  <a:srgbClr val="4BC8E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BC8EF"/>
                </a:solidFill>
                <a:latin typeface="Calibri"/>
                <a:cs typeface="Calibri"/>
              </a:rPr>
              <a:t>availability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100" spc="-10" dirty="0">
                <a:solidFill>
                  <a:srgbClr val="FFFFFF"/>
                </a:solidFill>
                <a:latin typeface="Courier New"/>
                <a:cs typeface="Courier New"/>
              </a:rPr>
              <a:t>github.com/Ashfaq127/speech-recognition-</a:t>
            </a:r>
            <a:r>
              <a:rPr sz="1100" spc="-20" dirty="0">
                <a:solidFill>
                  <a:srgbClr val="FFFFFF"/>
                </a:solidFill>
                <a:latin typeface="Courier New"/>
                <a:cs typeface="Courier New"/>
              </a:rPr>
              <a:t>10-</a:t>
            </a:r>
            <a:r>
              <a:rPr sz="1100" spc="-10" dirty="0">
                <a:solidFill>
                  <a:srgbClr val="FFFFFF"/>
                </a:solidFill>
                <a:latin typeface="Courier New"/>
                <a:cs typeface="Courier New"/>
              </a:rPr>
              <a:t>speakers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8</a:t>
            </a:fld>
            <a:r>
              <a:rPr spc="-2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6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3EDA-362F-464B-A31B-9C6E3AA0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372" y="2967335"/>
            <a:ext cx="3899255" cy="923330"/>
          </a:xfrm>
        </p:spPr>
        <p:txBody>
          <a:bodyPr/>
          <a:lstStyle/>
          <a:p>
            <a:pPr algn="ctr"/>
            <a:r>
              <a:rPr lang="en-US" sz="6000" dirty="0"/>
              <a:t>Thank You</a:t>
            </a:r>
          </a:p>
        </p:txBody>
      </p:sp>
      <p:sp>
        <p:nvSpPr>
          <p:cNvPr id="5" name="object 32">
            <a:extLst>
              <a:ext uri="{FF2B5EF4-FFF2-40B4-BE49-F238E27FC236}">
                <a16:creationId xmlns:a16="http://schemas.microsoft.com/office/drawing/2014/main" id="{B6C825ED-C7FC-41C4-9F32-8F17AA37507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44144" y="6390942"/>
            <a:ext cx="3402965" cy="180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Group</a:t>
            </a:r>
            <a:r>
              <a:rPr spc="-40" dirty="0"/>
              <a:t> </a:t>
            </a:r>
            <a:r>
              <a:rPr dirty="0"/>
              <a:t>06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Ashfaq</a:t>
            </a:r>
            <a:r>
              <a:rPr spc="-30" dirty="0"/>
              <a:t> </a:t>
            </a:r>
            <a:r>
              <a:rPr dirty="0"/>
              <a:t>Mahee</a:t>
            </a:r>
            <a:r>
              <a:rPr spc="-35" dirty="0"/>
              <a:t> </a:t>
            </a:r>
            <a:r>
              <a:rPr spc="-10" dirty="0"/>
              <a:t>Siddiky,</a:t>
            </a:r>
            <a:r>
              <a:rPr spc="-30" dirty="0"/>
              <a:t> </a:t>
            </a:r>
            <a:r>
              <a:rPr dirty="0"/>
              <a:t>Md.</a:t>
            </a:r>
            <a:r>
              <a:rPr spc="-35" dirty="0"/>
              <a:t> </a:t>
            </a:r>
            <a:r>
              <a:rPr dirty="0"/>
              <a:t>Arebi</a:t>
            </a:r>
            <a:r>
              <a:rPr spc="-40" dirty="0"/>
              <a:t> </a:t>
            </a:r>
            <a:r>
              <a:rPr spc="-20" dirty="0"/>
              <a:t>Sarker,</a:t>
            </a:r>
            <a:r>
              <a:rPr spc="-30" dirty="0"/>
              <a:t> </a:t>
            </a:r>
            <a:r>
              <a:rPr dirty="0"/>
              <a:t>Nazmul</a:t>
            </a:r>
            <a:r>
              <a:rPr spc="-30" dirty="0"/>
              <a:t> </a:t>
            </a:r>
            <a:r>
              <a:rPr spc="-20" dirty="0"/>
              <a:t>Huda</a:t>
            </a:r>
          </a:p>
        </p:txBody>
      </p:sp>
    </p:spTree>
    <p:extLst>
      <p:ext uri="{BB962C8B-B14F-4D97-AF65-F5344CB8AC3E}">
        <p14:creationId xmlns:p14="http://schemas.microsoft.com/office/powerpoint/2010/main" val="325450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1463</Words>
  <Application>Microsoft Office PowerPoint</Application>
  <PresentationFormat>Widescreen</PresentationFormat>
  <Paragraphs>320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MT</vt:lpstr>
      <vt:lpstr>Calibri</vt:lpstr>
      <vt:lpstr>Courier New</vt:lpstr>
      <vt:lpstr>Lucida Sans Unicode</vt:lpstr>
      <vt:lpstr>Segoe UI Symbol</vt:lpstr>
      <vt:lpstr>Times New Roman</vt:lpstr>
      <vt:lpstr>Office Theme</vt:lpstr>
      <vt:lpstr>Speaker Identification System Using MFCC Feature Extraction and Random Forest Classifier</vt:lpstr>
      <vt:lpstr>Motivation &amp; Dataset Overview</vt:lpstr>
      <vt:lpstr>Preprocessing &amp; Feature Extraction Pipeline</vt:lpstr>
      <vt:lpstr>Random Forest Classifier Architecture</vt:lpstr>
      <vt:lpstr>Experimental Results &amp; Accuracy Analysis</vt:lpstr>
      <vt:lpstr>Confusion Matrix &amp; Acoustic Attractor Analysis</vt:lpstr>
      <vt:lpstr>Critical Limitations &amp; Methodological Constraints</vt:lpstr>
      <vt:lpstr>Conclusion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 Identification System Using MFCC and Random Forest</dc:title>
  <dc:subject>PptxGenJS Presentation</dc:subject>
  <dc:creator>Group 06</dc:creator>
  <cp:lastModifiedBy>User</cp:lastModifiedBy>
  <cp:revision>3</cp:revision>
  <dcterms:created xsi:type="dcterms:W3CDTF">2026-08-21T19:32:19Z</dcterms:created>
  <dcterms:modified xsi:type="dcterms:W3CDTF">2026-08-21T20:09:38Z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2026-08-21T00:00:00Z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2026-08-21T00:00:00Z</vt:filetime>
  </property>
</Properties>
</file>